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1"/>
  </p:notesMasterIdLst>
  <p:sldIdLst>
    <p:sldId id="256" r:id="rId5"/>
    <p:sldId id="269" r:id="rId6"/>
    <p:sldId id="361" r:id="rId7"/>
    <p:sldId id="464" r:id="rId8"/>
    <p:sldId id="465" r:id="rId9"/>
    <p:sldId id="466" r:id="rId10"/>
    <p:sldId id="561" r:id="rId11"/>
    <p:sldId id="468" r:id="rId12"/>
    <p:sldId id="550" r:id="rId13"/>
    <p:sldId id="469" r:id="rId14"/>
    <p:sldId id="478" r:id="rId15"/>
    <p:sldId id="467" r:id="rId16"/>
    <p:sldId id="479" r:id="rId17"/>
    <p:sldId id="480" r:id="rId18"/>
    <p:sldId id="481" r:id="rId19"/>
    <p:sldId id="482" r:id="rId20"/>
    <p:sldId id="483" r:id="rId21"/>
    <p:sldId id="512" r:id="rId22"/>
    <p:sldId id="513" r:id="rId23"/>
    <p:sldId id="519" r:id="rId24"/>
    <p:sldId id="520" r:id="rId25"/>
    <p:sldId id="521" r:id="rId26"/>
    <p:sldId id="484" r:id="rId27"/>
    <p:sldId id="506" r:id="rId28"/>
    <p:sldId id="514" r:id="rId29"/>
    <p:sldId id="515" r:id="rId30"/>
    <p:sldId id="516" r:id="rId31"/>
    <p:sldId id="517" r:id="rId32"/>
    <p:sldId id="551" r:id="rId33"/>
    <p:sldId id="552" r:id="rId34"/>
    <p:sldId id="553" r:id="rId35"/>
    <p:sldId id="522" r:id="rId36"/>
    <p:sldId id="518" r:id="rId37"/>
    <p:sldId id="526" r:id="rId38"/>
    <p:sldId id="485" r:id="rId39"/>
    <p:sldId id="486" r:id="rId40"/>
    <p:sldId id="487" r:id="rId41"/>
    <p:sldId id="523" r:id="rId42"/>
    <p:sldId id="525" r:id="rId43"/>
    <p:sldId id="524" r:id="rId44"/>
    <p:sldId id="488" r:id="rId45"/>
    <p:sldId id="489" r:id="rId46"/>
    <p:sldId id="490" r:id="rId47"/>
    <p:sldId id="491" r:id="rId48"/>
    <p:sldId id="492" r:id="rId49"/>
    <p:sldId id="494" r:id="rId50"/>
    <p:sldId id="495" r:id="rId51"/>
    <p:sldId id="496" r:id="rId52"/>
    <p:sldId id="493" r:id="rId53"/>
    <p:sldId id="497" r:id="rId54"/>
    <p:sldId id="498" r:id="rId55"/>
    <p:sldId id="499" r:id="rId56"/>
    <p:sldId id="500" r:id="rId57"/>
    <p:sldId id="501" r:id="rId58"/>
    <p:sldId id="502" r:id="rId59"/>
    <p:sldId id="527" r:id="rId60"/>
    <p:sldId id="505" r:id="rId61"/>
    <p:sldId id="528" r:id="rId62"/>
    <p:sldId id="530" r:id="rId63"/>
    <p:sldId id="529" r:id="rId64"/>
    <p:sldId id="532" r:id="rId65"/>
    <p:sldId id="533" r:id="rId66"/>
    <p:sldId id="534" r:id="rId67"/>
    <p:sldId id="535" r:id="rId68"/>
    <p:sldId id="536" r:id="rId69"/>
    <p:sldId id="537" r:id="rId70"/>
    <p:sldId id="538" r:id="rId71"/>
    <p:sldId id="540" r:id="rId72"/>
    <p:sldId id="541" r:id="rId73"/>
    <p:sldId id="539" r:id="rId74"/>
    <p:sldId id="543" r:id="rId75"/>
    <p:sldId id="544" r:id="rId76"/>
    <p:sldId id="542" r:id="rId77"/>
    <p:sldId id="504" r:id="rId78"/>
    <p:sldId id="545" r:id="rId79"/>
    <p:sldId id="546" r:id="rId80"/>
    <p:sldId id="547" r:id="rId81"/>
    <p:sldId id="549" r:id="rId82"/>
    <p:sldId id="507" r:id="rId83"/>
    <p:sldId id="508" r:id="rId84"/>
    <p:sldId id="509" r:id="rId85"/>
    <p:sldId id="510" r:id="rId86"/>
    <p:sldId id="555" r:id="rId87"/>
    <p:sldId id="556" r:id="rId88"/>
    <p:sldId id="290" r:id="rId89"/>
    <p:sldId id="278" r:id="rId90"/>
  </p:sldIdLst>
  <p:sldSz cx="2440146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200"/>
    <a:srgbClr val="0074B0"/>
    <a:srgbClr val="005CA9"/>
    <a:srgbClr val="80A6C7"/>
    <a:srgbClr val="00B5E5"/>
    <a:srgbClr val="54BBAB"/>
    <a:srgbClr val="D0E0E3"/>
    <a:srgbClr val="A6B9C2"/>
    <a:srgbClr val="80A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5380" autoAdjust="0"/>
  </p:normalViewPr>
  <p:slideViewPr>
    <p:cSldViewPr snapToGrid="0">
      <p:cViewPr varScale="1">
        <p:scale>
          <a:sx n="43" d="100"/>
          <a:sy n="43" d="100"/>
        </p:scale>
        <p:origin x="590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tableStyles" Target="tableStyle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8E1158-B1BD-498B-8312-BA64E22D2765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8183F7B-9401-4920-A755-1DDA6E8BE580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sz="3200" dirty="0"/>
            <a:t>Desenvolver modelos de dados aderentes aos padrões de modelagem, requisitos de negócio e de banco de dados da Caixa.</a:t>
          </a:r>
        </a:p>
      </dgm:t>
    </dgm:pt>
    <dgm:pt modelId="{867F4A59-BECF-479C-A78B-133501B5327A}" type="parTrans" cxnId="{0CD3EF31-063B-4CC2-AE9A-A2492BF71A49}">
      <dgm:prSet/>
      <dgm:spPr/>
      <dgm:t>
        <a:bodyPr/>
        <a:lstStyle/>
        <a:p>
          <a:endParaRPr lang="pt-BR"/>
        </a:p>
      </dgm:t>
    </dgm:pt>
    <dgm:pt modelId="{CE6812BB-64CD-4B7E-84D6-51F091F33E48}" type="sibTrans" cxnId="{0CD3EF31-063B-4CC2-AE9A-A2492BF71A49}">
      <dgm:prSet/>
      <dgm:spPr/>
      <dgm:t>
        <a:bodyPr/>
        <a:lstStyle/>
        <a:p>
          <a:endParaRPr lang="pt-BR"/>
        </a:p>
      </dgm:t>
    </dgm:pt>
    <dgm:pt modelId="{B5F48D18-29EC-4BAC-90F8-573A7B150C7F}">
      <dgm:prSet phldrT="[Texto]" custT="1"/>
      <dgm:spPr/>
      <dgm:t>
        <a:bodyPr/>
        <a:lstStyle/>
        <a:p>
          <a:r>
            <a:rPr lang="pt-BR" sz="3200" dirty="0"/>
            <a:t>Disponibilizar documentação negocial necessária à elaboração, compreensão e validação do modelo de dados.</a:t>
          </a:r>
        </a:p>
      </dgm:t>
    </dgm:pt>
    <dgm:pt modelId="{251181AA-20D0-45BF-9BEC-BD7B6AE8DDA8}" type="parTrans" cxnId="{451EEF00-E1B7-413C-AE39-F60A2C6198F3}">
      <dgm:prSet/>
      <dgm:spPr/>
      <dgm:t>
        <a:bodyPr/>
        <a:lstStyle/>
        <a:p>
          <a:endParaRPr lang="pt-BR"/>
        </a:p>
      </dgm:t>
    </dgm:pt>
    <dgm:pt modelId="{FF46B18C-BE31-48ED-9CAE-82F699B38638}" type="sibTrans" cxnId="{451EEF00-E1B7-413C-AE39-F60A2C6198F3}">
      <dgm:prSet/>
      <dgm:spPr/>
      <dgm:t>
        <a:bodyPr/>
        <a:lstStyle/>
        <a:p>
          <a:endParaRPr lang="pt-BR"/>
        </a:p>
      </dgm:t>
    </dgm:pt>
    <dgm:pt modelId="{0C0E3E0B-355C-4E64-8671-B401FE5DC1A8}">
      <dgm:prSet phldrT="[Texto]" custT="1"/>
      <dgm:spPr/>
      <dgm:t>
        <a:bodyPr/>
        <a:lstStyle/>
        <a:p>
          <a:endParaRPr lang="pt-BR" sz="3600" dirty="0"/>
        </a:p>
      </dgm:t>
    </dgm:pt>
    <dgm:pt modelId="{8D81E140-6316-49E1-960C-12C3686B9870}" type="parTrans" cxnId="{C0BEE42A-0DB9-41C4-B4D2-A73A93F3ED4E}">
      <dgm:prSet/>
      <dgm:spPr/>
      <dgm:t>
        <a:bodyPr/>
        <a:lstStyle/>
        <a:p>
          <a:endParaRPr lang="pt-BR"/>
        </a:p>
      </dgm:t>
    </dgm:pt>
    <dgm:pt modelId="{D50AD030-88D7-4BDB-852E-702C8F06309B}" type="sibTrans" cxnId="{C0BEE42A-0DB9-41C4-B4D2-A73A93F3ED4E}">
      <dgm:prSet/>
      <dgm:spPr/>
      <dgm:t>
        <a:bodyPr/>
        <a:lstStyle/>
        <a:p>
          <a:endParaRPr lang="pt-BR"/>
        </a:p>
      </dgm:t>
    </dgm:pt>
    <dgm:pt modelId="{8FB36843-655C-4D2A-9239-321AC46717BA}">
      <dgm:prSet phldrT="[Texto]" custT="1"/>
      <dgm:spPr/>
      <dgm:t>
        <a:bodyPr/>
        <a:lstStyle/>
        <a:p>
          <a:r>
            <a:rPr lang="pt-BR" sz="3200" dirty="0"/>
            <a:t>Validar os modelos de dados de acordo com as normas e boas práticas da Caixa.</a:t>
          </a:r>
        </a:p>
      </dgm:t>
    </dgm:pt>
    <dgm:pt modelId="{DF2E409A-8A06-4981-8E85-007DB829AF7B}" type="parTrans" cxnId="{2B72FE6E-EAA6-40DE-BC1C-6934A583A2A6}">
      <dgm:prSet/>
      <dgm:spPr/>
      <dgm:t>
        <a:bodyPr/>
        <a:lstStyle/>
        <a:p>
          <a:endParaRPr lang="pt-BR"/>
        </a:p>
      </dgm:t>
    </dgm:pt>
    <dgm:pt modelId="{7BB04DDA-4A96-4544-A85F-5208E1276241}" type="sibTrans" cxnId="{2B72FE6E-EAA6-40DE-BC1C-6934A583A2A6}">
      <dgm:prSet/>
      <dgm:spPr/>
      <dgm:t>
        <a:bodyPr/>
        <a:lstStyle/>
        <a:p>
          <a:endParaRPr lang="pt-BR"/>
        </a:p>
      </dgm:t>
    </dgm:pt>
    <dgm:pt modelId="{F99A86C6-89F8-4C58-BFCF-7B53C7FFAB5C}">
      <dgm:prSet phldrT="[Texto]" custT="1"/>
      <dgm:spPr/>
      <dgm:t>
        <a:bodyPr/>
        <a:lstStyle/>
        <a:p>
          <a:r>
            <a:rPr lang="pt-BR" sz="3200" dirty="0"/>
            <a:t>Prestar suporte à equipe de projeto à elaboração do modelo de dados.</a:t>
          </a:r>
        </a:p>
      </dgm:t>
    </dgm:pt>
    <dgm:pt modelId="{C92CB997-2493-4131-A38C-D6994B77FF05}" type="parTrans" cxnId="{9D0A4242-6C2E-4C47-81A2-DD6B840CAA75}">
      <dgm:prSet/>
      <dgm:spPr/>
      <dgm:t>
        <a:bodyPr/>
        <a:lstStyle/>
        <a:p>
          <a:endParaRPr lang="pt-BR"/>
        </a:p>
      </dgm:t>
    </dgm:pt>
    <dgm:pt modelId="{1C1FF7DE-0F8B-4753-9E9B-DA29CE46EFAA}" type="sibTrans" cxnId="{9D0A4242-6C2E-4C47-81A2-DD6B840CAA75}">
      <dgm:prSet/>
      <dgm:spPr/>
      <dgm:t>
        <a:bodyPr/>
        <a:lstStyle/>
        <a:p>
          <a:endParaRPr lang="pt-BR"/>
        </a:p>
      </dgm:t>
    </dgm:pt>
    <dgm:pt modelId="{40A67674-D7F7-44B7-885F-F4DE10790998}">
      <dgm:prSet custT="1"/>
      <dgm:spPr/>
      <dgm:t>
        <a:bodyPr/>
        <a:lstStyle/>
        <a:p>
          <a:r>
            <a:rPr lang="pt-BR" sz="3200" dirty="0" err="1"/>
            <a:t>Versionar</a:t>
          </a:r>
          <a:r>
            <a:rPr lang="pt-BR" sz="3200" dirty="0"/>
            <a:t> os modelos de dados aprovados no Repositório Central do Power Designer.</a:t>
          </a:r>
        </a:p>
      </dgm:t>
    </dgm:pt>
    <dgm:pt modelId="{4EAB2B4A-FC92-4F87-95F1-60AD322F8430}" type="parTrans" cxnId="{8C6EF237-EE39-40E0-B4E0-E983F3884C54}">
      <dgm:prSet/>
      <dgm:spPr/>
      <dgm:t>
        <a:bodyPr/>
        <a:lstStyle/>
        <a:p>
          <a:endParaRPr lang="pt-BR"/>
        </a:p>
      </dgm:t>
    </dgm:pt>
    <dgm:pt modelId="{EFFC039F-4B1E-414A-87C1-C393F076F4BB}" type="sibTrans" cxnId="{8C6EF237-EE39-40E0-B4E0-E983F3884C54}">
      <dgm:prSet/>
      <dgm:spPr/>
      <dgm:t>
        <a:bodyPr/>
        <a:lstStyle/>
        <a:p>
          <a:endParaRPr lang="pt-BR"/>
        </a:p>
      </dgm:t>
    </dgm:pt>
    <dgm:pt modelId="{CCBD2AF2-346B-4C68-B3DF-C77297F45774}">
      <dgm:prSet custT="1"/>
      <dgm:spPr/>
      <dgm:t>
        <a:bodyPr/>
        <a:lstStyle/>
        <a:p>
          <a:r>
            <a:rPr lang="pt-BR" sz="3200" dirty="0"/>
            <a:t>Garantir e manter a gestão dos metadados.</a:t>
          </a:r>
        </a:p>
      </dgm:t>
    </dgm:pt>
    <dgm:pt modelId="{6D34C62A-575F-4936-8242-48AE693D650D}" type="parTrans" cxnId="{6DF81DEA-F3EB-4791-BFFE-460AE03A4EC6}">
      <dgm:prSet/>
      <dgm:spPr/>
      <dgm:t>
        <a:bodyPr/>
        <a:lstStyle/>
        <a:p>
          <a:endParaRPr lang="pt-BR"/>
        </a:p>
      </dgm:t>
    </dgm:pt>
    <dgm:pt modelId="{0458C136-E18A-41A7-B3D2-3E85993C109A}" type="sibTrans" cxnId="{6DF81DEA-F3EB-4791-BFFE-460AE03A4EC6}">
      <dgm:prSet/>
      <dgm:spPr/>
      <dgm:t>
        <a:bodyPr/>
        <a:lstStyle/>
        <a:p>
          <a:endParaRPr lang="pt-BR"/>
        </a:p>
      </dgm:t>
    </dgm:pt>
    <dgm:pt modelId="{6A65E4FD-113D-4285-BA0B-FA8F718A4256}">
      <dgm:prSet phldrT="[Texto]" custT="1"/>
      <dgm:spPr/>
      <dgm:t>
        <a:bodyPr/>
        <a:lstStyle/>
        <a:p>
          <a:endParaRPr lang="pt-BR" sz="3600" dirty="0"/>
        </a:p>
      </dgm:t>
    </dgm:pt>
    <dgm:pt modelId="{0E93CD04-7577-4E3F-B707-7E5DD9CFBC31}" type="sibTrans" cxnId="{B703587F-19A2-432E-BFC3-5ADABDBC9FD3}">
      <dgm:prSet/>
      <dgm:spPr/>
      <dgm:t>
        <a:bodyPr/>
        <a:lstStyle/>
        <a:p>
          <a:endParaRPr lang="pt-BR"/>
        </a:p>
      </dgm:t>
    </dgm:pt>
    <dgm:pt modelId="{3A8DDF48-586F-468D-9E82-2B6B0BB2D301}" type="parTrans" cxnId="{B703587F-19A2-432E-BFC3-5ADABDBC9FD3}">
      <dgm:prSet/>
      <dgm:spPr/>
      <dgm:t>
        <a:bodyPr/>
        <a:lstStyle/>
        <a:p>
          <a:endParaRPr lang="pt-BR"/>
        </a:p>
      </dgm:t>
    </dgm:pt>
    <dgm:pt modelId="{E43CD69C-CFA2-440B-ACCB-6E2859378D42}">
      <dgm:prSet custT="1"/>
      <dgm:spPr/>
      <dgm:t>
        <a:bodyPr/>
        <a:lstStyle/>
        <a:p>
          <a:r>
            <a:rPr lang="pt-BR" sz="3200" dirty="0"/>
            <a:t>Adequar o modelo de dados de acordo com os apontamento da ADI.</a:t>
          </a:r>
        </a:p>
      </dgm:t>
    </dgm:pt>
    <dgm:pt modelId="{B6206297-B1C6-4A88-9696-E8B3FCBDCB3A}" type="parTrans" cxnId="{2FCB2627-7C4C-49E3-9803-0182F06B98F2}">
      <dgm:prSet/>
      <dgm:spPr/>
      <dgm:t>
        <a:bodyPr/>
        <a:lstStyle/>
        <a:p>
          <a:endParaRPr lang="pt-BR"/>
        </a:p>
      </dgm:t>
    </dgm:pt>
    <dgm:pt modelId="{F428E935-8E86-4B39-8F0F-C432FDDD98F0}" type="sibTrans" cxnId="{2FCB2627-7C4C-49E3-9803-0182F06B98F2}">
      <dgm:prSet/>
      <dgm:spPr/>
      <dgm:t>
        <a:bodyPr/>
        <a:lstStyle/>
        <a:p>
          <a:endParaRPr lang="pt-BR"/>
        </a:p>
      </dgm:t>
    </dgm:pt>
    <dgm:pt modelId="{6585309E-AB53-4261-B11C-ADC517BA1795}" type="pres">
      <dgm:prSet presAssocID="{168E1158-B1BD-498B-8312-BA64E22D2765}" presName="theList" presStyleCnt="0">
        <dgm:presLayoutVars>
          <dgm:dir/>
          <dgm:animLvl val="lvl"/>
          <dgm:resizeHandles val="exact"/>
        </dgm:presLayoutVars>
      </dgm:prSet>
      <dgm:spPr/>
    </dgm:pt>
    <dgm:pt modelId="{6D72659D-888F-490C-B3F0-FF4138E29A44}" type="pres">
      <dgm:prSet presAssocID="{6A65E4FD-113D-4285-BA0B-FA8F718A4256}" presName="compNode" presStyleCnt="0"/>
      <dgm:spPr/>
    </dgm:pt>
    <dgm:pt modelId="{3242A36D-DCD3-41D5-BCED-18EAA917F253}" type="pres">
      <dgm:prSet presAssocID="{6A65E4FD-113D-4285-BA0B-FA8F718A4256}" presName="aNode" presStyleLbl="bgShp" presStyleIdx="0" presStyleCnt="2"/>
      <dgm:spPr/>
    </dgm:pt>
    <dgm:pt modelId="{F54F19DA-615D-46B7-9D10-26C737A86710}" type="pres">
      <dgm:prSet presAssocID="{6A65E4FD-113D-4285-BA0B-FA8F718A4256}" presName="textNode" presStyleLbl="bgShp" presStyleIdx="0" presStyleCnt="2"/>
      <dgm:spPr/>
    </dgm:pt>
    <dgm:pt modelId="{D7048969-0E6B-4BB2-894C-381053153BB7}" type="pres">
      <dgm:prSet presAssocID="{6A65E4FD-113D-4285-BA0B-FA8F718A4256}" presName="compChildNode" presStyleCnt="0"/>
      <dgm:spPr/>
    </dgm:pt>
    <dgm:pt modelId="{22CB42C9-EA2B-467A-BCD9-37864ED4082A}" type="pres">
      <dgm:prSet presAssocID="{6A65E4FD-113D-4285-BA0B-FA8F718A4256}" presName="theInnerList" presStyleCnt="0"/>
      <dgm:spPr/>
    </dgm:pt>
    <dgm:pt modelId="{36A5027A-8A45-439A-89B2-77D62772A93F}" type="pres">
      <dgm:prSet presAssocID="{08183F7B-9401-4920-A755-1DDA6E8BE580}" presName="childNode" presStyleLbl="node1" presStyleIdx="0" presStyleCnt="7" custScaleX="104765" custScaleY="136873" custLinFactY="-96974" custLinFactNeighborX="1887" custLinFactNeighborY="-100000">
        <dgm:presLayoutVars>
          <dgm:bulletEnabled val="1"/>
        </dgm:presLayoutVars>
      </dgm:prSet>
      <dgm:spPr/>
    </dgm:pt>
    <dgm:pt modelId="{9C3CA05E-A129-4B9E-BD90-46DE6CB4C369}" type="pres">
      <dgm:prSet presAssocID="{08183F7B-9401-4920-A755-1DDA6E8BE580}" presName="aSpace2" presStyleCnt="0"/>
      <dgm:spPr/>
    </dgm:pt>
    <dgm:pt modelId="{FCC34637-7461-4148-8F6F-039E5E4ED107}" type="pres">
      <dgm:prSet presAssocID="{B5F48D18-29EC-4BAC-90F8-573A7B150C7F}" presName="childNode" presStyleLbl="node1" presStyleIdx="1" presStyleCnt="7" custScaleX="104074" custScaleY="115149" custLinFactY="-77752" custLinFactNeighborX="1887" custLinFactNeighborY="-100000">
        <dgm:presLayoutVars>
          <dgm:bulletEnabled val="1"/>
        </dgm:presLayoutVars>
      </dgm:prSet>
      <dgm:spPr/>
    </dgm:pt>
    <dgm:pt modelId="{F13B8691-269A-4F23-AEC7-E1D62A34BDA2}" type="pres">
      <dgm:prSet presAssocID="{B5F48D18-29EC-4BAC-90F8-573A7B150C7F}" presName="aSpace2" presStyleCnt="0"/>
      <dgm:spPr/>
    </dgm:pt>
    <dgm:pt modelId="{15AE0B0B-BE33-40A9-8755-04DE8AB5857C}" type="pres">
      <dgm:prSet presAssocID="{E43CD69C-CFA2-440B-ACCB-6E2859378D42}" presName="childNode" presStyleLbl="node1" presStyleIdx="2" presStyleCnt="7" custScaleX="100300" custScaleY="127889" custLinFactY="-50992" custLinFactNeighborX="1887" custLinFactNeighborY="-100000">
        <dgm:presLayoutVars>
          <dgm:bulletEnabled val="1"/>
        </dgm:presLayoutVars>
      </dgm:prSet>
      <dgm:spPr/>
    </dgm:pt>
    <dgm:pt modelId="{2159034C-5C56-4853-A0B4-060244415D89}" type="pres">
      <dgm:prSet presAssocID="{6A65E4FD-113D-4285-BA0B-FA8F718A4256}" presName="aSpace" presStyleCnt="0"/>
      <dgm:spPr/>
    </dgm:pt>
    <dgm:pt modelId="{CADADF10-1ED5-44E0-ADAE-39165AD1D083}" type="pres">
      <dgm:prSet presAssocID="{0C0E3E0B-355C-4E64-8671-B401FE5DC1A8}" presName="compNode" presStyleCnt="0"/>
      <dgm:spPr/>
    </dgm:pt>
    <dgm:pt modelId="{A3CB68E2-C45A-45CF-8AE9-94064179B8C6}" type="pres">
      <dgm:prSet presAssocID="{0C0E3E0B-355C-4E64-8671-B401FE5DC1A8}" presName="aNode" presStyleLbl="bgShp" presStyleIdx="1" presStyleCnt="2"/>
      <dgm:spPr/>
    </dgm:pt>
    <dgm:pt modelId="{C4DF0C3C-A7AC-4106-991A-DE9CE625170F}" type="pres">
      <dgm:prSet presAssocID="{0C0E3E0B-355C-4E64-8671-B401FE5DC1A8}" presName="textNode" presStyleLbl="bgShp" presStyleIdx="1" presStyleCnt="2"/>
      <dgm:spPr/>
    </dgm:pt>
    <dgm:pt modelId="{57C18801-942A-48AB-991A-34E3E9E1D7DE}" type="pres">
      <dgm:prSet presAssocID="{0C0E3E0B-355C-4E64-8671-B401FE5DC1A8}" presName="compChildNode" presStyleCnt="0"/>
      <dgm:spPr/>
    </dgm:pt>
    <dgm:pt modelId="{749FE87B-C189-4514-8DBE-6D6D9D25BC5C}" type="pres">
      <dgm:prSet presAssocID="{0C0E3E0B-355C-4E64-8671-B401FE5DC1A8}" presName="theInnerList" presStyleCnt="0"/>
      <dgm:spPr/>
    </dgm:pt>
    <dgm:pt modelId="{2FE2EB3F-40B5-4F9A-98ED-3B5405EA8FBD}" type="pres">
      <dgm:prSet presAssocID="{8FB36843-655C-4D2A-9239-321AC46717BA}" presName="childNode" presStyleLbl="node1" presStyleIdx="3" presStyleCnt="7" custScaleX="89988" custScaleY="189567" custLinFactY="-191935" custLinFactNeighborX="-725" custLinFactNeighborY="-200000">
        <dgm:presLayoutVars>
          <dgm:bulletEnabled val="1"/>
        </dgm:presLayoutVars>
      </dgm:prSet>
      <dgm:spPr/>
    </dgm:pt>
    <dgm:pt modelId="{45F2EE48-5BBD-4523-AFBC-96011EFDE9BA}" type="pres">
      <dgm:prSet presAssocID="{8FB36843-655C-4D2A-9239-321AC46717BA}" presName="aSpace2" presStyleCnt="0"/>
      <dgm:spPr/>
    </dgm:pt>
    <dgm:pt modelId="{D19CD3EA-166B-4B11-88A3-BAC95597B0E8}" type="pres">
      <dgm:prSet presAssocID="{F99A86C6-89F8-4C58-BFCF-7B53C7FFAB5C}" presName="childNode" presStyleLbl="node1" presStyleIdx="4" presStyleCnt="7" custScaleX="89800" custScaleY="149874" custLinFactY="-176308" custLinFactNeighborX="679" custLinFactNeighborY="-200000">
        <dgm:presLayoutVars>
          <dgm:bulletEnabled val="1"/>
        </dgm:presLayoutVars>
      </dgm:prSet>
      <dgm:spPr/>
    </dgm:pt>
    <dgm:pt modelId="{2493B72C-62AB-4700-A63E-964FECA42BB2}" type="pres">
      <dgm:prSet presAssocID="{F99A86C6-89F8-4C58-BFCF-7B53C7FFAB5C}" presName="aSpace2" presStyleCnt="0"/>
      <dgm:spPr/>
    </dgm:pt>
    <dgm:pt modelId="{3DD1697F-E914-4A69-BD25-36B015A9C5F8}" type="pres">
      <dgm:prSet presAssocID="{40A67674-D7F7-44B7-885F-F4DE10790998}" presName="childNode" presStyleLbl="node1" presStyleIdx="5" presStyleCnt="7" custScaleX="93191" custScaleY="188093" custLinFactY="-133454" custLinFactNeighborX="1019" custLinFactNeighborY="-200000">
        <dgm:presLayoutVars>
          <dgm:bulletEnabled val="1"/>
        </dgm:presLayoutVars>
      </dgm:prSet>
      <dgm:spPr/>
    </dgm:pt>
    <dgm:pt modelId="{3EED6FA4-2685-4724-AA7E-39E4B996B7A0}" type="pres">
      <dgm:prSet presAssocID="{40A67674-D7F7-44B7-885F-F4DE10790998}" presName="aSpace2" presStyleCnt="0"/>
      <dgm:spPr/>
    </dgm:pt>
    <dgm:pt modelId="{5F1A68CC-B513-4099-A8C6-41A7D85965F6}" type="pres">
      <dgm:prSet presAssocID="{CCBD2AF2-346B-4C68-B3DF-C77297F45774}" presName="childNode" presStyleLbl="node1" presStyleIdx="6" presStyleCnt="7" custScaleX="91158" custScaleY="185582" custLinFactY="-100000" custLinFactNeighborX="1018" custLinFactNeighborY="-190063">
        <dgm:presLayoutVars>
          <dgm:bulletEnabled val="1"/>
        </dgm:presLayoutVars>
      </dgm:prSet>
      <dgm:spPr/>
    </dgm:pt>
  </dgm:ptLst>
  <dgm:cxnLst>
    <dgm:cxn modelId="{451EEF00-E1B7-413C-AE39-F60A2C6198F3}" srcId="{6A65E4FD-113D-4285-BA0B-FA8F718A4256}" destId="{B5F48D18-29EC-4BAC-90F8-573A7B150C7F}" srcOrd="1" destOrd="0" parTransId="{251181AA-20D0-45BF-9BEC-BD7B6AE8DDA8}" sibTransId="{FF46B18C-BE31-48ED-9CAE-82F699B38638}"/>
    <dgm:cxn modelId="{1CF52B25-B80E-4AA5-BFCF-EAAE87487878}" type="presOf" srcId="{168E1158-B1BD-498B-8312-BA64E22D2765}" destId="{6585309E-AB53-4261-B11C-ADC517BA1795}" srcOrd="0" destOrd="0" presId="urn:microsoft.com/office/officeart/2005/8/layout/lProcess2"/>
    <dgm:cxn modelId="{2FCB2627-7C4C-49E3-9803-0182F06B98F2}" srcId="{6A65E4FD-113D-4285-BA0B-FA8F718A4256}" destId="{E43CD69C-CFA2-440B-ACCB-6E2859378D42}" srcOrd="2" destOrd="0" parTransId="{B6206297-B1C6-4A88-9696-E8B3FCBDCB3A}" sibTransId="{F428E935-8E86-4B39-8F0F-C432FDDD98F0}"/>
    <dgm:cxn modelId="{C0BEE42A-0DB9-41C4-B4D2-A73A93F3ED4E}" srcId="{168E1158-B1BD-498B-8312-BA64E22D2765}" destId="{0C0E3E0B-355C-4E64-8671-B401FE5DC1A8}" srcOrd="1" destOrd="0" parTransId="{8D81E140-6316-49E1-960C-12C3686B9870}" sibTransId="{D50AD030-88D7-4BDB-852E-702C8F06309B}"/>
    <dgm:cxn modelId="{0CD3EF31-063B-4CC2-AE9A-A2492BF71A49}" srcId="{6A65E4FD-113D-4285-BA0B-FA8F718A4256}" destId="{08183F7B-9401-4920-A755-1DDA6E8BE580}" srcOrd="0" destOrd="0" parTransId="{867F4A59-BECF-479C-A78B-133501B5327A}" sibTransId="{CE6812BB-64CD-4B7E-84D6-51F091F33E48}"/>
    <dgm:cxn modelId="{8C6EF237-EE39-40E0-B4E0-E983F3884C54}" srcId="{0C0E3E0B-355C-4E64-8671-B401FE5DC1A8}" destId="{40A67674-D7F7-44B7-885F-F4DE10790998}" srcOrd="2" destOrd="0" parTransId="{4EAB2B4A-FC92-4F87-95F1-60AD322F8430}" sibTransId="{EFFC039F-4B1E-414A-87C1-C393F076F4BB}"/>
    <dgm:cxn modelId="{C0A36D3E-425B-4834-9077-A042E8070B3B}" type="presOf" srcId="{8FB36843-655C-4D2A-9239-321AC46717BA}" destId="{2FE2EB3F-40B5-4F9A-98ED-3B5405EA8FBD}" srcOrd="0" destOrd="0" presId="urn:microsoft.com/office/officeart/2005/8/layout/lProcess2"/>
    <dgm:cxn modelId="{9D0A4242-6C2E-4C47-81A2-DD6B840CAA75}" srcId="{0C0E3E0B-355C-4E64-8671-B401FE5DC1A8}" destId="{F99A86C6-89F8-4C58-BFCF-7B53C7FFAB5C}" srcOrd="1" destOrd="0" parTransId="{C92CB997-2493-4131-A38C-D6994B77FF05}" sibTransId="{1C1FF7DE-0F8B-4753-9E9B-DA29CE46EFAA}"/>
    <dgm:cxn modelId="{70039A62-46AA-4EEE-A52B-DF3796EE071C}" type="presOf" srcId="{0C0E3E0B-355C-4E64-8671-B401FE5DC1A8}" destId="{A3CB68E2-C45A-45CF-8AE9-94064179B8C6}" srcOrd="0" destOrd="0" presId="urn:microsoft.com/office/officeart/2005/8/layout/lProcess2"/>
    <dgm:cxn modelId="{2B72FE6E-EAA6-40DE-BC1C-6934A583A2A6}" srcId="{0C0E3E0B-355C-4E64-8671-B401FE5DC1A8}" destId="{8FB36843-655C-4D2A-9239-321AC46717BA}" srcOrd="0" destOrd="0" parTransId="{DF2E409A-8A06-4981-8E85-007DB829AF7B}" sibTransId="{7BB04DDA-4A96-4544-A85F-5208E1276241}"/>
    <dgm:cxn modelId="{4193396F-8EB2-41BF-80BE-39A8EC06B498}" type="presOf" srcId="{CCBD2AF2-346B-4C68-B3DF-C77297F45774}" destId="{5F1A68CC-B513-4099-A8C6-41A7D85965F6}" srcOrd="0" destOrd="0" presId="urn:microsoft.com/office/officeart/2005/8/layout/lProcess2"/>
    <dgm:cxn modelId="{53019578-1BB6-4F8E-A4D8-7A67D044ABF0}" type="presOf" srcId="{B5F48D18-29EC-4BAC-90F8-573A7B150C7F}" destId="{FCC34637-7461-4148-8F6F-039E5E4ED107}" srcOrd="0" destOrd="0" presId="urn:microsoft.com/office/officeart/2005/8/layout/lProcess2"/>
    <dgm:cxn modelId="{B703587F-19A2-432E-BFC3-5ADABDBC9FD3}" srcId="{168E1158-B1BD-498B-8312-BA64E22D2765}" destId="{6A65E4FD-113D-4285-BA0B-FA8F718A4256}" srcOrd="0" destOrd="0" parTransId="{3A8DDF48-586F-468D-9E82-2B6B0BB2D301}" sibTransId="{0E93CD04-7577-4E3F-B707-7E5DD9CFBC31}"/>
    <dgm:cxn modelId="{2F28EC81-C391-45C5-AFE2-22601CC84610}" type="presOf" srcId="{40A67674-D7F7-44B7-885F-F4DE10790998}" destId="{3DD1697F-E914-4A69-BD25-36B015A9C5F8}" srcOrd="0" destOrd="0" presId="urn:microsoft.com/office/officeart/2005/8/layout/lProcess2"/>
    <dgm:cxn modelId="{5B1BFCAF-72AB-4396-B8A1-EB0FC21BF87D}" type="presOf" srcId="{6A65E4FD-113D-4285-BA0B-FA8F718A4256}" destId="{F54F19DA-615D-46B7-9D10-26C737A86710}" srcOrd="1" destOrd="0" presId="urn:microsoft.com/office/officeart/2005/8/layout/lProcess2"/>
    <dgm:cxn modelId="{2C2560B3-82F7-447A-81DD-F57B0F6618A3}" type="presOf" srcId="{F99A86C6-89F8-4C58-BFCF-7B53C7FFAB5C}" destId="{D19CD3EA-166B-4B11-88A3-BAC95597B0E8}" srcOrd="0" destOrd="0" presId="urn:microsoft.com/office/officeart/2005/8/layout/lProcess2"/>
    <dgm:cxn modelId="{BB2135BB-AB14-4F37-99F4-DFFFEABF65C1}" type="presOf" srcId="{08183F7B-9401-4920-A755-1DDA6E8BE580}" destId="{36A5027A-8A45-439A-89B2-77D62772A93F}" srcOrd="0" destOrd="0" presId="urn:microsoft.com/office/officeart/2005/8/layout/lProcess2"/>
    <dgm:cxn modelId="{680307C0-B83E-4FF5-8050-3A8221288156}" type="presOf" srcId="{E43CD69C-CFA2-440B-ACCB-6E2859378D42}" destId="{15AE0B0B-BE33-40A9-8755-04DE8AB5857C}" srcOrd="0" destOrd="0" presId="urn:microsoft.com/office/officeart/2005/8/layout/lProcess2"/>
    <dgm:cxn modelId="{074F6BC0-45A2-4230-A7AB-038E02558F54}" type="presOf" srcId="{0C0E3E0B-355C-4E64-8671-B401FE5DC1A8}" destId="{C4DF0C3C-A7AC-4106-991A-DE9CE625170F}" srcOrd="1" destOrd="0" presId="urn:microsoft.com/office/officeart/2005/8/layout/lProcess2"/>
    <dgm:cxn modelId="{87E32ECF-3521-4BFE-8EB4-1CA12C1FB064}" type="presOf" srcId="{6A65E4FD-113D-4285-BA0B-FA8F718A4256}" destId="{3242A36D-DCD3-41D5-BCED-18EAA917F253}" srcOrd="0" destOrd="0" presId="urn:microsoft.com/office/officeart/2005/8/layout/lProcess2"/>
    <dgm:cxn modelId="{6DF81DEA-F3EB-4791-BFFE-460AE03A4EC6}" srcId="{0C0E3E0B-355C-4E64-8671-B401FE5DC1A8}" destId="{CCBD2AF2-346B-4C68-B3DF-C77297F45774}" srcOrd="3" destOrd="0" parTransId="{6D34C62A-575F-4936-8242-48AE693D650D}" sibTransId="{0458C136-E18A-41A7-B3D2-3E85993C109A}"/>
    <dgm:cxn modelId="{55027E6F-66BE-4FEA-93C3-C54799224226}" type="presParOf" srcId="{6585309E-AB53-4261-B11C-ADC517BA1795}" destId="{6D72659D-888F-490C-B3F0-FF4138E29A44}" srcOrd="0" destOrd="0" presId="urn:microsoft.com/office/officeart/2005/8/layout/lProcess2"/>
    <dgm:cxn modelId="{35CECAC3-3CD0-44DD-8A47-4A2DA618734A}" type="presParOf" srcId="{6D72659D-888F-490C-B3F0-FF4138E29A44}" destId="{3242A36D-DCD3-41D5-BCED-18EAA917F253}" srcOrd="0" destOrd="0" presId="urn:microsoft.com/office/officeart/2005/8/layout/lProcess2"/>
    <dgm:cxn modelId="{3BE788CC-04F3-4E51-8CC8-DD69B5ED2753}" type="presParOf" srcId="{6D72659D-888F-490C-B3F0-FF4138E29A44}" destId="{F54F19DA-615D-46B7-9D10-26C737A86710}" srcOrd="1" destOrd="0" presId="urn:microsoft.com/office/officeart/2005/8/layout/lProcess2"/>
    <dgm:cxn modelId="{05C2E4CF-6656-4457-B29A-B45B5DC43BAA}" type="presParOf" srcId="{6D72659D-888F-490C-B3F0-FF4138E29A44}" destId="{D7048969-0E6B-4BB2-894C-381053153BB7}" srcOrd="2" destOrd="0" presId="urn:microsoft.com/office/officeart/2005/8/layout/lProcess2"/>
    <dgm:cxn modelId="{BEB87196-40CA-479D-B6B0-4DB1C1288A28}" type="presParOf" srcId="{D7048969-0E6B-4BB2-894C-381053153BB7}" destId="{22CB42C9-EA2B-467A-BCD9-37864ED4082A}" srcOrd="0" destOrd="0" presId="urn:microsoft.com/office/officeart/2005/8/layout/lProcess2"/>
    <dgm:cxn modelId="{F7B79AF9-4D83-48F5-BA16-D69C8A6A661E}" type="presParOf" srcId="{22CB42C9-EA2B-467A-BCD9-37864ED4082A}" destId="{36A5027A-8A45-439A-89B2-77D62772A93F}" srcOrd="0" destOrd="0" presId="urn:microsoft.com/office/officeart/2005/8/layout/lProcess2"/>
    <dgm:cxn modelId="{7D6BF575-755E-49E6-A845-A6E6CDE12094}" type="presParOf" srcId="{22CB42C9-EA2B-467A-BCD9-37864ED4082A}" destId="{9C3CA05E-A129-4B9E-BD90-46DE6CB4C369}" srcOrd="1" destOrd="0" presId="urn:microsoft.com/office/officeart/2005/8/layout/lProcess2"/>
    <dgm:cxn modelId="{5972861E-D53E-469A-AD4F-FE74E89BAD60}" type="presParOf" srcId="{22CB42C9-EA2B-467A-BCD9-37864ED4082A}" destId="{FCC34637-7461-4148-8F6F-039E5E4ED107}" srcOrd="2" destOrd="0" presId="urn:microsoft.com/office/officeart/2005/8/layout/lProcess2"/>
    <dgm:cxn modelId="{A2528BBE-5A9F-416A-A6D6-AA15DC42DC56}" type="presParOf" srcId="{22CB42C9-EA2B-467A-BCD9-37864ED4082A}" destId="{F13B8691-269A-4F23-AEC7-E1D62A34BDA2}" srcOrd="3" destOrd="0" presId="urn:microsoft.com/office/officeart/2005/8/layout/lProcess2"/>
    <dgm:cxn modelId="{5234E6D4-85DA-4400-BB84-0793BEDFA196}" type="presParOf" srcId="{22CB42C9-EA2B-467A-BCD9-37864ED4082A}" destId="{15AE0B0B-BE33-40A9-8755-04DE8AB5857C}" srcOrd="4" destOrd="0" presId="urn:microsoft.com/office/officeart/2005/8/layout/lProcess2"/>
    <dgm:cxn modelId="{48435793-4C2B-4ACB-8491-B1D6F4816A6A}" type="presParOf" srcId="{6585309E-AB53-4261-B11C-ADC517BA1795}" destId="{2159034C-5C56-4853-A0B4-060244415D89}" srcOrd="1" destOrd="0" presId="urn:microsoft.com/office/officeart/2005/8/layout/lProcess2"/>
    <dgm:cxn modelId="{168EAEF1-37E1-45F2-8F1E-503F214077E7}" type="presParOf" srcId="{6585309E-AB53-4261-B11C-ADC517BA1795}" destId="{CADADF10-1ED5-44E0-ADAE-39165AD1D083}" srcOrd="2" destOrd="0" presId="urn:microsoft.com/office/officeart/2005/8/layout/lProcess2"/>
    <dgm:cxn modelId="{810C8717-E4D3-4961-8FCC-5CBAB59FE0A9}" type="presParOf" srcId="{CADADF10-1ED5-44E0-ADAE-39165AD1D083}" destId="{A3CB68E2-C45A-45CF-8AE9-94064179B8C6}" srcOrd="0" destOrd="0" presId="urn:microsoft.com/office/officeart/2005/8/layout/lProcess2"/>
    <dgm:cxn modelId="{F5C36117-23D3-4180-9930-48C961F5B181}" type="presParOf" srcId="{CADADF10-1ED5-44E0-ADAE-39165AD1D083}" destId="{C4DF0C3C-A7AC-4106-991A-DE9CE625170F}" srcOrd="1" destOrd="0" presId="urn:microsoft.com/office/officeart/2005/8/layout/lProcess2"/>
    <dgm:cxn modelId="{DC52A168-A527-4FA4-8611-2069D50C5EAC}" type="presParOf" srcId="{CADADF10-1ED5-44E0-ADAE-39165AD1D083}" destId="{57C18801-942A-48AB-991A-34E3E9E1D7DE}" srcOrd="2" destOrd="0" presId="urn:microsoft.com/office/officeart/2005/8/layout/lProcess2"/>
    <dgm:cxn modelId="{9E2861D1-DE23-4118-9A68-063464EC540B}" type="presParOf" srcId="{57C18801-942A-48AB-991A-34E3E9E1D7DE}" destId="{749FE87B-C189-4514-8DBE-6D6D9D25BC5C}" srcOrd="0" destOrd="0" presId="urn:microsoft.com/office/officeart/2005/8/layout/lProcess2"/>
    <dgm:cxn modelId="{C85ED624-B4AD-4658-8431-25B3794D9BA8}" type="presParOf" srcId="{749FE87B-C189-4514-8DBE-6D6D9D25BC5C}" destId="{2FE2EB3F-40B5-4F9A-98ED-3B5405EA8FBD}" srcOrd="0" destOrd="0" presId="urn:microsoft.com/office/officeart/2005/8/layout/lProcess2"/>
    <dgm:cxn modelId="{6AE8B254-C245-4C2B-A7DA-08FD8F5D2DAA}" type="presParOf" srcId="{749FE87B-C189-4514-8DBE-6D6D9D25BC5C}" destId="{45F2EE48-5BBD-4523-AFBC-96011EFDE9BA}" srcOrd="1" destOrd="0" presId="urn:microsoft.com/office/officeart/2005/8/layout/lProcess2"/>
    <dgm:cxn modelId="{A02C01C7-3652-4FAC-AB2C-5C5525F50179}" type="presParOf" srcId="{749FE87B-C189-4514-8DBE-6D6D9D25BC5C}" destId="{D19CD3EA-166B-4B11-88A3-BAC95597B0E8}" srcOrd="2" destOrd="0" presId="urn:microsoft.com/office/officeart/2005/8/layout/lProcess2"/>
    <dgm:cxn modelId="{30E2DF90-0537-4D56-9659-83A5901C4B67}" type="presParOf" srcId="{749FE87B-C189-4514-8DBE-6D6D9D25BC5C}" destId="{2493B72C-62AB-4700-A63E-964FECA42BB2}" srcOrd="3" destOrd="0" presId="urn:microsoft.com/office/officeart/2005/8/layout/lProcess2"/>
    <dgm:cxn modelId="{906C60E4-F63B-4FAC-AB64-0F90E6B57BA9}" type="presParOf" srcId="{749FE87B-C189-4514-8DBE-6D6D9D25BC5C}" destId="{3DD1697F-E914-4A69-BD25-36B015A9C5F8}" srcOrd="4" destOrd="0" presId="urn:microsoft.com/office/officeart/2005/8/layout/lProcess2"/>
    <dgm:cxn modelId="{54CCC6E3-C96E-4E77-8D0C-24421D105BCA}" type="presParOf" srcId="{749FE87B-C189-4514-8DBE-6D6D9D25BC5C}" destId="{3EED6FA4-2685-4724-AA7E-39E4B996B7A0}" srcOrd="5" destOrd="0" presId="urn:microsoft.com/office/officeart/2005/8/layout/lProcess2"/>
    <dgm:cxn modelId="{F45203B6-1E19-42A0-B2E1-7467DC295BE4}" type="presParOf" srcId="{749FE87B-C189-4514-8DBE-6D6D9D25BC5C}" destId="{5F1A68CC-B513-4099-A8C6-41A7D85965F6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2A36D-DCD3-41D5-BCED-18EAA917F253}">
      <dsp:nvSpPr>
        <dsp:cNvPr id="0" name=""/>
        <dsp:cNvSpPr/>
      </dsp:nvSpPr>
      <dsp:spPr>
        <a:xfrm>
          <a:off x="8469" y="0"/>
          <a:ext cx="8147393" cy="105720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600" kern="1200" dirty="0"/>
        </a:p>
      </dsp:txBody>
      <dsp:txXfrm>
        <a:off x="8469" y="0"/>
        <a:ext cx="8147393" cy="3171613"/>
      </dsp:txXfrm>
    </dsp:sp>
    <dsp:sp modelId="{36A5027A-8A45-439A-89B2-77D62772A93F}">
      <dsp:nvSpPr>
        <dsp:cNvPr id="0" name=""/>
        <dsp:cNvSpPr/>
      </dsp:nvSpPr>
      <dsp:spPr>
        <a:xfrm>
          <a:off x="790912" y="1293509"/>
          <a:ext cx="6828493" cy="22894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60960" rIns="8128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sz="3200" kern="1200" dirty="0"/>
            <a:t>Desenvolver modelos de dados aderentes aos padrões de modelagem, requisitos de negócio e de banco de dados da Caixa.</a:t>
          </a:r>
        </a:p>
      </dsp:txBody>
      <dsp:txXfrm>
        <a:off x="857967" y="1360564"/>
        <a:ext cx="6694383" cy="2155309"/>
      </dsp:txXfrm>
    </dsp:sp>
    <dsp:sp modelId="{FCC34637-7461-4148-8F6F-039E5E4ED107}">
      <dsp:nvSpPr>
        <dsp:cNvPr id="0" name=""/>
        <dsp:cNvSpPr/>
      </dsp:nvSpPr>
      <dsp:spPr>
        <a:xfrm>
          <a:off x="813432" y="4161780"/>
          <a:ext cx="6783454" cy="1926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60960" rIns="8128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 dirty="0"/>
            <a:t>Disponibilizar documentação negocial necessária à elaboração, compreensão e validação do modelo de dados.</a:t>
          </a:r>
        </a:p>
      </dsp:txBody>
      <dsp:txXfrm>
        <a:off x="869844" y="4218192"/>
        <a:ext cx="6670630" cy="1813226"/>
      </dsp:txXfrm>
    </dsp:sp>
    <dsp:sp modelId="{15AE0B0B-BE33-40A9-8755-04DE8AB5857C}">
      <dsp:nvSpPr>
        <dsp:cNvPr id="0" name=""/>
        <dsp:cNvSpPr/>
      </dsp:nvSpPr>
      <dsp:spPr>
        <a:xfrm>
          <a:off x="936425" y="6792767"/>
          <a:ext cx="6537468" cy="21391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60960" rIns="8128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 dirty="0"/>
            <a:t>Adequar o modelo de dados de acordo com os apontamento da ADI.</a:t>
          </a:r>
        </a:p>
      </dsp:txBody>
      <dsp:txXfrm>
        <a:off x="999078" y="6855420"/>
        <a:ext cx="6412162" cy="2013841"/>
      </dsp:txXfrm>
    </dsp:sp>
    <dsp:sp modelId="{A3CB68E2-C45A-45CF-8AE9-94064179B8C6}">
      <dsp:nvSpPr>
        <dsp:cNvPr id="0" name=""/>
        <dsp:cNvSpPr/>
      </dsp:nvSpPr>
      <dsp:spPr>
        <a:xfrm>
          <a:off x="8766917" y="0"/>
          <a:ext cx="8147393" cy="105720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600" kern="1200" dirty="0"/>
        </a:p>
      </dsp:txBody>
      <dsp:txXfrm>
        <a:off x="8766917" y="0"/>
        <a:ext cx="8147393" cy="3171613"/>
      </dsp:txXfrm>
    </dsp:sp>
    <dsp:sp modelId="{2FE2EB3F-40B5-4F9A-98ED-3B5405EA8FBD}">
      <dsp:nvSpPr>
        <dsp:cNvPr id="0" name=""/>
        <dsp:cNvSpPr/>
      </dsp:nvSpPr>
      <dsp:spPr>
        <a:xfrm>
          <a:off x="9860688" y="1160717"/>
          <a:ext cx="5865340" cy="17142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60960" rIns="8128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 dirty="0"/>
            <a:t>Validar os modelos de dados de acordo com as normas e boas práticas da Caixa.</a:t>
          </a:r>
        </a:p>
      </dsp:txBody>
      <dsp:txXfrm>
        <a:off x="9910895" y="1210924"/>
        <a:ext cx="5764926" cy="1613795"/>
      </dsp:txXfrm>
    </dsp:sp>
    <dsp:sp modelId="{D19CD3EA-166B-4B11-88A3-BAC95597B0E8}">
      <dsp:nvSpPr>
        <dsp:cNvPr id="0" name=""/>
        <dsp:cNvSpPr/>
      </dsp:nvSpPr>
      <dsp:spPr>
        <a:xfrm>
          <a:off x="9958326" y="3155358"/>
          <a:ext cx="5853087" cy="1355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60960" rIns="8128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 dirty="0"/>
            <a:t>Prestar suporte à equipe de projeto à elaboração do modelo de dados.</a:t>
          </a:r>
        </a:p>
      </dsp:txBody>
      <dsp:txXfrm>
        <a:off x="9998021" y="3195053"/>
        <a:ext cx="5773697" cy="1275885"/>
      </dsp:txXfrm>
    </dsp:sp>
    <dsp:sp modelId="{3DD1697F-E914-4A69-BD25-36B015A9C5F8}">
      <dsp:nvSpPr>
        <dsp:cNvPr id="0" name=""/>
        <dsp:cNvSpPr/>
      </dsp:nvSpPr>
      <dsp:spPr>
        <a:xfrm>
          <a:off x="9869976" y="5037271"/>
          <a:ext cx="6074109" cy="1700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60960" rIns="8128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 dirty="0" err="1"/>
            <a:t>Versionar</a:t>
          </a:r>
          <a:r>
            <a:rPr lang="pt-BR" sz="3200" kern="1200" dirty="0"/>
            <a:t> os modelos de dados aprovados no Repositório Central do Power Designer.</a:t>
          </a:r>
        </a:p>
      </dsp:txBody>
      <dsp:txXfrm>
        <a:off x="9919793" y="5087088"/>
        <a:ext cx="5974475" cy="1601246"/>
      </dsp:txXfrm>
    </dsp:sp>
    <dsp:sp modelId="{5F1A68CC-B513-4099-A8C6-41A7D85965F6}">
      <dsp:nvSpPr>
        <dsp:cNvPr id="0" name=""/>
        <dsp:cNvSpPr/>
      </dsp:nvSpPr>
      <dsp:spPr>
        <a:xfrm>
          <a:off x="9936165" y="7193612"/>
          <a:ext cx="5941600" cy="1678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280" tIns="60960" rIns="8128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 dirty="0"/>
            <a:t>Garantir e manter a gestão dos metadados.</a:t>
          </a:r>
        </a:p>
      </dsp:txBody>
      <dsp:txXfrm>
        <a:off x="9985317" y="7242764"/>
        <a:ext cx="5843296" cy="15798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9DCD9-A2C4-46FA-AE68-9B87F0F9C80F}" type="datetimeFigureOut">
              <a:rPr lang="pt-BR" smtClean="0"/>
              <a:t>29/07/2024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43000"/>
            <a:ext cx="548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32FFA-7D3E-4D52-B730-07D087FA3A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3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1pPr>
    <a:lvl2pPr marL="914811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2pPr>
    <a:lvl3pPr marL="1829623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3pPr>
    <a:lvl4pPr marL="2744434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4pPr>
    <a:lvl5pPr marL="3659246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5pPr>
    <a:lvl6pPr marL="4574057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6pPr>
    <a:lvl7pPr marL="5488869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7pPr>
    <a:lvl8pPr marL="6403680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8pPr>
    <a:lvl9pPr marL="7318492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DA8F9A7-C5FA-4A61-8E3F-A7A7B01255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612"/>
            <a:ext cx="24401462" cy="1371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79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60"/>
            <a:ext cx="24401462" cy="253917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6963AC1-1D44-4DC4-B0D4-323B6DE85F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56420" y="5193"/>
            <a:ext cx="2511397" cy="280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8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60"/>
            <a:ext cx="24401462" cy="2537853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342A9502-7092-3666-2996-E143956BB0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56420" y="5193"/>
            <a:ext cx="2511397" cy="280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40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7" y="660"/>
            <a:ext cx="24388767" cy="2537853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3FB3C01-75D0-CF13-B8DD-D35F329894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56420" y="5193"/>
            <a:ext cx="2511397" cy="280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1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8" y="11179355"/>
            <a:ext cx="24388767" cy="253785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6F00D67-C207-53B8-F63D-16BD667160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28" y="10879501"/>
            <a:ext cx="2511397" cy="2801777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34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8" y="11180015"/>
            <a:ext cx="24388767" cy="25365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94B833-8411-F8C0-2717-72C337940E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28" y="10879501"/>
            <a:ext cx="2511397" cy="2801777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2574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8" y="11179355"/>
            <a:ext cx="24388767" cy="253785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0121B80-92DA-ADF3-04C1-BD9576BD6D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28" y="10879501"/>
            <a:ext cx="2511397" cy="2801777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4976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23D758F-6212-4DCE-B98C-5F9E7F535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24401463" cy="1094292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35074B-7650-415D-9FF2-950A2C3B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03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6DA843B-FA98-4943-B264-124A01E7E3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621707"/>
            <a:ext cx="24401463" cy="1094292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C6355D2-56A6-4180-A696-38D4FBB9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34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B4A8950-93FA-498F-9EDA-9E2183B0AC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5" y="0"/>
            <a:ext cx="8138106" cy="1372432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DC8921E-936F-028C-AC58-8496013A7C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476" y="4873"/>
            <a:ext cx="2356483" cy="2628951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2389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C4D70FF-CEBF-4F5C-BB84-607848F67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02986" y="0"/>
            <a:ext cx="8133169" cy="13716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11B1A55-F3C8-B7A3-9269-EA95B7CD20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95436" y="4873"/>
            <a:ext cx="2356483" cy="2628951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3430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D55D59-0147-49E5-9BE3-930CFC39D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2396" y="0"/>
            <a:ext cx="1103877" cy="13716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9892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D55D59-0147-49E5-9BE3-930CFC39D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2396" y="3"/>
            <a:ext cx="1103877" cy="1371599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646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D55D59-0147-49E5-9BE3-930CFC39D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8740" y="3"/>
            <a:ext cx="1091189" cy="1371599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36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DAF63FB-4D16-44BD-AA7F-CCF8617E13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211" y="0"/>
            <a:ext cx="1103877" cy="13716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A16187-02E0-430F-A19C-18569A45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28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1666C79-47D9-4118-9078-C4B01D82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593" y="3"/>
            <a:ext cx="1103877" cy="137159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3FC4-EF8D-4893-9422-5A1510C3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238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1666C79-47D9-4118-9078-C4B01D82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0031" y="3"/>
            <a:ext cx="1091189" cy="137159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3FC4-EF8D-4893-9422-5A1510C3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91338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BDCC96C-705A-45A8-8590-B3B925CA7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4" y="1"/>
            <a:ext cx="24441486" cy="13746746"/>
          </a:xfrm>
          <a:prstGeom prst="rect">
            <a:avLst/>
          </a:prstGeom>
        </p:spPr>
      </p:pic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3C5CE4CA-976E-453F-AE6C-6B6C27DD96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824" y="643707"/>
            <a:ext cx="9273282" cy="125595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>
              <a:defRPr sz="3600"/>
            </a:lvl1pPr>
          </a:lstStyle>
          <a:p>
            <a:endParaRPr lang="pt-B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BCACC6F-9D8A-416F-9C22-4FFA4BE7C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493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1461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15048E0-D0F0-4546-899C-F7D728CA87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2302" y="-56317"/>
            <a:ext cx="24607193" cy="13839945"/>
          </a:xfrm>
          <a:prstGeom prst="rect">
            <a:avLst/>
          </a:prstGeom>
        </p:spPr>
      </p:pic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4FD83E0A-9CFA-43AF-BEDC-F96F0BE841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4694" y="-2106934"/>
            <a:ext cx="27546300" cy="19994563"/>
          </a:xfrm>
          <a:custGeom>
            <a:avLst/>
            <a:gdLst>
              <a:gd name="connsiteX0" fmla="*/ 0 w 8039100"/>
              <a:gd name="connsiteY0" fmla="*/ 0 h 3725863"/>
              <a:gd name="connsiteX1" fmla="*/ 8039100 w 8039100"/>
              <a:gd name="connsiteY1" fmla="*/ 0 h 3725863"/>
              <a:gd name="connsiteX2" fmla="*/ 8039100 w 8039100"/>
              <a:gd name="connsiteY2" fmla="*/ 3725863 h 3725863"/>
              <a:gd name="connsiteX3" fmla="*/ 0 w 8039100"/>
              <a:gd name="connsiteY3" fmla="*/ 3725863 h 3725863"/>
              <a:gd name="connsiteX4" fmla="*/ 0 w 8039100"/>
              <a:gd name="connsiteY4" fmla="*/ 0 h 3725863"/>
              <a:gd name="connsiteX0" fmla="*/ 0 w 16649700"/>
              <a:gd name="connsiteY0" fmla="*/ 16268700 h 19994563"/>
              <a:gd name="connsiteX1" fmla="*/ 16649700 w 16649700"/>
              <a:gd name="connsiteY1" fmla="*/ 0 h 19994563"/>
              <a:gd name="connsiteX2" fmla="*/ 8039100 w 16649700"/>
              <a:gd name="connsiteY2" fmla="*/ 19994563 h 19994563"/>
              <a:gd name="connsiteX3" fmla="*/ 0 w 16649700"/>
              <a:gd name="connsiteY3" fmla="*/ 19994563 h 19994563"/>
              <a:gd name="connsiteX4" fmla="*/ 0 w 16649700"/>
              <a:gd name="connsiteY4" fmla="*/ 16268700 h 19994563"/>
              <a:gd name="connsiteX0" fmla="*/ 0 w 16649700"/>
              <a:gd name="connsiteY0" fmla="*/ 16268700 h 19994563"/>
              <a:gd name="connsiteX1" fmla="*/ 16649700 w 16649700"/>
              <a:gd name="connsiteY1" fmla="*/ 0 h 19994563"/>
              <a:gd name="connsiteX2" fmla="*/ 8039100 w 16649700"/>
              <a:gd name="connsiteY2" fmla="*/ 19994563 h 19994563"/>
              <a:gd name="connsiteX3" fmla="*/ 8077200 w 16649700"/>
              <a:gd name="connsiteY3" fmla="*/ 19919950 h 19994563"/>
              <a:gd name="connsiteX4" fmla="*/ 0 w 16649700"/>
              <a:gd name="connsiteY4" fmla="*/ 19994563 h 19994563"/>
              <a:gd name="connsiteX5" fmla="*/ 0 w 16649700"/>
              <a:gd name="connsiteY5" fmla="*/ 16268700 h 19994563"/>
              <a:gd name="connsiteX0" fmla="*/ 0 w 16649700"/>
              <a:gd name="connsiteY0" fmla="*/ 16268700 h 20872450"/>
              <a:gd name="connsiteX1" fmla="*/ 16649700 w 16649700"/>
              <a:gd name="connsiteY1" fmla="*/ 0 h 20872450"/>
              <a:gd name="connsiteX2" fmla="*/ 8039100 w 16649700"/>
              <a:gd name="connsiteY2" fmla="*/ 19994563 h 20872450"/>
              <a:gd name="connsiteX3" fmla="*/ 5981700 w 16649700"/>
              <a:gd name="connsiteY3" fmla="*/ 20872450 h 20872450"/>
              <a:gd name="connsiteX4" fmla="*/ 0 w 16649700"/>
              <a:gd name="connsiteY4" fmla="*/ 19994563 h 20872450"/>
              <a:gd name="connsiteX5" fmla="*/ 0 w 16649700"/>
              <a:gd name="connsiteY5" fmla="*/ 16268700 h 20872450"/>
              <a:gd name="connsiteX0" fmla="*/ 0 w 27546300"/>
              <a:gd name="connsiteY0" fmla="*/ 16268700 h 20872450"/>
              <a:gd name="connsiteX1" fmla="*/ 16649700 w 27546300"/>
              <a:gd name="connsiteY1" fmla="*/ 0 h 20872450"/>
              <a:gd name="connsiteX2" fmla="*/ 27546300 w 27546300"/>
              <a:gd name="connsiteY2" fmla="*/ 182564 h 20872450"/>
              <a:gd name="connsiteX3" fmla="*/ 5981700 w 27546300"/>
              <a:gd name="connsiteY3" fmla="*/ 20872450 h 20872450"/>
              <a:gd name="connsiteX4" fmla="*/ 0 w 27546300"/>
              <a:gd name="connsiteY4" fmla="*/ 19994563 h 20872450"/>
              <a:gd name="connsiteX5" fmla="*/ 0 w 27546300"/>
              <a:gd name="connsiteY5" fmla="*/ 16268700 h 20872450"/>
              <a:gd name="connsiteX0" fmla="*/ 0 w 27546300"/>
              <a:gd name="connsiteY0" fmla="*/ 16268700 h 20872450"/>
              <a:gd name="connsiteX1" fmla="*/ 16649700 w 27546300"/>
              <a:gd name="connsiteY1" fmla="*/ 0 h 20872450"/>
              <a:gd name="connsiteX2" fmla="*/ 27546300 w 27546300"/>
              <a:gd name="connsiteY2" fmla="*/ 182564 h 20872450"/>
              <a:gd name="connsiteX3" fmla="*/ 27279600 w 27546300"/>
              <a:gd name="connsiteY3" fmla="*/ 488949 h 20872450"/>
              <a:gd name="connsiteX4" fmla="*/ 5981700 w 27546300"/>
              <a:gd name="connsiteY4" fmla="*/ 20872450 h 20872450"/>
              <a:gd name="connsiteX5" fmla="*/ 0 w 27546300"/>
              <a:gd name="connsiteY5" fmla="*/ 19994563 h 20872450"/>
              <a:gd name="connsiteX6" fmla="*/ 0 w 27546300"/>
              <a:gd name="connsiteY6" fmla="*/ 16268700 h 20872450"/>
              <a:gd name="connsiteX0" fmla="*/ 0 w 27546300"/>
              <a:gd name="connsiteY0" fmla="*/ 16268700 h 20872450"/>
              <a:gd name="connsiteX1" fmla="*/ 16649700 w 27546300"/>
              <a:gd name="connsiteY1" fmla="*/ 0 h 20872450"/>
              <a:gd name="connsiteX2" fmla="*/ 27546300 w 27546300"/>
              <a:gd name="connsiteY2" fmla="*/ 182564 h 20872450"/>
              <a:gd name="connsiteX3" fmla="*/ 27393900 w 27546300"/>
              <a:gd name="connsiteY3" fmla="*/ 603249 h 20872450"/>
              <a:gd name="connsiteX4" fmla="*/ 5981700 w 27546300"/>
              <a:gd name="connsiteY4" fmla="*/ 20872450 h 20872450"/>
              <a:gd name="connsiteX5" fmla="*/ 0 w 27546300"/>
              <a:gd name="connsiteY5" fmla="*/ 19994563 h 20872450"/>
              <a:gd name="connsiteX6" fmla="*/ 0 w 27546300"/>
              <a:gd name="connsiteY6" fmla="*/ 16268700 h 20872450"/>
              <a:gd name="connsiteX0" fmla="*/ 0 w 27546300"/>
              <a:gd name="connsiteY0" fmla="*/ 16268700 h 19994563"/>
              <a:gd name="connsiteX1" fmla="*/ 16649700 w 27546300"/>
              <a:gd name="connsiteY1" fmla="*/ 0 h 19994563"/>
              <a:gd name="connsiteX2" fmla="*/ 27546300 w 27546300"/>
              <a:gd name="connsiteY2" fmla="*/ 182564 h 19994563"/>
              <a:gd name="connsiteX3" fmla="*/ 27393900 w 27546300"/>
              <a:gd name="connsiteY3" fmla="*/ 603249 h 19994563"/>
              <a:gd name="connsiteX4" fmla="*/ 8153400 w 27546300"/>
              <a:gd name="connsiteY4" fmla="*/ 19805650 h 19994563"/>
              <a:gd name="connsiteX5" fmla="*/ 0 w 27546300"/>
              <a:gd name="connsiteY5" fmla="*/ 19994563 h 19994563"/>
              <a:gd name="connsiteX6" fmla="*/ 0 w 27546300"/>
              <a:gd name="connsiteY6" fmla="*/ 16268700 h 1999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546300" h="19994563">
                <a:moveTo>
                  <a:pt x="0" y="16268700"/>
                </a:moveTo>
                <a:lnTo>
                  <a:pt x="16649700" y="0"/>
                </a:lnTo>
                <a:lnTo>
                  <a:pt x="27546300" y="182564"/>
                </a:lnTo>
                <a:lnTo>
                  <a:pt x="27393900" y="603249"/>
                </a:lnTo>
                <a:lnTo>
                  <a:pt x="8153400" y="19805650"/>
                </a:lnTo>
                <a:lnTo>
                  <a:pt x="0" y="19994563"/>
                </a:lnTo>
                <a:lnTo>
                  <a:pt x="0" y="162687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2800"/>
            </a:lvl1pPr>
          </a:lstStyle>
          <a:p>
            <a:endParaRPr lang="pt-BR"/>
          </a:p>
        </p:txBody>
      </p:sp>
      <p:sp>
        <p:nvSpPr>
          <p:cNvPr id="19" name="Espaço Reservado para Imagem 18">
            <a:extLst>
              <a:ext uri="{FF2B5EF4-FFF2-40B4-BE49-F238E27FC236}">
                <a16:creationId xmlns:a16="http://schemas.microsoft.com/office/drawing/2014/main" id="{BEE315DE-E585-4187-A9BB-37960816D5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595941" y="-4495801"/>
            <a:ext cx="21321712" cy="21911469"/>
          </a:xfrm>
          <a:custGeom>
            <a:avLst/>
            <a:gdLst>
              <a:gd name="connsiteX0" fmla="*/ 0 w 21169313"/>
              <a:gd name="connsiteY0" fmla="*/ 0 h 22220238"/>
              <a:gd name="connsiteX1" fmla="*/ 21169313 w 21169313"/>
              <a:gd name="connsiteY1" fmla="*/ 0 h 22220238"/>
              <a:gd name="connsiteX2" fmla="*/ 21169313 w 21169313"/>
              <a:gd name="connsiteY2" fmla="*/ 22220238 h 22220238"/>
              <a:gd name="connsiteX3" fmla="*/ 0 w 21169313"/>
              <a:gd name="connsiteY3" fmla="*/ 22220238 h 22220238"/>
              <a:gd name="connsiteX4" fmla="*/ 0 w 21169313"/>
              <a:gd name="connsiteY4" fmla="*/ 0 h 22220238"/>
              <a:gd name="connsiteX0" fmla="*/ 0 w 21169313"/>
              <a:gd name="connsiteY0" fmla="*/ 0 h 22220238"/>
              <a:gd name="connsiteX1" fmla="*/ 21169313 w 21169313"/>
              <a:gd name="connsiteY1" fmla="*/ 0 h 22220238"/>
              <a:gd name="connsiteX2" fmla="*/ 8672512 w 21169313"/>
              <a:gd name="connsiteY2" fmla="*/ 16962438 h 22220238"/>
              <a:gd name="connsiteX3" fmla="*/ 0 w 21169313"/>
              <a:gd name="connsiteY3" fmla="*/ 22220238 h 22220238"/>
              <a:gd name="connsiteX4" fmla="*/ 0 w 21169313"/>
              <a:gd name="connsiteY4" fmla="*/ 0 h 22220238"/>
              <a:gd name="connsiteX0" fmla="*/ 0 w 21169313"/>
              <a:gd name="connsiteY0" fmla="*/ 0 h 22220238"/>
              <a:gd name="connsiteX1" fmla="*/ 21169313 w 21169313"/>
              <a:gd name="connsiteY1" fmla="*/ 0 h 22220238"/>
              <a:gd name="connsiteX2" fmla="*/ 0 w 21169313"/>
              <a:gd name="connsiteY2" fmla="*/ 22220238 h 22220238"/>
              <a:gd name="connsiteX3" fmla="*/ 0 w 21169313"/>
              <a:gd name="connsiteY3" fmla="*/ 0 h 22220238"/>
              <a:gd name="connsiteX0" fmla="*/ 0 w 21169313"/>
              <a:gd name="connsiteY0" fmla="*/ 0 h 21115338"/>
              <a:gd name="connsiteX1" fmla="*/ 21169313 w 21169313"/>
              <a:gd name="connsiteY1" fmla="*/ 0 h 21115338"/>
              <a:gd name="connsiteX2" fmla="*/ 38100 w 21169313"/>
              <a:gd name="connsiteY2" fmla="*/ 21115338 h 21115338"/>
              <a:gd name="connsiteX3" fmla="*/ 0 w 21169313"/>
              <a:gd name="connsiteY3" fmla="*/ 0 h 21115338"/>
              <a:gd name="connsiteX0" fmla="*/ 0 w 21359812"/>
              <a:gd name="connsiteY0" fmla="*/ 0 h 21115338"/>
              <a:gd name="connsiteX1" fmla="*/ 21359812 w 21359812"/>
              <a:gd name="connsiteY1" fmla="*/ 0 h 21115338"/>
              <a:gd name="connsiteX2" fmla="*/ 38100 w 21359812"/>
              <a:gd name="connsiteY2" fmla="*/ 21115338 h 21115338"/>
              <a:gd name="connsiteX3" fmla="*/ 0 w 21359812"/>
              <a:gd name="connsiteY3" fmla="*/ 0 h 21115338"/>
              <a:gd name="connsiteX0" fmla="*/ 0 w 21321712"/>
              <a:gd name="connsiteY0" fmla="*/ 8839200 h 21115338"/>
              <a:gd name="connsiteX1" fmla="*/ 21321712 w 21321712"/>
              <a:gd name="connsiteY1" fmla="*/ 0 h 21115338"/>
              <a:gd name="connsiteX2" fmla="*/ 0 w 21321712"/>
              <a:gd name="connsiteY2" fmla="*/ 21115338 h 21115338"/>
              <a:gd name="connsiteX3" fmla="*/ 0 w 21321712"/>
              <a:gd name="connsiteY3" fmla="*/ 8839200 h 21115338"/>
              <a:gd name="connsiteX0" fmla="*/ 76200 w 21321712"/>
              <a:gd name="connsiteY0" fmla="*/ 11125200 h 21115338"/>
              <a:gd name="connsiteX1" fmla="*/ 21321712 w 21321712"/>
              <a:gd name="connsiteY1" fmla="*/ 0 h 21115338"/>
              <a:gd name="connsiteX2" fmla="*/ 0 w 21321712"/>
              <a:gd name="connsiteY2" fmla="*/ 21115338 h 21115338"/>
              <a:gd name="connsiteX3" fmla="*/ 76200 w 21321712"/>
              <a:gd name="connsiteY3" fmla="*/ 11125200 h 21115338"/>
              <a:gd name="connsiteX0" fmla="*/ 0 w 21359812"/>
              <a:gd name="connsiteY0" fmla="*/ 10248900 h 21115338"/>
              <a:gd name="connsiteX1" fmla="*/ 21359812 w 21359812"/>
              <a:gd name="connsiteY1" fmla="*/ 0 h 21115338"/>
              <a:gd name="connsiteX2" fmla="*/ 38100 w 21359812"/>
              <a:gd name="connsiteY2" fmla="*/ 21115338 h 21115338"/>
              <a:gd name="connsiteX3" fmla="*/ 0 w 21359812"/>
              <a:gd name="connsiteY3" fmla="*/ 10248900 h 21115338"/>
              <a:gd name="connsiteX0" fmla="*/ 0 w 21359812"/>
              <a:gd name="connsiteY0" fmla="*/ 10248900 h 21115338"/>
              <a:gd name="connsiteX1" fmla="*/ 15121441 w 21359812"/>
              <a:gd name="connsiteY1" fmla="*/ 2937669 h 21115338"/>
              <a:gd name="connsiteX2" fmla="*/ 21359812 w 21359812"/>
              <a:gd name="connsiteY2" fmla="*/ 0 h 21115338"/>
              <a:gd name="connsiteX3" fmla="*/ 38100 w 21359812"/>
              <a:gd name="connsiteY3" fmla="*/ 21115338 h 21115338"/>
              <a:gd name="connsiteX4" fmla="*/ 0 w 21359812"/>
              <a:gd name="connsiteY4" fmla="*/ 10248900 h 21115338"/>
              <a:gd name="connsiteX0" fmla="*/ 0 w 21359812"/>
              <a:gd name="connsiteY0" fmla="*/ 10248900 h 21115338"/>
              <a:gd name="connsiteX1" fmla="*/ 7387141 w 21359812"/>
              <a:gd name="connsiteY1" fmla="*/ 3699669 h 21115338"/>
              <a:gd name="connsiteX2" fmla="*/ 21359812 w 21359812"/>
              <a:gd name="connsiteY2" fmla="*/ 0 h 21115338"/>
              <a:gd name="connsiteX3" fmla="*/ 38100 w 21359812"/>
              <a:gd name="connsiteY3" fmla="*/ 21115338 h 21115338"/>
              <a:gd name="connsiteX4" fmla="*/ 0 w 21359812"/>
              <a:gd name="connsiteY4" fmla="*/ 10248900 h 21115338"/>
              <a:gd name="connsiteX0" fmla="*/ 190500 w 21321712"/>
              <a:gd name="connsiteY0" fmla="*/ 10668000 h 21115338"/>
              <a:gd name="connsiteX1" fmla="*/ 7349041 w 21321712"/>
              <a:gd name="connsiteY1" fmla="*/ 3699669 h 21115338"/>
              <a:gd name="connsiteX2" fmla="*/ 21321712 w 21321712"/>
              <a:gd name="connsiteY2" fmla="*/ 0 h 21115338"/>
              <a:gd name="connsiteX3" fmla="*/ 0 w 21321712"/>
              <a:gd name="connsiteY3" fmla="*/ 21115338 h 21115338"/>
              <a:gd name="connsiteX4" fmla="*/ 190500 w 21321712"/>
              <a:gd name="connsiteY4" fmla="*/ 10668000 h 21115338"/>
              <a:gd name="connsiteX0" fmla="*/ 266700 w 21321712"/>
              <a:gd name="connsiteY0" fmla="*/ 10934700 h 21115338"/>
              <a:gd name="connsiteX1" fmla="*/ 7349041 w 21321712"/>
              <a:gd name="connsiteY1" fmla="*/ 3699669 h 21115338"/>
              <a:gd name="connsiteX2" fmla="*/ 21321712 w 21321712"/>
              <a:gd name="connsiteY2" fmla="*/ 0 h 21115338"/>
              <a:gd name="connsiteX3" fmla="*/ 0 w 21321712"/>
              <a:gd name="connsiteY3" fmla="*/ 21115338 h 21115338"/>
              <a:gd name="connsiteX4" fmla="*/ 266700 w 21321712"/>
              <a:gd name="connsiteY4" fmla="*/ 10934700 h 21115338"/>
              <a:gd name="connsiteX0" fmla="*/ 152400 w 21321712"/>
              <a:gd name="connsiteY0" fmla="*/ 10896600 h 21115338"/>
              <a:gd name="connsiteX1" fmla="*/ 7349041 w 21321712"/>
              <a:gd name="connsiteY1" fmla="*/ 3699669 h 21115338"/>
              <a:gd name="connsiteX2" fmla="*/ 21321712 w 21321712"/>
              <a:gd name="connsiteY2" fmla="*/ 0 h 21115338"/>
              <a:gd name="connsiteX3" fmla="*/ 0 w 21321712"/>
              <a:gd name="connsiteY3" fmla="*/ 21115338 h 21115338"/>
              <a:gd name="connsiteX4" fmla="*/ 152400 w 21321712"/>
              <a:gd name="connsiteY4" fmla="*/ 10896600 h 21115338"/>
              <a:gd name="connsiteX0" fmla="*/ 152400 w 21321712"/>
              <a:gd name="connsiteY0" fmla="*/ 11692731 h 21911469"/>
              <a:gd name="connsiteX1" fmla="*/ 11921041 w 21321712"/>
              <a:gd name="connsiteY1" fmla="*/ 0 h 21911469"/>
              <a:gd name="connsiteX2" fmla="*/ 21321712 w 21321712"/>
              <a:gd name="connsiteY2" fmla="*/ 796131 h 21911469"/>
              <a:gd name="connsiteX3" fmla="*/ 0 w 21321712"/>
              <a:gd name="connsiteY3" fmla="*/ 21911469 h 21911469"/>
              <a:gd name="connsiteX4" fmla="*/ 152400 w 21321712"/>
              <a:gd name="connsiteY4" fmla="*/ 11692731 h 2191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21712" h="21911469">
                <a:moveTo>
                  <a:pt x="152400" y="11692731"/>
                </a:moveTo>
                <a:lnTo>
                  <a:pt x="11921041" y="0"/>
                </a:lnTo>
                <a:lnTo>
                  <a:pt x="21321712" y="796131"/>
                </a:lnTo>
                <a:lnTo>
                  <a:pt x="0" y="21911469"/>
                </a:lnTo>
                <a:lnTo>
                  <a:pt x="152400" y="1169273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0" indent="0" algn="r">
              <a:buNone/>
              <a:defRPr sz="2800"/>
            </a:lvl1pPr>
          </a:lstStyle>
          <a:p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11260E-4A17-4F89-B695-2A34EE542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bg1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0D87D64-7413-71A6-C472-57282FAFC3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603" y="51130"/>
            <a:ext cx="2070181" cy="2309545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6042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88402655-7AAE-421B-A5E4-65934B29A1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2861" y="-3454"/>
            <a:ext cx="24424324" cy="13737093"/>
          </a:xfrm>
          <a:prstGeom prst="rect">
            <a:avLst/>
          </a:prstGeom>
        </p:spPr>
      </p:pic>
      <p:sp>
        <p:nvSpPr>
          <p:cNvPr id="23" name="Espaço Reservado para Imagem 22">
            <a:extLst>
              <a:ext uri="{FF2B5EF4-FFF2-40B4-BE49-F238E27FC236}">
                <a16:creationId xmlns:a16="http://schemas.microsoft.com/office/drawing/2014/main" id="{9CC42A6A-2533-4502-BA3F-41A1B3A06C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255143" y="-813031"/>
            <a:ext cx="10066338" cy="6646863"/>
          </a:xfrm>
          <a:custGeom>
            <a:avLst/>
            <a:gdLst>
              <a:gd name="connsiteX0" fmla="*/ 0 w 9723438"/>
              <a:gd name="connsiteY0" fmla="*/ 0 h 6684963"/>
              <a:gd name="connsiteX1" fmla="*/ 9723438 w 9723438"/>
              <a:gd name="connsiteY1" fmla="*/ 0 h 6684963"/>
              <a:gd name="connsiteX2" fmla="*/ 9723438 w 9723438"/>
              <a:gd name="connsiteY2" fmla="*/ 6684963 h 6684963"/>
              <a:gd name="connsiteX3" fmla="*/ 0 w 9723438"/>
              <a:gd name="connsiteY3" fmla="*/ 6684963 h 6684963"/>
              <a:gd name="connsiteX4" fmla="*/ 0 w 9723438"/>
              <a:gd name="connsiteY4" fmla="*/ 0 h 6684963"/>
              <a:gd name="connsiteX0" fmla="*/ 0 w 9723438"/>
              <a:gd name="connsiteY0" fmla="*/ 0 h 6684963"/>
              <a:gd name="connsiteX1" fmla="*/ 9723438 w 9723438"/>
              <a:gd name="connsiteY1" fmla="*/ 0 h 6684963"/>
              <a:gd name="connsiteX2" fmla="*/ 9723438 w 9723438"/>
              <a:gd name="connsiteY2" fmla="*/ 6684963 h 6684963"/>
              <a:gd name="connsiteX3" fmla="*/ 3352800 w 9723438"/>
              <a:gd name="connsiteY3" fmla="*/ 6608763 h 6684963"/>
              <a:gd name="connsiteX4" fmla="*/ 0 w 9723438"/>
              <a:gd name="connsiteY4" fmla="*/ 0 h 6684963"/>
              <a:gd name="connsiteX0" fmla="*/ 0 w 9723438"/>
              <a:gd name="connsiteY0" fmla="*/ 0 h 6608763"/>
              <a:gd name="connsiteX1" fmla="*/ 9723438 w 9723438"/>
              <a:gd name="connsiteY1" fmla="*/ 0 h 6608763"/>
              <a:gd name="connsiteX2" fmla="*/ 3352800 w 9723438"/>
              <a:gd name="connsiteY2" fmla="*/ 6608763 h 6608763"/>
              <a:gd name="connsiteX3" fmla="*/ 0 w 9723438"/>
              <a:gd name="connsiteY3" fmla="*/ 0 h 6608763"/>
              <a:gd name="connsiteX0" fmla="*/ 0 w 10066338"/>
              <a:gd name="connsiteY0" fmla="*/ 38100 h 6646863"/>
              <a:gd name="connsiteX1" fmla="*/ 10066338 w 10066338"/>
              <a:gd name="connsiteY1" fmla="*/ 0 h 6646863"/>
              <a:gd name="connsiteX2" fmla="*/ 3352800 w 10066338"/>
              <a:gd name="connsiteY2" fmla="*/ 6646863 h 6646863"/>
              <a:gd name="connsiteX3" fmla="*/ 0 w 10066338"/>
              <a:gd name="connsiteY3" fmla="*/ 38100 h 664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66338" h="6646863">
                <a:moveTo>
                  <a:pt x="0" y="38100"/>
                </a:moveTo>
                <a:lnTo>
                  <a:pt x="10066338" y="0"/>
                </a:lnTo>
                <a:lnTo>
                  <a:pt x="3352800" y="6646863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r">
              <a:defRPr sz="2800"/>
            </a:lvl1pPr>
          </a:lstStyle>
          <a:p>
            <a:endParaRPr lang="pt-BR"/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CDDE4D4-7F04-4689-BB49-30B8FC8D2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74970" y="-824093"/>
            <a:ext cx="7699375" cy="6657925"/>
          </a:xfrm>
          <a:custGeom>
            <a:avLst/>
            <a:gdLst>
              <a:gd name="connsiteX0" fmla="*/ 0 w 7699375"/>
              <a:gd name="connsiteY0" fmla="*/ 0 h 6646863"/>
              <a:gd name="connsiteX1" fmla="*/ 7699375 w 7699375"/>
              <a:gd name="connsiteY1" fmla="*/ 0 h 6646863"/>
              <a:gd name="connsiteX2" fmla="*/ 7699375 w 7699375"/>
              <a:gd name="connsiteY2" fmla="*/ 6646863 h 6646863"/>
              <a:gd name="connsiteX3" fmla="*/ 0 w 7699375"/>
              <a:gd name="connsiteY3" fmla="*/ 6646863 h 6646863"/>
              <a:gd name="connsiteX4" fmla="*/ 0 w 7699375"/>
              <a:gd name="connsiteY4" fmla="*/ 0 h 6646863"/>
              <a:gd name="connsiteX0" fmla="*/ 6629400 w 7699375"/>
              <a:gd name="connsiteY0" fmla="*/ 342900 h 6646863"/>
              <a:gd name="connsiteX1" fmla="*/ 7699375 w 7699375"/>
              <a:gd name="connsiteY1" fmla="*/ 0 h 6646863"/>
              <a:gd name="connsiteX2" fmla="*/ 7699375 w 7699375"/>
              <a:gd name="connsiteY2" fmla="*/ 6646863 h 6646863"/>
              <a:gd name="connsiteX3" fmla="*/ 0 w 7699375"/>
              <a:gd name="connsiteY3" fmla="*/ 6646863 h 6646863"/>
              <a:gd name="connsiteX4" fmla="*/ 6629400 w 7699375"/>
              <a:gd name="connsiteY4" fmla="*/ 342900 h 6646863"/>
              <a:gd name="connsiteX0" fmla="*/ 6835877 w 7699375"/>
              <a:gd name="connsiteY0" fmla="*/ 0 h 6657925"/>
              <a:gd name="connsiteX1" fmla="*/ 7699375 w 7699375"/>
              <a:gd name="connsiteY1" fmla="*/ 11062 h 6657925"/>
              <a:gd name="connsiteX2" fmla="*/ 7699375 w 7699375"/>
              <a:gd name="connsiteY2" fmla="*/ 6657925 h 6657925"/>
              <a:gd name="connsiteX3" fmla="*/ 0 w 7699375"/>
              <a:gd name="connsiteY3" fmla="*/ 6657925 h 6657925"/>
              <a:gd name="connsiteX4" fmla="*/ 6835877 w 7699375"/>
              <a:gd name="connsiteY4" fmla="*/ 0 h 6657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9375" h="6657925">
                <a:moveTo>
                  <a:pt x="6835877" y="0"/>
                </a:moveTo>
                <a:lnTo>
                  <a:pt x="7699375" y="11062"/>
                </a:lnTo>
                <a:lnTo>
                  <a:pt x="7699375" y="6657925"/>
                </a:lnTo>
                <a:lnTo>
                  <a:pt x="0" y="6657925"/>
                </a:lnTo>
                <a:lnTo>
                  <a:pt x="6835877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algn="r">
              <a:defRPr sz="2800"/>
            </a:lvl1pPr>
          </a:lstStyle>
          <a:p>
            <a:endParaRPr lang="pt-BR"/>
          </a:p>
        </p:txBody>
      </p:sp>
      <p:sp>
        <p:nvSpPr>
          <p:cNvPr id="27" name="Espaço Reservado para Imagem 26">
            <a:extLst>
              <a:ext uri="{FF2B5EF4-FFF2-40B4-BE49-F238E27FC236}">
                <a16:creationId xmlns:a16="http://schemas.microsoft.com/office/drawing/2014/main" id="{6C48D7CB-1A03-4AC3-AB0A-746926E96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58178" y="5844894"/>
            <a:ext cx="16477431" cy="8951912"/>
          </a:xfrm>
          <a:custGeom>
            <a:avLst/>
            <a:gdLst>
              <a:gd name="connsiteX0" fmla="*/ 0 w 16300450"/>
              <a:gd name="connsiteY0" fmla="*/ 0 h 8951912"/>
              <a:gd name="connsiteX1" fmla="*/ 16300450 w 16300450"/>
              <a:gd name="connsiteY1" fmla="*/ 0 h 8951912"/>
              <a:gd name="connsiteX2" fmla="*/ 16300450 w 16300450"/>
              <a:gd name="connsiteY2" fmla="*/ 8951912 h 8951912"/>
              <a:gd name="connsiteX3" fmla="*/ 0 w 16300450"/>
              <a:gd name="connsiteY3" fmla="*/ 8951912 h 8951912"/>
              <a:gd name="connsiteX4" fmla="*/ 0 w 16300450"/>
              <a:gd name="connsiteY4" fmla="*/ 0 h 8951912"/>
              <a:gd name="connsiteX0" fmla="*/ 8790038 w 16300450"/>
              <a:gd name="connsiteY0" fmla="*/ 29496 h 8951912"/>
              <a:gd name="connsiteX1" fmla="*/ 16300450 w 16300450"/>
              <a:gd name="connsiteY1" fmla="*/ 0 h 8951912"/>
              <a:gd name="connsiteX2" fmla="*/ 16300450 w 16300450"/>
              <a:gd name="connsiteY2" fmla="*/ 8951912 h 8951912"/>
              <a:gd name="connsiteX3" fmla="*/ 0 w 16300450"/>
              <a:gd name="connsiteY3" fmla="*/ 8951912 h 8951912"/>
              <a:gd name="connsiteX4" fmla="*/ 8790038 w 16300450"/>
              <a:gd name="connsiteY4" fmla="*/ 29496 h 8951912"/>
              <a:gd name="connsiteX0" fmla="*/ 8967019 w 16477431"/>
              <a:gd name="connsiteY0" fmla="*/ 29496 h 8951912"/>
              <a:gd name="connsiteX1" fmla="*/ 16477431 w 16477431"/>
              <a:gd name="connsiteY1" fmla="*/ 0 h 8951912"/>
              <a:gd name="connsiteX2" fmla="*/ 16477431 w 16477431"/>
              <a:gd name="connsiteY2" fmla="*/ 8951912 h 8951912"/>
              <a:gd name="connsiteX3" fmla="*/ 0 w 16477431"/>
              <a:gd name="connsiteY3" fmla="*/ 8951912 h 8951912"/>
              <a:gd name="connsiteX4" fmla="*/ 8967019 w 16477431"/>
              <a:gd name="connsiteY4" fmla="*/ 29496 h 8951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77431" h="8951912">
                <a:moveTo>
                  <a:pt x="8967019" y="29496"/>
                </a:moveTo>
                <a:lnTo>
                  <a:pt x="16477431" y="0"/>
                </a:lnTo>
                <a:lnTo>
                  <a:pt x="16477431" y="8951912"/>
                </a:lnTo>
                <a:lnTo>
                  <a:pt x="0" y="8951912"/>
                </a:lnTo>
                <a:lnTo>
                  <a:pt x="8967019" y="294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 algn="r">
              <a:defRPr sz="2800"/>
            </a:lvl1pPr>
          </a:lstStyle>
          <a:p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C65151-9208-4251-BEBD-CC1609B35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CA9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A907EC3-44C3-0CDC-D883-A36693ACDF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603" y="51130"/>
            <a:ext cx="2070181" cy="2309545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5805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0A07EDB-F017-4DCD-B587-5728ABAD65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BCC3A81-745E-471B-8DD1-75F922706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41541" y="2364106"/>
            <a:ext cx="10279062" cy="8939212"/>
          </a:xfrm>
          <a:custGeom>
            <a:avLst/>
            <a:gdLst>
              <a:gd name="connsiteX0" fmla="*/ 0 w 10279062"/>
              <a:gd name="connsiteY0" fmla="*/ 0 h 8939212"/>
              <a:gd name="connsiteX1" fmla="*/ 10279062 w 10279062"/>
              <a:gd name="connsiteY1" fmla="*/ 0 h 8939212"/>
              <a:gd name="connsiteX2" fmla="*/ 10279062 w 10279062"/>
              <a:gd name="connsiteY2" fmla="*/ 8939212 h 8939212"/>
              <a:gd name="connsiteX3" fmla="*/ 0 w 10279062"/>
              <a:gd name="connsiteY3" fmla="*/ 8939212 h 8939212"/>
              <a:gd name="connsiteX4" fmla="*/ 0 w 10279062"/>
              <a:gd name="connsiteY4" fmla="*/ 0 h 8939212"/>
              <a:gd name="connsiteX0" fmla="*/ 0 w 10279062"/>
              <a:gd name="connsiteY0" fmla="*/ 0 h 8939212"/>
              <a:gd name="connsiteX1" fmla="*/ 10279062 w 10279062"/>
              <a:gd name="connsiteY1" fmla="*/ 0 h 8939212"/>
              <a:gd name="connsiteX2" fmla="*/ 1312043 w 10279062"/>
              <a:gd name="connsiteY2" fmla="*/ 8939212 h 8939212"/>
              <a:gd name="connsiteX3" fmla="*/ 0 w 10279062"/>
              <a:gd name="connsiteY3" fmla="*/ 8939212 h 8939212"/>
              <a:gd name="connsiteX4" fmla="*/ 0 w 10279062"/>
              <a:gd name="connsiteY4" fmla="*/ 0 h 89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79062" h="8939212">
                <a:moveTo>
                  <a:pt x="0" y="0"/>
                </a:moveTo>
                <a:lnTo>
                  <a:pt x="10279062" y="0"/>
                </a:lnTo>
                <a:lnTo>
                  <a:pt x="1312043" y="8939212"/>
                </a:lnTo>
                <a:lnTo>
                  <a:pt x="0" y="89392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r">
              <a:defRPr sz="2400"/>
            </a:lvl1pPr>
          </a:lstStyle>
          <a:p>
            <a:endParaRPr lang="pt-BR"/>
          </a:p>
        </p:txBody>
      </p:sp>
      <p:sp>
        <p:nvSpPr>
          <p:cNvPr id="27" name="Espaço Reservado para Imagem 26">
            <a:extLst>
              <a:ext uri="{FF2B5EF4-FFF2-40B4-BE49-F238E27FC236}">
                <a16:creationId xmlns:a16="http://schemas.microsoft.com/office/drawing/2014/main" id="{4CC6587F-9BE7-4671-AAC5-042F44A741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93957" y="2202717"/>
            <a:ext cx="15505112" cy="9051925"/>
          </a:xfrm>
          <a:custGeom>
            <a:avLst/>
            <a:gdLst>
              <a:gd name="connsiteX0" fmla="*/ 0 w 15505112"/>
              <a:gd name="connsiteY0" fmla="*/ 0 h 9051925"/>
              <a:gd name="connsiteX1" fmla="*/ 15505112 w 15505112"/>
              <a:gd name="connsiteY1" fmla="*/ 0 h 9051925"/>
              <a:gd name="connsiteX2" fmla="*/ 15505112 w 15505112"/>
              <a:gd name="connsiteY2" fmla="*/ 9051925 h 9051925"/>
              <a:gd name="connsiteX3" fmla="*/ 0 w 15505112"/>
              <a:gd name="connsiteY3" fmla="*/ 9051925 h 9051925"/>
              <a:gd name="connsiteX4" fmla="*/ 0 w 15505112"/>
              <a:gd name="connsiteY4" fmla="*/ 0 h 9051925"/>
              <a:gd name="connsiteX0" fmla="*/ 8967019 w 15505112"/>
              <a:gd name="connsiteY0" fmla="*/ 58993 h 9051925"/>
              <a:gd name="connsiteX1" fmla="*/ 15505112 w 15505112"/>
              <a:gd name="connsiteY1" fmla="*/ 0 h 9051925"/>
              <a:gd name="connsiteX2" fmla="*/ 15505112 w 15505112"/>
              <a:gd name="connsiteY2" fmla="*/ 9051925 h 9051925"/>
              <a:gd name="connsiteX3" fmla="*/ 0 w 15505112"/>
              <a:gd name="connsiteY3" fmla="*/ 9051925 h 9051925"/>
              <a:gd name="connsiteX4" fmla="*/ 8967019 w 15505112"/>
              <a:gd name="connsiteY4" fmla="*/ 58993 h 9051925"/>
              <a:gd name="connsiteX0" fmla="*/ 8967019 w 15505112"/>
              <a:gd name="connsiteY0" fmla="*/ 58993 h 9051925"/>
              <a:gd name="connsiteX1" fmla="*/ 15505112 w 15505112"/>
              <a:gd name="connsiteY1" fmla="*/ 0 h 9051925"/>
              <a:gd name="connsiteX2" fmla="*/ 6626583 w 15505112"/>
              <a:gd name="connsiteY2" fmla="*/ 9022428 h 9051925"/>
              <a:gd name="connsiteX3" fmla="*/ 0 w 15505112"/>
              <a:gd name="connsiteY3" fmla="*/ 9051925 h 9051925"/>
              <a:gd name="connsiteX4" fmla="*/ 8967019 w 15505112"/>
              <a:gd name="connsiteY4" fmla="*/ 58993 h 905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5112" h="9051925">
                <a:moveTo>
                  <a:pt x="8967019" y="58993"/>
                </a:moveTo>
                <a:lnTo>
                  <a:pt x="15505112" y="0"/>
                </a:lnTo>
                <a:lnTo>
                  <a:pt x="6626583" y="9022428"/>
                </a:lnTo>
                <a:lnTo>
                  <a:pt x="0" y="9051925"/>
                </a:lnTo>
                <a:lnTo>
                  <a:pt x="8967019" y="589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algn="r">
              <a:defRPr sz="2400"/>
            </a:lvl1pPr>
          </a:lstStyle>
          <a:p>
            <a:endParaRPr lang="pt-BR"/>
          </a:p>
        </p:txBody>
      </p:sp>
      <p:sp>
        <p:nvSpPr>
          <p:cNvPr id="29" name="Espaço Reservado para Imagem 28">
            <a:extLst>
              <a:ext uri="{FF2B5EF4-FFF2-40B4-BE49-F238E27FC236}">
                <a16:creationId xmlns:a16="http://schemas.microsoft.com/office/drawing/2014/main" id="{90D4B84B-38BA-411C-8DC5-70C47CE762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303776" y="2202717"/>
            <a:ext cx="11415200" cy="8939212"/>
          </a:xfrm>
          <a:custGeom>
            <a:avLst/>
            <a:gdLst>
              <a:gd name="connsiteX0" fmla="*/ 0 w 11533187"/>
              <a:gd name="connsiteY0" fmla="*/ 0 h 8939212"/>
              <a:gd name="connsiteX1" fmla="*/ 11533187 w 11533187"/>
              <a:gd name="connsiteY1" fmla="*/ 0 h 8939212"/>
              <a:gd name="connsiteX2" fmla="*/ 11533187 w 11533187"/>
              <a:gd name="connsiteY2" fmla="*/ 8939212 h 8939212"/>
              <a:gd name="connsiteX3" fmla="*/ 0 w 11533187"/>
              <a:gd name="connsiteY3" fmla="*/ 8939212 h 8939212"/>
              <a:gd name="connsiteX4" fmla="*/ 0 w 11533187"/>
              <a:gd name="connsiteY4" fmla="*/ 0 h 8939212"/>
              <a:gd name="connsiteX0" fmla="*/ 8908026 w 11533187"/>
              <a:gd name="connsiteY0" fmla="*/ 0 h 8939212"/>
              <a:gd name="connsiteX1" fmla="*/ 11533187 w 11533187"/>
              <a:gd name="connsiteY1" fmla="*/ 0 h 8939212"/>
              <a:gd name="connsiteX2" fmla="*/ 11533187 w 11533187"/>
              <a:gd name="connsiteY2" fmla="*/ 8939212 h 8939212"/>
              <a:gd name="connsiteX3" fmla="*/ 0 w 11533187"/>
              <a:gd name="connsiteY3" fmla="*/ 8939212 h 8939212"/>
              <a:gd name="connsiteX4" fmla="*/ 8908026 w 11533187"/>
              <a:gd name="connsiteY4" fmla="*/ 0 h 8939212"/>
              <a:gd name="connsiteX0" fmla="*/ 8790039 w 11415200"/>
              <a:gd name="connsiteY0" fmla="*/ 0 h 8939212"/>
              <a:gd name="connsiteX1" fmla="*/ 11415200 w 11415200"/>
              <a:gd name="connsiteY1" fmla="*/ 0 h 8939212"/>
              <a:gd name="connsiteX2" fmla="*/ 11415200 w 11415200"/>
              <a:gd name="connsiteY2" fmla="*/ 8939212 h 8939212"/>
              <a:gd name="connsiteX3" fmla="*/ 0 w 11415200"/>
              <a:gd name="connsiteY3" fmla="*/ 8939212 h 8939212"/>
              <a:gd name="connsiteX4" fmla="*/ 8790039 w 11415200"/>
              <a:gd name="connsiteY4" fmla="*/ 0 h 89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5200" h="8939212">
                <a:moveTo>
                  <a:pt x="8790039" y="0"/>
                </a:moveTo>
                <a:lnTo>
                  <a:pt x="11415200" y="0"/>
                </a:lnTo>
                <a:lnTo>
                  <a:pt x="11415200" y="8939212"/>
                </a:lnTo>
                <a:lnTo>
                  <a:pt x="0" y="8939212"/>
                </a:lnTo>
                <a:lnTo>
                  <a:pt x="8790039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 algn="r">
              <a:defRPr sz="2400"/>
            </a:lvl1pPr>
          </a:lstStyle>
          <a:p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5F3F9DA-C51C-4D45-918D-75F70620D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493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5933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4AE08237-4455-4B1A-BDDA-42E49AF70F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315382"/>
            <a:ext cx="24384000" cy="6400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F7E7A7A-9F50-494B-89D5-CAC3B4092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" y="0"/>
            <a:ext cx="24407446" cy="13716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70D37B-CB32-47D3-BA5B-2FBED5C1E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493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0002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EA5A1DA-88CF-438E-88BF-C2D25B53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8877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F840DF8-A0C5-4A50-9CA9-23AA148E47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29" y="50003"/>
            <a:ext cx="24221604" cy="136159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F3062-0D2E-4FCE-8D7C-0B7AEB08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2869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F840DF8-A0C5-4A50-9CA9-23AA148E47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9" y="15633"/>
            <a:ext cx="24401462" cy="137170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F3062-0D2E-4FCE-8D7C-0B7AEB08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86543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A3B3A76-A1F1-44BB-BD89-39C6137184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657748" cy="13868380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B72196D-E5E3-4275-8654-223E3BEA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94833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87F1043-EC6C-462C-A431-5B8687DD7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2860" y="3346"/>
            <a:ext cx="24443997" cy="1374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6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7601" y="730251"/>
            <a:ext cx="21046262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7601" y="3651250"/>
            <a:ext cx="21046262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7601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36A4A-E915-4482-B4FA-E9274F68326C}" type="datetimeFigureOut">
              <a:rPr lang="pt-BR" smtClean="0"/>
              <a:t>29/07/2024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82985" y="12712701"/>
            <a:ext cx="82354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3533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EBB8B-65A8-4222-99B6-9433735EFA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60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5" r:id="rId2"/>
    <p:sldLayoutId id="2147483708" r:id="rId3"/>
    <p:sldLayoutId id="2147483709" r:id="rId4"/>
    <p:sldLayoutId id="2147483674" r:id="rId5"/>
    <p:sldLayoutId id="2147483710" r:id="rId6"/>
    <p:sldLayoutId id="2147483711" r:id="rId7"/>
    <p:sldLayoutId id="2147483704" r:id="rId8"/>
    <p:sldLayoutId id="2147483705" r:id="rId9"/>
    <p:sldLayoutId id="2147483681" r:id="rId10"/>
    <p:sldLayoutId id="2147483682" r:id="rId11"/>
    <p:sldLayoutId id="2147483686" r:id="rId12"/>
    <p:sldLayoutId id="2147483687" r:id="rId13"/>
    <p:sldLayoutId id="2147483712" r:id="rId14"/>
    <p:sldLayoutId id="2147483671" r:id="rId15"/>
    <p:sldLayoutId id="2147483672" r:id="rId16"/>
    <p:sldLayoutId id="2147483713" r:id="rId17"/>
    <p:sldLayoutId id="2147483702" r:id="rId18"/>
    <p:sldLayoutId id="2147483696" r:id="rId19"/>
    <p:sldLayoutId id="2147483697" r:id="rId20"/>
    <p:sldLayoutId id="2147483698" r:id="rId21"/>
    <p:sldLayoutId id="2147483694" r:id="rId22"/>
    <p:sldLayoutId id="2147483699" r:id="rId23"/>
    <p:sldLayoutId id="2147483700" r:id="rId24"/>
    <p:sldLayoutId id="2147483701" r:id="rId25"/>
    <p:sldLayoutId id="2147483673" r:id="rId26"/>
    <p:sldLayoutId id="2147483692" r:id="rId27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ppds.caixa/?page_id=8262" TargetMode="External"/><Relationship Id="rId13" Type="http://schemas.openxmlformats.org/officeDocument/2006/relationships/hyperlink" Target="http://gestaodedados.coresp.caixa/" TargetMode="External"/><Relationship Id="rId3" Type="http://schemas.openxmlformats.org/officeDocument/2006/relationships/hyperlink" Target="https://normas.caixa/normativo/TE073018" TargetMode="External"/><Relationship Id="rId7" Type="http://schemas.openxmlformats.org/officeDocument/2006/relationships/hyperlink" Target="https://caixa.sharepoint.com/sites/5141/SitePages/Guia-para-Modelagem-e-Valida%C3%A7%C3%A3o-de-Modelos-de-Dados.aspx" TargetMode="External"/><Relationship Id="rId12" Type="http://schemas.openxmlformats.org/officeDocument/2006/relationships/hyperlink" Target="http://ppds.caixa/?page_id=8353" TargetMode="External"/><Relationship Id="rId2" Type="http://schemas.openxmlformats.org/officeDocument/2006/relationships/hyperlink" Target="http://arquiteturati.caixa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normas.caixa/normativo/TE111034" TargetMode="External"/><Relationship Id="rId11" Type="http://schemas.openxmlformats.org/officeDocument/2006/relationships/hyperlink" Target="http://ppds.caixa/?page_id=8265" TargetMode="External"/><Relationship Id="rId5" Type="http://schemas.openxmlformats.org/officeDocument/2006/relationships/hyperlink" Target="https://normas.caixa/normativo/TE109022" TargetMode="External"/><Relationship Id="rId10" Type="http://schemas.openxmlformats.org/officeDocument/2006/relationships/hyperlink" Target="https://caixa.sharepoint.com/sites/5141/SitePages/Guia_Qualificacao_Grafica.aspx" TargetMode="External"/><Relationship Id="rId4" Type="http://schemas.openxmlformats.org/officeDocument/2006/relationships/hyperlink" Target="http://sismn.caixa/sistema/asp/ConsultaPesquisa/pdf_comum.asp?id=NTE074" TargetMode="External"/><Relationship Id="rId9" Type="http://schemas.openxmlformats.org/officeDocument/2006/relationships/hyperlink" Target="http://ppds.caixa/?page_id=8264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ismn.caixa/sistema/asp/ConsultaPesquisa/pdf_comum.asp?id=NTE074" TargetMode="External"/><Relationship Id="rId7" Type="http://schemas.openxmlformats.org/officeDocument/2006/relationships/hyperlink" Target="http://sismn.caixa/sistema/asp/ConsultaPesquisa/pdf_comum.asp?id=NTE109" TargetMode="External"/><Relationship Id="rId2" Type="http://schemas.openxmlformats.org/officeDocument/2006/relationships/hyperlink" Target="https://caixa.sharepoint.com/sites/5141/SitePages/Guia-para-Modelagem-e-Valida%C3%A7%C3%A3o-de-Modelos-de-Dados.aspx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ppds.caixa/?page_id=8264" TargetMode="External"/><Relationship Id="rId5" Type="http://schemas.openxmlformats.org/officeDocument/2006/relationships/hyperlink" Target="https://normas.caixa/normativo/CR439004" TargetMode="External"/><Relationship Id="rId4" Type="http://schemas.openxmlformats.org/officeDocument/2006/relationships/hyperlink" Target="http://ppds.caixa/?page_id=8262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ppds.caixa/?page_id=8353" TargetMode="External"/><Relationship Id="rId3" Type="http://schemas.openxmlformats.org/officeDocument/2006/relationships/hyperlink" Target="https://caixa.sharepoint.com/sites/5141/SitePages/Guia_Qualificacao_Grafica.aspx" TargetMode="External"/><Relationship Id="rId7" Type="http://schemas.openxmlformats.org/officeDocument/2006/relationships/hyperlink" Target="http://gestaodedados.coresp.caixa/" TargetMode="External"/><Relationship Id="rId2" Type="http://schemas.openxmlformats.org/officeDocument/2006/relationships/hyperlink" Target="http://sismn.caixa/normativo.asp?normativo=OR016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ppds.caixa/?page_id=8265" TargetMode="External"/><Relationship Id="rId5" Type="http://schemas.openxmlformats.org/officeDocument/2006/relationships/hyperlink" Target="https://normas.caixa/normativo/TE111034" TargetMode="External"/><Relationship Id="rId4" Type="http://schemas.openxmlformats.org/officeDocument/2006/relationships/hyperlink" Target="https://normas.caixa/normativo/TE073018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hyperlink" Target="http://ppds.caixa/?page_id=8262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://sismn.caixa/normativo.asp?normativo=OR016" TargetMode="Externa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://gestaodedados.coresp.caixa/" TargetMode="Externa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http://gestaodedados.coresp.caixa/" TargetMode="Externa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hyperlink" Target="http://ppds.caixa/?page_id=8262" TargetMode="External"/><Relationship Id="rId3" Type="http://schemas.openxmlformats.org/officeDocument/2006/relationships/hyperlink" Target="https://normas.caixa/normativo/TE073018" TargetMode="External"/><Relationship Id="rId7" Type="http://schemas.openxmlformats.org/officeDocument/2006/relationships/hyperlink" Target="https://caixa.sharepoint.com/sites/5141/SitePages/Guia-para-Modelagem-e-Valida%C3%A7%C3%A3o-de-Modelos-de-Dados.aspx" TargetMode="External"/><Relationship Id="rId2" Type="http://schemas.openxmlformats.org/officeDocument/2006/relationships/hyperlink" Target="http://arquiteturati.caixa/" TargetMode="Externa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normas.caixa/normativo/TE111034" TargetMode="External"/><Relationship Id="rId5" Type="http://schemas.openxmlformats.org/officeDocument/2006/relationships/hyperlink" Target="https://normas.caixa/normativo/TE109022" TargetMode="External"/><Relationship Id="rId10" Type="http://schemas.openxmlformats.org/officeDocument/2006/relationships/hyperlink" Target="https://caixa.sharepoint.com/sites/5141/SitePages/Guia_Qualificacao_Grafica.aspx" TargetMode="External"/><Relationship Id="rId4" Type="http://schemas.openxmlformats.org/officeDocument/2006/relationships/hyperlink" Target="http://sismn.caixa/sistema/asp/ConsultaPesquisa/pdf_comum.asp?id=NTE074" TargetMode="External"/><Relationship Id="rId9" Type="http://schemas.openxmlformats.org/officeDocument/2006/relationships/hyperlink" Target="http://ppds.caixa/?page_id=8264" TargetMode="Externa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0DA6268-CB8B-424D-A6A0-F6E1D6E8F520}"/>
              </a:ext>
            </a:extLst>
          </p:cNvPr>
          <p:cNvSpPr txBox="1"/>
          <p:nvPr/>
        </p:nvSpPr>
        <p:spPr>
          <a:xfrm>
            <a:off x="1587385" y="12218920"/>
            <a:ext cx="9073281" cy="113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MAIO 2023 | SUART13</a:t>
            </a:r>
            <a:endParaRPr lang="en-US" sz="5400" baseline="30000" dirty="0">
              <a:solidFill>
                <a:schemeClr val="bg1"/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  <a:p>
            <a:endParaRPr lang="en-US" sz="4800" b="1" baseline="30000" dirty="0">
              <a:solidFill>
                <a:schemeClr val="bg1"/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DD4091E-869B-4BDF-83FD-C476564869DE}"/>
              </a:ext>
            </a:extLst>
          </p:cNvPr>
          <p:cNvSpPr txBox="1"/>
          <p:nvPr/>
        </p:nvSpPr>
        <p:spPr>
          <a:xfrm>
            <a:off x="1521345" y="5780782"/>
            <a:ext cx="228801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kern="0" dirty="0">
                <a:solidFill>
                  <a:schemeClr val="bg1"/>
                </a:solidFill>
                <a:latin typeface="Tw Cen MT" panose="020B0602020104020603" pitchFamily="34" charset="77"/>
              </a:rPr>
              <a:t>ALINHAMENTO DE CONHECIMENTO EM MODELAGEM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1DEC397-2FE0-4543-92A3-33C0364FF74F}"/>
              </a:ext>
            </a:extLst>
          </p:cNvPr>
          <p:cNvSpPr txBox="1"/>
          <p:nvPr/>
        </p:nvSpPr>
        <p:spPr>
          <a:xfrm>
            <a:off x="1026802" y="9237077"/>
            <a:ext cx="13071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MÓDULO 3 – MODELAGEM DE DADOS NO AMBIENTE CAIXA</a:t>
            </a:r>
            <a:endParaRPr lang="en-US" sz="4800" b="1" baseline="30000" dirty="0">
              <a:solidFill>
                <a:schemeClr val="bg1"/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92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Número de Slide 1">
            <a:extLst>
              <a:ext uri="{FF2B5EF4-FFF2-40B4-BE49-F238E27FC236}">
                <a16:creationId xmlns:a16="http://schemas.microsoft.com/office/drawing/2014/main" id="{9BEB787E-1C02-41E8-B15A-65230ECC706A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1B0FD-F87F-6919-B315-63EC9150584B}"/>
              </a:ext>
            </a:extLst>
          </p:cNvPr>
          <p:cNvSpPr txBox="1">
            <a:spLocks/>
          </p:cNvSpPr>
          <p:nvPr/>
        </p:nvSpPr>
        <p:spPr>
          <a:xfrm>
            <a:off x="349544" y="8504855"/>
            <a:ext cx="7136781" cy="1165003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7200" dirty="0" err="1">
                <a:latin typeface="Tw Cen MT" panose="020B0602020104020603" pitchFamily="34" charset="77"/>
              </a:rPr>
              <a:t>Modelagem</a:t>
            </a:r>
            <a:r>
              <a:rPr lang="en-US" sz="7200" dirty="0">
                <a:latin typeface="Tw Cen MT" panose="020B0602020104020603" pitchFamily="34" charset="77"/>
              </a:rPr>
              <a:t> de Dados </a:t>
            </a:r>
            <a:r>
              <a:rPr lang="en-US" sz="7200" dirty="0" err="1">
                <a:latin typeface="Tw Cen MT" panose="020B0602020104020603" pitchFamily="34" charset="77"/>
              </a:rPr>
              <a:t>Lógica</a:t>
            </a:r>
            <a:r>
              <a:rPr lang="en-US" sz="7200" dirty="0">
                <a:latin typeface="Tw Cen MT" panose="020B0602020104020603" pitchFamily="34" charset="77"/>
              </a:rPr>
              <a:t> e </a:t>
            </a:r>
            <a:r>
              <a:rPr lang="en-US" sz="7200" dirty="0" err="1">
                <a:latin typeface="Tw Cen MT" panose="020B0602020104020603" pitchFamily="34" charset="77"/>
              </a:rPr>
              <a:t>Física</a:t>
            </a:r>
            <a:endParaRPr lang="en-US" sz="7200" dirty="0">
              <a:latin typeface="Tw Cen MT" panose="020B0602020104020603" pitchFamily="34" charset="77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C38E09B-A1F3-4997-BEA8-C0361509B936}"/>
              </a:ext>
            </a:extLst>
          </p:cNvPr>
          <p:cNvSpPr/>
          <p:nvPr/>
        </p:nvSpPr>
        <p:spPr>
          <a:xfrm>
            <a:off x="8341113" y="2936253"/>
            <a:ext cx="15710806" cy="856817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0B7F3F4-DB82-42CF-8409-0B6AA37FB524}"/>
              </a:ext>
            </a:extLst>
          </p:cNvPr>
          <p:cNvSpPr txBox="1"/>
          <p:nvPr/>
        </p:nvSpPr>
        <p:spPr>
          <a:xfrm>
            <a:off x="9011051" y="4343113"/>
            <a:ext cx="18670771" cy="6436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1.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Introdução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2. Processo de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Validação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do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Modelo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de Dados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3.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Atualizando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um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Modelo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de Dados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Existente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: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Atividade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58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80485" y="3125972"/>
            <a:ext cx="22711144" cy="9973339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009834" y="3271569"/>
            <a:ext cx="21766192" cy="10043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 algn="just">
              <a:buNone/>
            </a:pPr>
            <a:endParaRPr lang="pt-BR" dirty="0"/>
          </a:p>
          <a:p>
            <a:pPr eaLnBrk="1" hangingPunct="1"/>
            <a:r>
              <a:rPr lang="pt-BR" altLang="pt-BR" dirty="0"/>
              <a:t>As informações sobre os negócios de cada empresa constituem um bem patrimonial muito importante, assim como recursos humanos, financeiros e outros;</a:t>
            </a:r>
          </a:p>
          <a:p>
            <a:pPr eaLnBrk="1" hangingPunct="1"/>
            <a:r>
              <a:rPr lang="pt-BR" altLang="pt-BR" dirty="0"/>
              <a:t>Atualmente o mercado é altamente competitivo, o que requer um domínio no conhecimento de seus negócios de forma que as informações possam ser obtidas e manipuladas rapidamente;</a:t>
            </a:r>
          </a:p>
          <a:p>
            <a:pPr eaLnBrk="1" hangingPunct="1"/>
            <a:r>
              <a:rPr lang="pt-BR" altLang="pt-BR" dirty="0"/>
              <a:t>A Administração de Dados vem ao encontro dessas premissas, utilizando-se de estratégias, padrões, políticas, normas e modelos de dados que visam reconhecer os dados como um bem valioso da empresa. </a:t>
            </a:r>
          </a:p>
          <a:p>
            <a:pPr algn="just"/>
            <a:endParaRPr lang="pt-B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F3CA92-9910-4070-8BAB-A4F6B6225CD7}"/>
              </a:ext>
            </a:extLst>
          </p:cNvPr>
          <p:cNvSpPr txBox="1">
            <a:spLocks/>
          </p:cNvSpPr>
          <p:nvPr/>
        </p:nvSpPr>
        <p:spPr>
          <a:xfrm>
            <a:off x="337109" y="2075752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1. </a:t>
            </a:r>
            <a:r>
              <a:rPr lang="en-US" sz="6600" dirty="0" err="1">
                <a:latin typeface="Tw Cen MT" panose="020B0602020104020603" pitchFamily="34" charset="77"/>
              </a:rPr>
              <a:t>Introdução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Por que </a:t>
            </a:r>
            <a:r>
              <a:rPr lang="en-US" sz="6000" dirty="0" err="1">
                <a:latin typeface="Tw Cen MT" panose="020B0602020104020603" pitchFamily="34" charset="77"/>
              </a:rPr>
              <a:t>Administrar</a:t>
            </a:r>
            <a:r>
              <a:rPr lang="en-US" sz="6000" dirty="0">
                <a:latin typeface="Tw Cen MT" panose="020B0602020104020603" pitchFamily="34" charset="77"/>
              </a:rPr>
              <a:t> Dados?</a:t>
            </a: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8934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80485" y="3125972"/>
            <a:ext cx="22711144" cy="9973339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52961" y="3920755"/>
            <a:ext cx="21834630" cy="8946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/>
            <a:r>
              <a:rPr lang="pt-BR" altLang="pt-BR" sz="7200" dirty="0"/>
              <a:t>Apoiar os processos de negócio em parceria com as outras equipes</a:t>
            </a:r>
          </a:p>
          <a:p>
            <a:pPr marL="0" indent="0" algn="just">
              <a:buNone/>
            </a:pPr>
            <a:r>
              <a:rPr lang="pt-BR" altLang="pt-BR" sz="7200" dirty="0"/>
              <a:t> de TI, garantindo a qualidade dos modelos de dados, através do uso de normas, técnicas e padrões da CAIXA;</a:t>
            </a:r>
          </a:p>
          <a:p>
            <a:pPr marL="0" indent="0" algn="just">
              <a:buNone/>
            </a:pPr>
            <a:endParaRPr lang="pt-BR" altLang="pt-BR" sz="7200" dirty="0"/>
          </a:p>
          <a:p>
            <a:pPr algn="just"/>
            <a:r>
              <a:rPr lang="pt-BR" altLang="pt-BR" sz="7200" dirty="0"/>
              <a:t>Garantir a reutilização de objetos de dados já existentes, de forma a evitar ou manter sob controle as redundâncias de dados na CAIXA;</a:t>
            </a:r>
          </a:p>
          <a:p>
            <a:pPr algn="just"/>
            <a:endParaRPr lang="pt-BR" altLang="pt-BR" sz="7200" dirty="0"/>
          </a:p>
          <a:p>
            <a:pPr algn="just"/>
            <a:r>
              <a:rPr lang="pt-BR" altLang="pt-BR" sz="7200" dirty="0"/>
              <a:t>Subsidiar a Administração de Banco de Dados com insumos necessários à elaboração do projeto de banco de dados.</a:t>
            </a:r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C63F83-1435-46A5-97C9-4778FD7895A8}"/>
              </a:ext>
            </a:extLst>
          </p:cNvPr>
          <p:cNvSpPr txBox="1">
            <a:spLocks/>
          </p:cNvSpPr>
          <p:nvPr/>
        </p:nvSpPr>
        <p:spPr>
          <a:xfrm>
            <a:off x="337109" y="2075752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1. </a:t>
            </a:r>
            <a:r>
              <a:rPr lang="en-US" sz="6600" dirty="0" err="1">
                <a:latin typeface="Tw Cen MT" panose="020B0602020104020603" pitchFamily="34" charset="77"/>
              </a:rPr>
              <a:t>Introdução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Atuação</a:t>
            </a:r>
            <a:r>
              <a:rPr lang="en-US" sz="6000" dirty="0">
                <a:latin typeface="Tw Cen MT" panose="020B0602020104020603" pitchFamily="34" charset="77"/>
              </a:rPr>
              <a:t> do </a:t>
            </a:r>
            <a:r>
              <a:rPr lang="en-US" sz="6000" dirty="0" err="1">
                <a:latin typeface="Tw Cen MT" panose="020B0602020104020603" pitchFamily="34" charset="77"/>
              </a:rPr>
              <a:t>Capítulo</a:t>
            </a:r>
            <a:r>
              <a:rPr lang="en-US" sz="6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2327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80485" y="3125972"/>
            <a:ext cx="22711144" cy="9973339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317635" y="6092618"/>
            <a:ext cx="21766192" cy="365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 algn="ctr">
              <a:lnSpc>
                <a:spcPct val="150000"/>
              </a:lnSpc>
              <a:buNone/>
            </a:pPr>
            <a:r>
              <a:rPr lang="pt-BR" altLang="pt-BR" dirty="0"/>
              <a:t>“Planejar, organizar, integrar e controlar os dados da empresa de modo centralizado, garantindo a qualidade das informações oferecidas a partir de seus significados e valores para a CAIXA.”</a:t>
            </a:r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D51EA2-988E-4AAA-81A6-F18CC123787D}"/>
              </a:ext>
            </a:extLst>
          </p:cNvPr>
          <p:cNvSpPr txBox="1">
            <a:spLocks/>
          </p:cNvSpPr>
          <p:nvPr/>
        </p:nvSpPr>
        <p:spPr>
          <a:xfrm>
            <a:off x="337109" y="2075752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1. </a:t>
            </a:r>
            <a:r>
              <a:rPr lang="en-US" sz="6600" dirty="0" err="1">
                <a:latin typeface="Tw Cen MT" panose="020B0602020104020603" pitchFamily="34" charset="77"/>
              </a:rPr>
              <a:t>Introdução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Missão</a:t>
            </a:r>
            <a:r>
              <a:rPr lang="en-US" sz="6000" dirty="0">
                <a:latin typeface="Tw Cen MT" panose="020B0602020104020603" pitchFamily="34" charset="77"/>
              </a:rPr>
              <a:t> do </a:t>
            </a:r>
            <a:r>
              <a:rPr lang="en-US" sz="6000" dirty="0" err="1">
                <a:latin typeface="Tw Cen MT" panose="020B0602020104020603" pitchFamily="34" charset="77"/>
              </a:rPr>
              <a:t>Capítulo</a:t>
            </a:r>
            <a:r>
              <a:rPr lang="en-US" sz="6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314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80485" y="3125972"/>
            <a:ext cx="22711144" cy="9973339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52961" y="3386885"/>
            <a:ext cx="21766192" cy="7841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000" dirty="0"/>
              <a:t>Analisar e validar o Modelo de Dados:</a:t>
            </a:r>
          </a:p>
          <a:p>
            <a:pPr marL="1600200" lvl="2" indent="-1143000" algn="just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Verificar a aderência às normas, padrões e metodologias normatizadas, orientando as Equipes de Desenvolvimento na sua melhor utilização;</a:t>
            </a:r>
          </a:p>
          <a:p>
            <a:pPr marL="1600200" lvl="2" indent="-1143000" algn="just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Garantir a reutilização de objetos já existentes;</a:t>
            </a:r>
          </a:p>
          <a:p>
            <a:pPr marL="1600200" lvl="2" indent="-1143000" algn="just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Garantir a integridade, qualidade e documentação dos modelos e dicionário de dados.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000" dirty="0"/>
              <a:t>Administrar o repositório corporativo de modelos de dados;</a:t>
            </a:r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pt-BR" altLang="pt-BR" sz="6000" dirty="0">
                <a:ea typeface="+mn-ea"/>
              </a:rPr>
              <a:t>Promover o compartilhamento e disseminação dos dados dos sistemas compartilhados SIICO, SICLI e SIISO com os demais sistemas da CAIXA;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000" dirty="0">
                <a:ea typeface="+mn-ea"/>
              </a:rPr>
              <a:t>Promover o compartilhamento e o reuso de informações comuns entre os sistemas da CAIXA.</a:t>
            </a:r>
            <a:endParaRPr lang="pt-BR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9F2A761-08FD-4E06-8856-334B206611AB}"/>
              </a:ext>
            </a:extLst>
          </p:cNvPr>
          <p:cNvSpPr txBox="1">
            <a:spLocks/>
          </p:cNvSpPr>
          <p:nvPr/>
        </p:nvSpPr>
        <p:spPr>
          <a:xfrm>
            <a:off x="230783" y="207640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1. </a:t>
            </a:r>
            <a:r>
              <a:rPr lang="en-US" sz="6600" dirty="0" err="1">
                <a:latin typeface="Tw Cen MT" panose="020B0602020104020603" pitchFamily="34" charset="77"/>
              </a:rPr>
              <a:t>Introdução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Atribuições</a:t>
            </a:r>
            <a:r>
              <a:rPr lang="en-US" sz="6000" dirty="0">
                <a:latin typeface="Tw Cen MT" panose="020B0602020104020603" pitchFamily="34" charset="77"/>
              </a:rPr>
              <a:t> do </a:t>
            </a:r>
            <a:r>
              <a:rPr lang="en-US" sz="6000" dirty="0" err="1">
                <a:latin typeface="Tw Cen MT" panose="020B0602020104020603" pitchFamily="34" charset="77"/>
              </a:rPr>
              <a:t>Capítulo</a:t>
            </a:r>
            <a:r>
              <a:rPr lang="en-US" sz="6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8518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F3CA92-9910-4070-8BAB-A4F6B6225CD7}"/>
              </a:ext>
            </a:extLst>
          </p:cNvPr>
          <p:cNvSpPr txBox="1">
            <a:spLocks/>
          </p:cNvSpPr>
          <p:nvPr/>
        </p:nvSpPr>
        <p:spPr>
          <a:xfrm>
            <a:off x="337109" y="2075752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1. </a:t>
            </a:r>
            <a:r>
              <a:rPr lang="en-US" sz="6600" dirty="0" err="1">
                <a:latin typeface="Tw Cen MT" panose="020B0602020104020603" pitchFamily="34" charset="77"/>
              </a:rPr>
              <a:t>Introdução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Jornada de Dados </a:t>
            </a: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00FAC6-ACE3-8091-5E1F-DB3674898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68" y="3487602"/>
            <a:ext cx="21152520" cy="1015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1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3125972"/>
            <a:ext cx="23042085" cy="10590028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317635" y="3516717"/>
            <a:ext cx="21766192" cy="13470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6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Arquitetura TI Caixa</a:t>
            </a:r>
            <a:endParaRPr lang="pt-BR" altLang="pt-BR" sz="66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371600" lvl="4" indent="-685800" algn="just">
              <a:buFont typeface="Courier New" panose="02070309020205020404" pitchFamily="49" charset="0"/>
              <a:buChar char="o"/>
            </a:pPr>
            <a:r>
              <a:rPr lang="pt-BR" alt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TE073- GERÊNCIA DE MODELOS DE SISTEMAS DE INFORMAÇÃO</a:t>
            </a:r>
            <a:endParaRPr lang="pt-BR" altLang="pt-BR" sz="48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marL="1371600" lvl="4" indent="-685800">
              <a:buFont typeface="Courier New" panose="02070309020205020404" pitchFamily="49" charset="0"/>
              <a:buChar char="o"/>
            </a:pP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TE074 - MODELAGEM DE DADOS PARA SISTEMAS E APLICATIVOS DE NEGÓCIO CAIXA</a:t>
            </a:r>
            <a:endParaRPr lang="pt-BR" sz="48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marL="1371600" lvl="4" indent="-685800">
              <a:buFont typeface="Courier New" panose="02070309020205020404" pitchFamily="49" charset="0"/>
              <a:buChar char="o"/>
            </a:pP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TE109 - INFORMAÇÕES COMPARTILHADAS DA CAIXA</a:t>
            </a: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.</a:t>
            </a:r>
          </a:p>
          <a:p>
            <a:pPr marL="1371600" lvl="4" indent="-685800">
              <a:buFont typeface="Courier New" panose="02070309020205020404" pitchFamily="49" charset="0"/>
              <a:buChar char="o"/>
            </a:pPr>
            <a:r>
              <a:rPr lang="pt-BR" alt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TE111- PADRÕES ARQUITETURAIS CAIXA</a:t>
            </a:r>
            <a:endParaRPr lang="pt-BR" altLang="pt-BR" sz="48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marL="1371600" lvl="4" indent="-685800">
              <a:buFont typeface="Courier New" panose="02070309020205020404" pitchFamily="49" charset="0"/>
              <a:buChar char="o"/>
            </a:pP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Guia para Modelagem e Validação de Modelos de Dados Caixa.</a:t>
            </a:r>
            <a:endParaRPr lang="pt-BR" sz="48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marL="1371600" lvl="4" indent="-685800">
              <a:buFont typeface="Courier New" panose="02070309020205020404" pitchFamily="49" charset="0"/>
              <a:buChar char="o"/>
            </a:pP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Nomenclatura de Objetos</a:t>
            </a:r>
            <a:endParaRPr lang="pt-BR" sz="48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marL="1371600" lvl="4" indent="-685800">
              <a:buFont typeface="Courier New" panose="02070309020205020404" pitchFamily="49" charset="0"/>
              <a:buChar char="o"/>
            </a:pP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Expressões Regulares que Definem Objetos Físicos dos SGBD</a:t>
            </a:r>
            <a:endParaRPr lang="pt-BR" sz="48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marL="1371600" lvl="4" indent="-685800">
              <a:buFont typeface="Courier New" panose="02070309020205020404" pitchFamily="49" charset="0"/>
              <a:buChar char="o"/>
            </a:pP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Guia de Padronização e Organização Gráfica de Modelos de Dados</a:t>
            </a: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.</a:t>
            </a:r>
          </a:p>
          <a:p>
            <a:pPr marL="1371600" lvl="4" indent="-685800">
              <a:buFont typeface="Courier New" panose="02070309020205020404" pitchFamily="49" charset="0"/>
              <a:buChar char="o"/>
            </a:pP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Lista de Objetos para Validação do Modelo de Dados</a:t>
            </a:r>
            <a:endParaRPr lang="pt-BR" sz="48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marL="1371600" lvl="4" indent="-685800">
              <a:buFont typeface="Courier New" panose="02070309020205020404" pitchFamily="49" charset="0"/>
              <a:buChar char="o"/>
            </a:pP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Validações executadas na Ferramenta de </a:t>
            </a:r>
            <a:r>
              <a:rPr lang="pt-BR" sz="4800" dirty="0" err="1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Pré-validação</a:t>
            </a: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 Modelo de Dados</a:t>
            </a:r>
            <a:endParaRPr lang="pt-BR" sz="48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marL="1371600" lvl="4" indent="-685800">
              <a:buFont typeface="Courier New" panose="02070309020205020404" pitchFamily="49" charset="0"/>
              <a:buChar char="o"/>
            </a:pP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Ferramenta de </a:t>
            </a:r>
            <a:r>
              <a:rPr lang="pt-BR" sz="4800" dirty="0" err="1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</a:t>
            </a: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-Validação de Modelo de Dados</a:t>
            </a:r>
            <a:r>
              <a:rPr lang="pt-BR" sz="48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pt-BR" altLang="pt-BR" sz="6000" dirty="0"/>
          </a:p>
          <a:p>
            <a:pPr algn="just"/>
            <a:endParaRPr lang="pt-BR" altLang="pt-BR" sz="6000" dirty="0"/>
          </a:p>
          <a:p>
            <a:pPr algn="just"/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960420-99FB-49DB-97D3-A701980D0BD5}"/>
              </a:ext>
            </a:extLst>
          </p:cNvPr>
          <p:cNvSpPr txBox="1">
            <a:spLocks/>
          </p:cNvSpPr>
          <p:nvPr/>
        </p:nvSpPr>
        <p:spPr>
          <a:xfrm>
            <a:off x="230783" y="207640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1. </a:t>
            </a:r>
            <a:r>
              <a:rPr lang="en-US" sz="6600" dirty="0" err="1">
                <a:latin typeface="Tw Cen MT" panose="020B0602020104020603" pitchFamily="34" charset="77"/>
              </a:rPr>
              <a:t>Introdução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 err="1">
                <a:latin typeface="Tw Cen MT" panose="020B0602020104020603" pitchFamily="34" charset="77"/>
              </a:rPr>
              <a:t>Normativos</a:t>
            </a:r>
            <a:r>
              <a:rPr lang="en-US" sz="6000" dirty="0">
                <a:latin typeface="Tw Cen MT" panose="020B0602020104020603" pitchFamily="34" charset="77"/>
              </a:rPr>
              <a:t>, </a:t>
            </a:r>
            <a:r>
              <a:rPr lang="en-US" sz="6000" dirty="0" err="1">
                <a:latin typeface="Tw Cen MT" panose="020B0602020104020603" pitchFamily="34" charset="77"/>
              </a:rPr>
              <a:t>Guias</a:t>
            </a:r>
            <a:r>
              <a:rPr lang="en-US" sz="6000" dirty="0">
                <a:latin typeface="Tw Cen MT" panose="020B0602020104020603" pitchFamily="34" charset="77"/>
              </a:rPr>
              <a:t> e Ferramentas do </a:t>
            </a:r>
            <a:r>
              <a:rPr lang="en-US" sz="6000" dirty="0" err="1">
                <a:latin typeface="Tw Cen MT" panose="020B0602020104020603" pitchFamily="34" charset="77"/>
              </a:rPr>
              <a:t>Capítulo</a:t>
            </a:r>
            <a:r>
              <a:rPr lang="en-US" sz="6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864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F3CA92-9910-4070-8BAB-A4F6B6225CD7}"/>
              </a:ext>
            </a:extLst>
          </p:cNvPr>
          <p:cNvSpPr txBox="1">
            <a:spLocks/>
          </p:cNvSpPr>
          <p:nvPr/>
        </p:nvSpPr>
        <p:spPr>
          <a:xfrm>
            <a:off x="337109" y="131673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4E68230-E778-AF50-8AF2-987A0EEFEF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2019793"/>
              </p:ext>
            </p:extLst>
          </p:nvPr>
        </p:nvGraphicFramePr>
        <p:xfrm>
          <a:off x="4023360" y="2870906"/>
          <a:ext cx="16922780" cy="10572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7986B855-0E0B-0635-B4E0-1156BF9AADA1}"/>
              </a:ext>
            </a:extLst>
          </p:cNvPr>
          <p:cNvSpPr txBox="1"/>
          <p:nvPr/>
        </p:nvSpPr>
        <p:spPr>
          <a:xfrm>
            <a:off x="5167426" y="3062178"/>
            <a:ext cx="5740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Atribuições da Equipe de Projeto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4A9EC67-5989-0A8D-8EF7-E9BA8D2E200D}"/>
              </a:ext>
            </a:extLst>
          </p:cNvPr>
          <p:cNvSpPr txBox="1"/>
          <p:nvPr/>
        </p:nvSpPr>
        <p:spPr>
          <a:xfrm>
            <a:off x="15227216" y="3062177"/>
            <a:ext cx="3334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Atribuições da ADI</a:t>
            </a:r>
          </a:p>
        </p:txBody>
      </p:sp>
      <p:sp>
        <p:nvSpPr>
          <p:cNvPr id="16" name="Seta: da Esquerda para a Direita 15">
            <a:extLst>
              <a:ext uri="{FF2B5EF4-FFF2-40B4-BE49-F238E27FC236}">
                <a16:creationId xmlns:a16="http://schemas.microsoft.com/office/drawing/2014/main" id="{643B90A7-1F47-EDEE-BD65-0327FF95C957}"/>
              </a:ext>
            </a:extLst>
          </p:cNvPr>
          <p:cNvSpPr/>
          <p:nvPr/>
        </p:nvSpPr>
        <p:spPr>
          <a:xfrm>
            <a:off x="11704320" y="7356192"/>
            <a:ext cx="1600200" cy="93726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912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00670"/>
            <a:ext cx="23011989" cy="1074228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317635" y="3516718"/>
            <a:ext cx="21766192" cy="14609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/>
            <a:r>
              <a:rPr lang="pt-BR" altLang="pt-BR" sz="6000" dirty="0"/>
              <a:t>A apresentação detalhada das normas e padrões da Caixa pode ser consultada no </a:t>
            </a:r>
            <a:r>
              <a:rPr 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Guia para Modelagem e Validação de Modelos de Dados Caixa.</a:t>
            </a:r>
            <a:endParaRPr lang="pt-BR" sz="60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just"/>
            <a:r>
              <a:rPr lang="pt-BR" altLang="pt-BR" sz="6000" dirty="0"/>
              <a:t>A definição dos objetos conceituais deve seguir o Manual Normativo </a:t>
            </a:r>
            <a:r>
              <a:rPr lang="pt-BR" sz="6000" dirty="0">
                <a:latin typeface="Tw Cen MT" panose="020B0602020104020603" pitchFamily="34" charset="0"/>
                <a:cs typeface="Arial" panose="020B0604020202020204" pitchFamily="34" charset="0"/>
                <a:hlinkClick r:id="rId3"/>
              </a:rPr>
              <a:t>TE074</a:t>
            </a:r>
            <a:r>
              <a:rPr lang="pt-BR" sz="6000" b="1" dirty="0">
                <a:latin typeface="Tw Cen MT" panose="020B0602020104020603" pitchFamily="34" charset="0"/>
                <a:cs typeface="Arial" panose="020B0604020202020204" pitchFamily="34" charset="0"/>
                <a:hlinkClick r:id="rId3"/>
              </a:rPr>
              <a:t> - </a:t>
            </a:r>
            <a:r>
              <a:rPr lang="pt-BR" sz="6000" dirty="0">
                <a:latin typeface="Tw Cen MT" panose="020B0602020104020603" pitchFamily="34" charset="0"/>
                <a:cs typeface="Arial" panose="020B0604020202020204" pitchFamily="34" charset="0"/>
                <a:hlinkClick r:id="rId3"/>
              </a:rPr>
              <a:t>MODELAGEM DE DADOS PARA SISTEMAS E APLICATIVOS DE NEGÓCIO CAIXA</a:t>
            </a:r>
            <a:r>
              <a:rPr lang="pt-BR" sz="6000" dirty="0">
                <a:latin typeface="Tw Cen MT" panose="020B0602020104020603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pt-BR" altLang="pt-BR" sz="6000" dirty="0"/>
              <a:t>A nomeação dos objetos deve seguir o padrão de </a:t>
            </a:r>
            <a:r>
              <a:rPr lang="pt-BR" sz="6000" dirty="0">
                <a:latin typeface="Tw Cen MT" panose="020B0602020104020603" pitchFamily="34" charset="0"/>
                <a:cs typeface="Arial" panose="020B0604020202020204" pitchFamily="34" charset="0"/>
                <a:hlinkClick r:id="rId4"/>
              </a:rPr>
              <a:t>Nomenclatura de Objetos</a:t>
            </a:r>
            <a:r>
              <a:rPr lang="pt-BR" sz="6000" dirty="0">
                <a:latin typeface="Tw Cen MT" panose="020B0602020104020603" pitchFamily="34" charset="0"/>
                <a:cs typeface="Arial" panose="020B0604020202020204" pitchFamily="34" charset="0"/>
              </a:rPr>
              <a:t> no Portal de Práticas.</a:t>
            </a:r>
            <a:endParaRPr lang="pt-BR" altLang="pt-BR" sz="6000" dirty="0"/>
          </a:p>
          <a:p>
            <a:pPr algn="just"/>
            <a:r>
              <a:rPr lang="pt-BR" altLang="pt-BR" sz="6000" dirty="0"/>
              <a:t>Para tratamento de dados pessoais com a definição de nível do dado pessoal pode ser consultado no Manual Normativo </a:t>
            </a:r>
            <a:r>
              <a:rPr lang="pt-BR" altLang="pt-BR" sz="6000" dirty="0">
                <a:hlinkClick r:id="rId5"/>
              </a:rPr>
              <a:t>CR439 - ATENDIMENTO AOS DIREITOS DO TITULAR - LEI GERAL DE PROTEÇÃO A DADOS PESSOAIS (LGPD)</a:t>
            </a:r>
            <a:r>
              <a:rPr lang="pt-BR" altLang="pt-BR" sz="6000" dirty="0"/>
              <a:t>.</a:t>
            </a:r>
          </a:p>
          <a:p>
            <a:pPr algn="just"/>
            <a:r>
              <a:rPr lang="pt-BR" altLang="pt-BR" sz="6000" dirty="0"/>
              <a:t>A apresentação de como a Arquitetura de TI previne o uso indevido de dados de acordo com a LGPD pode ser consultada no Guia </a:t>
            </a:r>
            <a:r>
              <a:rPr lang="pt-BR" altLang="pt-BR" sz="6000" dirty="0" err="1"/>
              <a:t>Privacy</a:t>
            </a:r>
            <a:r>
              <a:rPr lang="pt-BR" altLang="pt-BR" sz="6000" dirty="0"/>
              <a:t> </a:t>
            </a:r>
            <a:r>
              <a:rPr lang="pt-BR" altLang="pt-BR" sz="6000" dirty="0" err="1"/>
              <a:t>by</a:t>
            </a:r>
            <a:r>
              <a:rPr lang="pt-BR" altLang="pt-BR" sz="6000" dirty="0"/>
              <a:t> Design da Arquitetura de TI .</a:t>
            </a:r>
          </a:p>
          <a:p>
            <a:pPr algn="just"/>
            <a:r>
              <a:rPr lang="pt-BR" altLang="pt-BR" sz="6000" dirty="0"/>
              <a:t>A definição dos objetos físicos deve seguir o padrão de </a:t>
            </a:r>
            <a:r>
              <a:rPr lang="pt-BR" sz="6000" dirty="0">
                <a:latin typeface="Tw Cen MT" panose="020B0602020104020603" pitchFamily="34" charset="0"/>
                <a:cs typeface="Arial" panose="020B0604020202020204" pitchFamily="34" charset="0"/>
                <a:hlinkClick r:id="rId6"/>
              </a:rPr>
              <a:t>Expressões Regulares que Definem Objetos Físicos dos SGBD</a:t>
            </a:r>
            <a:r>
              <a:rPr lang="pt-BR" sz="6000" dirty="0">
                <a:latin typeface="Tw Cen MT" panose="020B0602020104020603" pitchFamily="34" charset="0"/>
                <a:cs typeface="Arial" panose="020B0604020202020204" pitchFamily="34" charset="0"/>
              </a:rPr>
              <a:t> no Portal de Práticas.</a:t>
            </a:r>
          </a:p>
          <a:p>
            <a:pPr algn="just"/>
            <a:r>
              <a:rPr lang="pt-BR" sz="6000" dirty="0">
                <a:latin typeface="Tw Cen MT" panose="020B0602020104020603" pitchFamily="34" charset="0"/>
                <a:cs typeface="Arial" panose="020B0604020202020204" pitchFamily="34" charset="0"/>
              </a:rPr>
              <a:t>O reuso das informações compartilhadas da Caixa deve seguir o Manual Normativo </a:t>
            </a:r>
            <a:r>
              <a:rPr lang="pt-BR" sz="6000" dirty="0">
                <a:solidFill>
                  <a:srgbClr val="0074B0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TE109 - INFORMAÇÕES COMPARTILHADAS DA CAIXA</a:t>
            </a:r>
            <a:r>
              <a:rPr lang="pt-BR" sz="6000" dirty="0">
                <a:solidFill>
                  <a:srgbClr val="0074B0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sz="6000" dirty="0"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altLang="pt-BR" sz="6000" dirty="0"/>
          </a:p>
          <a:p>
            <a:pPr marL="0" indent="0" algn="just">
              <a:lnSpc>
                <a:spcPct val="150000"/>
              </a:lnSpc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CFE82-0C82-45F6-A878-29A8750F4F6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Critérios</a:t>
            </a:r>
            <a:r>
              <a:rPr lang="en-US" sz="6600" dirty="0">
                <a:latin typeface="Tw Cen MT" panose="020B0602020104020603" pitchFamily="34" charset="77"/>
              </a:rPr>
              <a:t> para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</p:spTree>
    <p:extLst>
      <p:ext uri="{BB962C8B-B14F-4D97-AF65-F5344CB8AC3E}">
        <p14:creationId xmlns:p14="http://schemas.microsoft.com/office/powerpoint/2010/main" val="2153278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80485" y="2739362"/>
            <a:ext cx="22711144" cy="9973339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009834" y="3714778"/>
            <a:ext cx="21277093" cy="16455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/>
            <a:r>
              <a:rPr lang="pt-BR" altLang="pt-BR" sz="6000" dirty="0"/>
              <a:t>Os critérios para tratamento adequado da informação deve seguir o Manual Normativo </a:t>
            </a:r>
            <a:r>
              <a:rPr lang="pt-BR" altLang="pt-BR" sz="6000" dirty="0">
                <a:hlinkClick r:id="rId2"/>
              </a:rPr>
              <a:t>OR016 – Tratamento da Informação</a:t>
            </a:r>
            <a:r>
              <a:rPr lang="pt-BR" altLang="pt-BR" sz="6000" dirty="0"/>
              <a:t>.</a:t>
            </a:r>
          </a:p>
          <a:p>
            <a:pPr algn="just"/>
            <a:r>
              <a:rPr lang="pt-BR" altLang="pt-BR" sz="6000" dirty="0"/>
              <a:t>A disposição gráfica dos objetos deve seguir o padrão do </a:t>
            </a:r>
            <a:r>
              <a:rPr lang="pt-BR" sz="6000" dirty="0">
                <a:latin typeface="Tw Cen MT" panose="020B0602020104020603" pitchFamily="34" charset="0"/>
                <a:cs typeface="Arial" panose="020B0604020202020204" pitchFamily="34" charset="0"/>
                <a:hlinkClick r:id="rId3"/>
              </a:rPr>
              <a:t>Guia de Padronização e Organização Gráfica de Modelos de Dados</a:t>
            </a:r>
            <a:r>
              <a:rPr lang="pt-BR" sz="6000" dirty="0">
                <a:latin typeface="Tw Cen MT" panose="020B0602020104020603" pitchFamily="34" charset="0"/>
                <a:cs typeface="Arial" panose="020B0604020202020204" pitchFamily="34" charset="0"/>
              </a:rPr>
              <a:t>.</a:t>
            </a:r>
            <a:endParaRPr lang="pt-BR" altLang="pt-BR" sz="6000" dirty="0"/>
          </a:p>
          <a:p>
            <a:pPr algn="just"/>
            <a:r>
              <a:rPr lang="pt-BR" altLang="pt-BR" sz="6000" dirty="0"/>
              <a:t>A padronização de criação, administração e o uso dos modelo de dados deve seguir o Manual Normativo </a:t>
            </a:r>
            <a:r>
              <a:rPr lang="pt-BR" alt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TE073- GERÊNCIA DE MODELOS DE SISTEMAS DE INFORMAÇÃO</a:t>
            </a:r>
            <a:r>
              <a:rPr lang="pt-BR" alt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pt-BR" altLang="pt-BR" sz="6000" dirty="0"/>
              <a:t>Os padrões de arquitetura tecnológica devem seguir o Manual Normativo </a:t>
            </a:r>
            <a:r>
              <a:rPr lang="pt-BR" alt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TE111- PADRÕES ARQUITETURAIS CAIXA</a:t>
            </a:r>
            <a:r>
              <a:rPr lang="pt-BR" alt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pt-BR" altLang="pt-BR" sz="6000" dirty="0"/>
              <a:t>A lista de objetos e as suas propriedade que sofrerão validação pelo AD pode ser consultada no Portal de Práticas: </a:t>
            </a:r>
            <a:r>
              <a:rPr 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Lista de Objetos para Validação do Modelo de Dados</a:t>
            </a:r>
            <a:r>
              <a:rPr 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pt-BR" altLang="pt-BR" sz="6000" dirty="0"/>
              <a:t>A lista de </a:t>
            </a:r>
            <a:r>
              <a:rPr lang="pt-BR" altLang="pt-BR" sz="6000" dirty="0" err="1"/>
              <a:t>pré</a:t>
            </a:r>
            <a:r>
              <a:rPr lang="pt-BR" altLang="pt-BR" sz="6000" dirty="0"/>
              <a:t>-validações executadas pela </a:t>
            </a:r>
            <a:r>
              <a:rPr 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Ferramenta de </a:t>
            </a:r>
            <a:r>
              <a:rPr lang="pt-BR" sz="6000" dirty="0" err="1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</a:t>
            </a:r>
            <a:r>
              <a:rPr 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-Validação de Modelo de Dados</a:t>
            </a:r>
            <a:r>
              <a:rPr 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. </a:t>
            </a:r>
          </a:p>
          <a:p>
            <a:pPr marL="0" indent="0" algn="just">
              <a:buNone/>
            </a:pPr>
            <a:r>
              <a:rPr lang="pt-BR" altLang="pt-BR" sz="6000" dirty="0"/>
              <a:t>pode ser consultada no Portal de Práticas: </a:t>
            </a:r>
            <a:r>
              <a:rPr 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Validações executadas no </a:t>
            </a:r>
            <a:r>
              <a:rPr lang="pt-BR" sz="6000" dirty="0" err="1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</a:t>
            </a:r>
            <a:r>
              <a:rPr 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-validador</a:t>
            </a:r>
            <a:r>
              <a:rPr lang="pt-BR" sz="6000" dirty="0">
                <a:solidFill>
                  <a:schemeClr val="accent1"/>
                </a:solidFill>
                <a:latin typeface="Tw Cen MT" panose="020B0602020104020603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altLang="pt-BR" sz="6000" dirty="0"/>
          </a:p>
          <a:p>
            <a:pPr algn="just"/>
            <a:endParaRPr lang="pt-BR" altLang="pt-BR" sz="60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altLang="pt-BR" sz="60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just"/>
            <a:endParaRPr lang="pt-BR" altLang="pt-BR" sz="6000" dirty="0">
              <a:solidFill>
                <a:schemeClr val="accent1"/>
              </a:solidFill>
              <a:latin typeface="Tw Cen MT" panose="020B0602020104020603" pitchFamily="34" charset="0"/>
              <a:cs typeface="Arial" panose="020B0604020202020204" pitchFamily="34" charset="0"/>
            </a:endParaRPr>
          </a:p>
          <a:p>
            <a:pPr algn="just"/>
            <a:endParaRPr lang="pt-BR" altLang="pt-BR" sz="6000" dirty="0"/>
          </a:p>
          <a:p>
            <a:pPr algn="just">
              <a:lnSpc>
                <a:spcPct val="150000"/>
              </a:lnSpc>
            </a:pPr>
            <a:endParaRPr lang="pt-BR" altLang="pt-BR" sz="6000" dirty="0"/>
          </a:p>
          <a:p>
            <a:pPr marL="0" indent="0" algn="just">
              <a:lnSpc>
                <a:spcPct val="150000"/>
              </a:lnSpc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CFE82-0C82-45F6-A878-29A8750F4F6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Critérios</a:t>
            </a:r>
            <a:r>
              <a:rPr lang="en-US" sz="6600" dirty="0">
                <a:latin typeface="Tw Cen MT" panose="020B0602020104020603" pitchFamily="34" charset="77"/>
              </a:rPr>
              <a:t> para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</p:spTree>
    <p:extLst>
      <p:ext uri="{BB962C8B-B14F-4D97-AF65-F5344CB8AC3E}">
        <p14:creationId xmlns:p14="http://schemas.microsoft.com/office/powerpoint/2010/main" val="703039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934586"/>
            <a:ext cx="23139581" cy="1050836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58690" y="3384486"/>
            <a:ext cx="21766192" cy="13978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 algn="just">
              <a:buNone/>
            </a:pPr>
            <a:r>
              <a:rPr lang="pt-BR" altLang="pt-BR" sz="6000" b="1" dirty="0"/>
              <a:t>A Importância do Modelo de Dados</a:t>
            </a:r>
            <a:endParaRPr lang="pt-BR" altLang="pt-BR" sz="6000" dirty="0"/>
          </a:p>
          <a:p>
            <a:pPr algn="just"/>
            <a:r>
              <a:rPr lang="pt-BR" altLang="pt-BR" sz="6600" dirty="0"/>
              <a:t>O Modelo de Dados não é somente um diagrama, nem somente uma documentação, mas um valioso instrumento de especificação;</a:t>
            </a:r>
          </a:p>
          <a:p>
            <a:pPr algn="just"/>
            <a:r>
              <a:rPr lang="pt-BR" altLang="pt-BR" sz="6600" dirty="0"/>
              <a:t>Facilita o conhecimento do contexto de negócio. A visão das funções e dos dados se complementam;</a:t>
            </a:r>
          </a:p>
          <a:p>
            <a:pPr algn="just"/>
            <a:r>
              <a:rPr lang="pt-BR" altLang="pt-BR" sz="6600" dirty="0"/>
              <a:t>Permite a representação do ambiente observado, estabelecendo conceitos únicos a partir de visões diversas;</a:t>
            </a:r>
          </a:p>
          <a:p>
            <a:pPr algn="just"/>
            <a:r>
              <a:rPr lang="pt-BR" altLang="pt-BR" sz="6600" dirty="0"/>
              <a:t>Facilita a  visualização dos relacionamentos entre os objetos envolvidos;</a:t>
            </a:r>
          </a:p>
          <a:p>
            <a:pPr algn="just"/>
            <a:r>
              <a:rPr lang="pt-BR" altLang="pt-BR" sz="6600" dirty="0"/>
              <a:t>Permite a documentação do compartilhamento dos dados e a integração dos sistemas;</a:t>
            </a:r>
          </a:p>
          <a:p>
            <a:pPr algn="just"/>
            <a:r>
              <a:rPr lang="pt-BR" altLang="pt-BR" sz="6600" dirty="0"/>
              <a:t>O modelo de dados é a base para a implementação de um Banco de Dados;</a:t>
            </a:r>
          </a:p>
          <a:p>
            <a:pPr algn="just"/>
            <a:r>
              <a:rPr lang="pt-BR" altLang="pt-BR" sz="6600" dirty="0"/>
              <a:t>A não observância às boas práticas no processo de construção de modelos pode prejudicar o entendimento correto do problema e, consequentemente, a construção de sistemas que atenda às reais expectativas do usuário. </a:t>
            </a:r>
          </a:p>
          <a:p>
            <a:pPr algn="just"/>
            <a:endParaRPr lang="pt-BR" altLang="pt-BR" sz="6000" dirty="0"/>
          </a:p>
          <a:p>
            <a:pPr algn="just"/>
            <a:endParaRPr lang="pt-BR" altLang="pt-BR" sz="6000" dirty="0"/>
          </a:p>
          <a:p>
            <a:pPr algn="just"/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2D83CD-CC8D-4C73-A85C-1A89C93E8766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Critérios</a:t>
            </a:r>
            <a:r>
              <a:rPr lang="en-US" sz="6600" dirty="0">
                <a:latin typeface="Tw Cen MT" panose="020B0602020104020603" pitchFamily="34" charset="77"/>
              </a:rPr>
              <a:t> para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</p:spTree>
    <p:extLst>
      <p:ext uri="{BB962C8B-B14F-4D97-AF65-F5344CB8AC3E}">
        <p14:creationId xmlns:p14="http://schemas.microsoft.com/office/powerpoint/2010/main" val="3586842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80485" y="3125972"/>
            <a:ext cx="22711144" cy="9973339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625437" y="3553405"/>
            <a:ext cx="21766192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Definição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Tabela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43F96D6-1437-45DF-BF51-58AE3B843B23}"/>
              </a:ext>
            </a:extLst>
          </p:cNvPr>
          <p:cNvSpPr txBox="1">
            <a:spLocks noChangeArrowheads="1"/>
          </p:cNvSpPr>
          <p:nvPr/>
        </p:nvSpPr>
        <p:spPr>
          <a:xfrm>
            <a:off x="1058819" y="4883043"/>
            <a:ext cx="21766192" cy="26098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8700" lvl="1" indent="-571500" defTabSz="457200">
              <a:lnSpc>
                <a:spcPct val="100000"/>
              </a:lnSpc>
              <a:defRPr/>
            </a:pPr>
            <a:r>
              <a:rPr lang="pt-PT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É um conjunto de objetos que têm características e relacionamentos comuns, que tem significado próprio, identificável e sobre o qual o negócio precisa manter informações;</a:t>
            </a:r>
          </a:p>
          <a:p>
            <a:pPr marL="1028700" lvl="1" indent="-571500" algn="just" defTabSz="457200">
              <a:lnSpc>
                <a:spcPct val="100000"/>
              </a:lnSpc>
              <a:defRPr/>
            </a:pPr>
            <a:r>
              <a:rPr lang="pt-PT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É importante ressaltar que algumas literaturas denominam o conjunto de objetos do mundo real como ENTIDADE ou TIPO de ENTIDADE e cada instância da entidade como OCORRÊNCIA.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4BADB56-49CC-4950-AEF3-C4DD851DD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56580"/>
              </p:ext>
            </p:extLst>
          </p:nvPr>
        </p:nvGraphicFramePr>
        <p:xfrm>
          <a:off x="7464056" y="9824484"/>
          <a:ext cx="7464056" cy="2900945"/>
        </p:xfrm>
        <a:graphic>
          <a:graphicData uri="http://schemas.openxmlformats.org/drawingml/2006/table">
            <a:tbl>
              <a:tblPr/>
              <a:tblGrid>
                <a:gridCol w="2714203">
                  <a:extLst>
                    <a:ext uri="{9D8B030D-6E8A-4147-A177-3AD203B41FA5}">
                      <a16:colId xmlns:a16="http://schemas.microsoft.com/office/drawing/2014/main" val="1410861352"/>
                    </a:ext>
                  </a:extLst>
                </a:gridCol>
                <a:gridCol w="4749853">
                  <a:extLst>
                    <a:ext uri="{9D8B030D-6E8A-4147-A177-3AD203B41FA5}">
                      <a16:colId xmlns:a16="http://schemas.microsoft.com/office/drawing/2014/main" val="3042666359"/>
                    </a:ext>
                  </a:extLst>
                </a:gridCol>
              </a:tblGrid>
              <a:tr h="58018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ENTIDADES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OCORRÊNCIAS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624436"/>
                  </a:ext>
                </a:extLst>
              </a:tr>
              <a:tr h="580189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EMPREGADO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PT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C1010 - João da Silva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210845"/>
                  </a:ext>
                </a:extLst>
              </a:tr>
              <a:tr h="58018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PT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C1011 - Cláudio Ramos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283051"/>
                  </a:ext>
                </a:extLst>
              </a:tr>
              <a:tr h="580189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BR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DEPARTAMENTO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PT" altLang="pt-B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001 - Cobrança</a:t>
                      </a:r>
                      <a:endParaRPr kumimoji="0" lang="pt-BR" altLang="pt-B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03766"/>
                  </a:ext>
                </a:extLst>
              </a:tr>
              <a:tr h="58018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SzPct val="8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4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pt-PT" altLang="pt-B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002 - Contabilidade</a:t>
                      </a:r>
                      <a:endParaRPr kumimoji="0" lang="pt-BR" alt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405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243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80485" y="3125972"/>
            <a:ext cx="22711144" cy="9973339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625437" y="3553405"/>
            <a:ext cx="21403886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Nomeação – Propriedade “</a:t>
            </a:r>
            <a:r>
              <a:rPr lang="pt-BR" sz="7200" b="1" dirty="0" err="1"/>
              <a:t>Name</a:t>
            </a:r>
            <a:r>
              <a:rPr lang="pt-BR" sz="7200" b="1" dirty="0"/>
              <a:t>”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Tabela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372140" y="5134014"/>
            <a:ext cx="12556512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pt-PT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nomeação da entidade deverá ocorrer sempre no singular e por extenso;</a:t>
            </a:r>
          </a:p>
          <a:p>
            <a:pPr>
              <a:lnSpc>
                <a:spcPct val="100000"/>
              </a:lnSpc>
            </a:pPr>
            <a:r>
              <a:rPr lang="pt-PT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Utilizar um nome que seja de conhecimento do usuário e significativo para o negócio;</a:t>
            </a:r>
          </a:p>
          <a:p>
            <a:pPr>
              <a:lnSpc>
                <a:spcPct val="150000"/>
              </a:lnSpc>
            </a:pPr>
            <a:r>
              <a:rPr lang="pt-PT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nomeação deve ser única no Modelo de Dados;</a:t>
            </a:r>
          </a:p>
          <a:p>
            <a:pPr>
              <a:lnSpc>
                <a:spcPct val="150000"/>
              </a:lnSpc>
            </a:pPr>
            <a:r>
              <a:rPr lang="pt-PT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há limite no tamanho destinado a esta nomeação.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85665FF-B7F4-490A-8429-A31164394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3953" y="6720306"/>
            <a:ext cx="8139427" cy="5929106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097A8D0C-9146-4914-9DAD-AADFA771567A}"/>
              </a:ext>
            </a:extLst>
          </p:cNvPr>
          <p:cNvSpPr/>
          <p:nvPr/>
        </p:nvSpPr>
        <p:spPr>
          <a:xfrm>
            <a:off x="18200083" y="5722649"/>
            <a:ext cx="723013" cy="854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942984B-1C6E-4517-A967-0447BED967B8}"/>
              </a:ext>
            </a:extLst>
          </p:cNvPr>
          <p:cNvSpPr/>
          <p:nvPr/>
        </p:nvSpPr>
        <p:spPr>
          <a:xfrm>
            <a:off x="14460279" y="7783033"/>
            <a:ext cx="3296093" cy="329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1B7B235-D60B-47B5-A898-333E8E3D2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8809" y="3547155"/>
            <a:ext cx="3485562" cy="148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37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391629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625437" y="3270935"/>
            <a:ext cx="21403886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Descrição – Propriedade “</a:t>
            </a:r>
            <a:r>
              <a:rPr lang="pt-BR" sz="7200" b="1" dirty="0" err="1"/>
              <a:t>Comment</a:t>
            </a:r>
            <a:r>
              <a:rPr lang="pt-BR" sz="7200" b="1" dirty="0"/>
              <a:t>”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Tabela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1CAA1E9-C690-4950-8494-22F33265337E}"/>
              </a:ext>
            </a:extLst>
          </p:cNvPr>
          <p:cNvSpPr txBox="1"/>
          <p:nvPr/>
        </p:nvSpPr>
        <p:spPr>
          <a:xfrm>
            <a:off x="382257" y="4388093"/>
            <a:ext cx="21766192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6000" dirty="0"/>
              <a:t>O que um conceito deve conter: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000" dirty="0"/>
              <a:t>Regras nas quais os elementos conceituados se encaixam;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000" dirty="0"/>
              <a:t>Exceções as regras, quando aplicáveis;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000" dirty="0"/>
              <a:t>Exemplos ilustrativos;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000" dirty="0"/>
              <a:t>Correlação entre conceitos;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000" dirty="0"/>
              <a:t>Qualquer outro tipo de informação que contribua para a compreensão;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3B8A405-5C90-4950-B5A2-55E4769B5EEB}"/>
              </a:ext>
            </a:extLst>
          </p:cNvPr>
          <p:cNvSpPr txBox="1"/>
          <p:nvPr/>
        </p:nvSpPr>
        <p:spPr>
          <a:xfrm>
            <a:off x="382257" y="9354001"/>
            <a:ext cx="21766192" cy="7838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000" dirty="0"/>
              <a:t>Conceitos que possam parecer triviais a quem está modelando não serão do mesmo modo triviais a outras pessoas que não tenham o conhecimento prévio do assunto tratado;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000" dirty="0"/>
              <a:t>Assumir que um conceito é trivial e não precisa ser detalhado é assumir os riscos de futuras interpretações equivocadas;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000" dirty="0"/>
              <a:t>É extremamente importante manter como meta o estabelecimento de definições completas e inequívocas.</a:t>
            </a:r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9F75A28-3231-4298-B9D9-F567C3911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1880" y="3099745"/>
            <a:ext cx="7459920" cy="5434125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A3545A8C-AB27-4636-9108-E459CA77E93F}"/>
              </a:ext>
            </a:extLst>
          </p:cNvPr>
          <p:cNvSpPr/>
          <p:nvPr/>
        </p:nvSpPr>
        <p:spPr>
          <a:xfrm>
            <a:off x="14507376" y="4604420"/>
            <a:ext cx="7209624" cy="5517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799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16688" y="3125972"/>
            <a:ext cx="22774941" cy="10316979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625437" y="3270935"/>
            <a:ext cx="21403886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Descrição – Propriedade “</a:t>
            </a:r>
            <a:r>
              <a:rPr lang="pt-BR" sz="7200" b="1" dirty="0" err="1"/>
              <a:t>Comment</a:t>
            </a:r>
            <a:r>
              <a:rPr lang="pt-BR" sz="7200" b="1" dirty="0"/>
              <a:t>”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Tabela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F79A890-773E-4990-B2CC-E940022282DD}"/>
              </a:ext>
            </a:extLst>
          </p:cNvPr>
          <p:cNvSpPr txBox="1"/>
          <p:nvPr/>
        </p:nvSpPr>
        <p:spPr>
          <a:xfrm>
            <a:off x="1263131" y="3806456"/>
            <a:ext cx="21766192" cy="11439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algn="just">
              <a:buFont typeface="Wingdings" panose="05000000000000000000" pitchFamily="2" charset="2"/>
              <a:buChar char="ü"/>
            </a:pPr>
            <a:endParaRPr lang="pt-BR" altLang="pt-BR" sz="48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6600" dirty="0"/>
              <a:t>Perguntas que um conceito deve responder: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600" dirty="0"/>
              <a:t>O que é o objeto?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600" dirty="0"/>
              <a:t>O que faz o objeto?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600" dirty="0"/>
              <a:t>Para que serve?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600" dirty="0"/>
              <a:t>O que engloba essa categoria de objeto?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600" dirty="0"/>
              <a:t>O que está excluído dessa categoria?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600" dirty="0"/>
              <a:t>Quando alguém ou algo passa a ser, ou deixa de ser, um objeto desse tipo?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altLang="pt-BR" sz="6600" dirty="0"/>
              <a:t>Sua permanência nessa categoria é imutável?</a:t>
            </a:r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0321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49526"/>
            <a:ext cx="23042085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68643" y="3155950"/>
            <a:ext cx="21403886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Descrição – Propriedade “</a:t>
            </a:r>
            <a:r>
              <a:rPr lang="pt-BR" sz="7200" b="1" dirty="0" err="1"/>
              <a:t>Comment</a:t>
            </a:r>
            <a:r>
              <a:rPr lang="pt-BR" sz="7200" b="1" dirty="0"/>
              <a:t>”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Tabela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30AFD5-DCC3-414E-A17A-8CF1D926485D}"/>
              </a:ext>
            </a:extLst>
          </p:cNvPr>
          <p:cNvSpPr txBox="1">
            <a:spLocks noChangeArrowheads="1"/>
          </p:cNvSpPr>
          <p:nvPr/>
        </p:nvSpPr>
        <p:spPr>
          <a:xfrm>
            <a:off x="1372139" y="4498975"/>
            <a:ext cx="21126353" cy="47180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Cada entidade necessita ser conceituada, de forma clara e precisa;</a:t>
            </a:r>
          </a:p>
          <a:p>
            <a:pPr algn="just"/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Sua descrição deverá ser capaz de possibilitar um completo entendimento do conceito que ele procura transmitir; </a:t>
            </a:r>
          </a:p>
          <a:p>
            <a:pPr algn="just"/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Deve indicar claramente os objetos que fazem parte da entidade.</a:t>
            </a:r>
          </a:p>
          <a:p>
            <a:pPr marL="0" indent="0" algn="just">
              <a:buNone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0" indent="0" algn="just">
              <a:buNone/>
            </a:pPr>
            <a:r>
              <a:rPr lang="pt-PT" altLang="pt-BR" sz="6600" baseline="30000" dirty="0">
                <a:solidFill>
                  <a:srgbClr val="FF0000"/>
                </a:solidFill>
                <a:latin typeface="Tw Cen MT" panose="020B0602020104020603" pitchFamily="34" charset="77"/>
                <a:cs typeface="Arial" charset="0"/>
              </a:rPr>
              <a:t>Descrição INADEQUADA:</a:t>
            </a:r>
          </a:p>
          <a:p>
            <a:pPr marL="914400" lvl="1" indent="0" algn="just">
              <a:buNone/>
            </a:pPr>
            <a:r>
              <a:rPr lang="pt-PT" altLang="pt-BR" sz="6600" baseline="30000" dirty="0">
                <a:solidFill>
                  <a:srgbClr val="FF0000"/>
                </a:solidFill>
                <a:latin typeface="Tw Cen MT" panose="020B0602020104020603" pitchFamily="34" charset="77"/>
                <a:cs typeface="Arial" charset="0"/>
              </a:rPr>
              <a:t>“Tabela que armazenará as operações de crédito.”</a:t>
            </a:r>
          </a:p>
          <a:p>
            <a:pPr marL="914400" lvl="1" indent="0" algn="just">
              <a:buNone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0" indent="0" algn="just">
              <a:buNone/>
            </a:pPr>
            <a:r>
              <a:rPr lang="pt-PT" altLang="pt-BR" sz="6600" baseline="30000" dirty="0">
                <a:solidFill>
                  <a:schemeClr val="accent1"/>
                </a:solidFill>
                <a:latin typeface="Tw Cen MT" panose="020B0602020104020603" pitchFamily="34" charset="77"/>
                <a:cs typeface="Arial" charset="0"/>
              </a:rPr>
              <a:t>Descrição ADEQUADA:</a:t>
            </a:r>
          </a:p>
          <a:p>
            <a:pPr marL="914400" lvl="1" indent="0" algn="just">
              <a:buNone/>
            </a:pPr>
            <a:r>
              <a:rPr lang="pt-PT" altLang="pt-BR" sz="6000" baseline="30000" dirty="0">
                <a:solidFill>
                  <a:schemeClr val="accent1"/>
                </a:solidFill>
                <a:latin typeface="Tw Cen MT" panose="020B0602020104020603" pitchFamily="34" charset="77"/>
                <a:cs typeface="Arial" charset="0"/>
              </a:rPr>
              <a:t>“Contrato para financiamento de obras de engenharia em empreendimentos participantes de programas de fomento da CAIXA. Alternativamente, os recursos financeiros usados na obra podem ter origem externa, como, por exemplo, o Orçamento Geral da União.”</a:t>
            </a:r>
          </a:p>
        </p:txBody>
      </p:sp>
    </p:spTree>
    <p:extLst>
      <p:ext uri="{BB962C8B-B14F-4D97-AF65-F5344CB8AC3E}">
        <p14:creationId xmlns:p14="http://schemas.microsoft.com/office/powerpoint/2010/main" val="4178069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49526"/>
            <a:ext cx="23042085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68643" y="3155950"/>
            <a:ext cx="21403886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Volumetria – Propriedade “</a:t>
            </a:r>
            <a:r>
              <a:rPr lang="pt-BR" sz="7200" b="1" dirty="0" err="1"/>
              <a:t>Number</a:t>
            </a:r>
            <a:r>
              <a:rPr lang="pt-BR" sz="7200" b="1" dirty="0"/>
              <a:t>”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Tabela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30AFD5-DCC3-414E-A17A-8CF1D926485D}"/>
              </a:ext>
            </a:extLst>
          </p:cNvPr>
          <p:cNvSpPr txBox="1">
            <a:spLocks noChangeArrowheads="1"/>
          </p:cNvSpPr>
          <p:nvPr/>
        </p:nvSpPr>
        <p:spPr>
          <a:xfrm>
            <a:off x="1372139" y="4498975"/>
            <a:ext cx="21126353" cy="47180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  tabela deve ter informações sobre volume  e  expectativa  de  crescimento;</a:t>
            </a:r>
          </a:p>
          <a:p>
            <a:pPr algn="just"/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Preencher no campo “</a:t>
            </a:r>
            <a:r>
              <a:rPr lang="pt-BR" alt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Number</a:t>
            </a: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o Volume de dados previsto em quantidade de linhas;</a:t>
            </a:r>
          </a:p>
          <a:p>
            <a:pPr algn="just"/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Preencher no campo “Row </a:t>
            </a:r>
            <a:r>
              <a:rPr lang="pt-BR" alt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Growth</a:t>
            </a: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Rate” a expectativa de crescimento da informação ao ano.</a:t>
            </a: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6576947-3C16-48ED-8335-89C149B26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132" y="6841195"/>
            <a:ext cx="11801840" cy="612267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1192EAEC-A84E-450C-A3BD-A8CBB557A96D}"/>
              </a:ext>
            </a:extLst>
          </p:cNvPr>
          <p:cNvSpPr/>
          <p:nvPr/>
        </p:nvSpPr>
        <p:spPr>
          <a:xfrm>
            <a:off x="4737810" y="10000809"/>
            <a:ext cx="7209624" cy="237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877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49526"/>
            <a:ext cx="23042085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68643" y="3155950"/>
            <a:ext cx="21403886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Volumetria – Propriedade “</a:t>
            </a:r>
            <a:r>
              <a:rPr lang="pt-BR" sz="7200" b="1" dirty="0" err="1"/>
              <a:t>Number</a:t>
            </a:r>
            <a:r>
              <a:rPr lang="pt-BR" sz="7200" b="1" dirty="0"/>
              <a:t>”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Tabela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30AFD5-DCC3-414E-A17A-8CF1D926485D}"/>
              </a:ext>
            </a:extLst>
          </p:cNvPr>
          <p:cNvSpPr txBox="1">
            <a:spLocks noChangeArrowheads="1"/>
          </p:cNvSpPr>
          <p:nvPr/>
        </p:nvSpPr>
        <p:spPr>
          <a:xfrm>
            <a:off x="1372139" y="4498975"/>
            <a:ext cx="21126353" cy="47180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  tabela deve ter informações sobre volume  e  expectativa  de  crescimento;</a:t>
            </a:r>
          </a:p>
          <a:p>
            <a:pPr algn="just"/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Preencher no campo “</a:t>
            </a:r>
            <a:r>
              <a:rPr lang="pt-BR" alt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Number</a:t>
            </a: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o Volume de dados previsto em quantidade de linhas;</a:t>
            </a:r>
          </a:p>
          <a:p>
            <a:pPr algn="just"/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Preencher no campo “Row </a:t>
            </a:r>
            <a:r>
              <a:rPr lang="pt-BR" alt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Growth</a:t>
            </a: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Rate” a expectativa de crescimento da informação ao ano.</a:t>
            </a: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6576947-3C16-48ED-8335-89C149B26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132" y="6841195"/>
            <a:ext cx="11801840" cy="612267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1192EAEC-A84E-450C-A3BD-A8CBB557A96D}"/>
              </a:ext>
            </a:extLst>
          </p:cNvPr>
          <p:cNvSpPr/>
          <p:nvPr/>
        </p:nvSpPr>
        <p:spPr>
          <a:xfrm>
            <a:off x="4737810" y="10000809"/>
            <a:ext cx="7209624" cy="237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4781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49526"/>
            <a:ext cx="23042085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68643" y="3155950"/>
            <a:ext cx="21403886" cy="297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Ciclo de Vida – Política de Expurgo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Tabela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30AFD5-DCC3-414E-A17A-8CF1D926485D}"/>
              </a:ext>
            </a:extLst>
          </p:cNvPr>
          <p:cNvSpPr txBox="1">
            <a:spLocks noChangeArrowheads="1"/>
          </p:cNvSpPr>
          <p:nvPr/>
        </p:nvSpPr>
        <p:spPr>
          <a:xfrm>
            <a:off x="1372139" y="4498975"/>
            <a:ext cx="21126353" cy="47180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  tabela deve ter o Ciclo de Vida especificado, informando:</a:t>
            </a:r>
          </a:p>
          <a:p>
            <a:pPr lvl="1" algn="just"/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Regra para migração do dado online;</a:t>
            </a:r>
          </a:p>
          <a:p>
            <a:pPr lvl="1" algn="just"/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Regra para eliminação definitiva do dado.</a:t>
            </a: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7DC30A-F15D-4109-B7A6-CDA559C94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43" y="7104064"/>
            <a:ext cx="10391775" cy="539115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F996030-6094-418C-BE30-21CA11D19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285" y="6995321"/>
            <a:ext cx="10391775" cy="5391150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5B1B1556-10E9-463B-8B3D-7F92E1AA7B4C}"/>
              </a:ext>
            </a:extLst>
          </p:cNvPr>
          <p:cNvSpPr/>
          <p:nvPr/>
        </p:nvSpPr>
        <p:spPr>
          <a:xfrm>
            <a:off x="2426410" y="7599581"/>
            <a:ext cx="1039804" cy="306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B2A6F76-9E3B-4BC0-9A63-BF772241E624}"/>
              </a:ext>
            </a:extLst>
          </p:cNvPr>
          <p:cNvSpPr/>
          <p:nvPr/>
        </p:nvSpPr>
        <p:spPr>
          <a:xfrm>
            <a:off x="17191839" y="8172260"/>
            <a:ext cx="5549725" cy="3736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497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49526"/>
            <a:ext cx="23042085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68643" y="3155950"/>
            <a:ext cx="21403886" cy="297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Proteção de Dados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Tabela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30AFD5-DCC3-414E-A17A-8CF1D926485D}"/>
              </a:ext>
            </a:extLst>
          </p:cNvPr>
          <p:cNvSpPr txBox="1">
            <a:spLocks noChangeArrowheads="1"/>
          </p:cNvSpPr>
          <p:nvPr/>
        </p:nvSpPr>
        <p:spPr>
          <a:xfrm>
            <a:off x="965146" y="4078522"/>
            <a:ext cx="21126353" cy="47180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  tabela deve informar se armazenará dados pessoais, para tratamento de acordo com a LGPD (Lei Geral de Proteção de Dados):</a:t>
            </a:r>
          </a:p>
          <a:p>
            <a:pPr lvl="1" algn="just"/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Selecionar se possui ou não possui dados pessoais;</a:t>
            </a:r>
          </a:p>
          <a:p>
            <a:pPr lvl="1" algn="just"/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Caso a tabela possua dados pessoais, o atributo que reterá essa informação deverá ser detalhado.</a:t>
            </a: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7DC30A-F15D-4109-B7A6-CDA559C94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43" y="7104064"/>
            <a:ext cx="10391775" cy="5391150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5B1B1556-10E9-463B-8B3D-7F92E1AA7B4C}"/>
              </a:ext>
            </a:extLst>
          </p:cNvPr>
          <p:cNvSpPr/>
          <p:nvPr/>
        </p:nvSpPr>
        <p:spPr>
          <a:xfrm>
            <a:off x="2426410" y="7599581"/>
            <a:ext cx="1039804" cy="306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6E342AA-DC2E-4C05-A5C4-6751EF8B1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1269" y="7104064"/>
            <a:ext cx="1039177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80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49526"/>
            <a:ext cx="23042085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168643" y="3155950"/>
            <a:ext cx="21403886" cy="297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Classificação da Informação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Tabela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30AFD5-DCC3-414E-A17A-8CF1D926485D}"/>
              </a:ext>
            </a:extLst>
          </p:cNvPr>
          <p:cNvSpPr txBox="1">
            <a:spLocks noChangeArrowheads="1"/>
          </p:cNvSpPr>
          <p:nvPr/>
        </p:nvSpPr>
        <p:spPr>
          <a:xfrm>
            <a:off x="713686" y="4219203"/>
            <a:ext cx="21126353" cy="47180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  tabela deve informar a classificação da informação que está sendo armazenada, de acordo com a especificação da área gestora.</a:t>
            </a: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D25AB79-F5C1-45D9-AA09-27A7C3450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105" y="6428523"/>
            <a:ext cx="12685749" cy="6581241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D1BD2807-C543-455F-BBB2-B838489982D0}"/>
              </a:ext>
            </a:extLst>
          </p:cNvPr>
          <p:cNvSpPr/>
          <p:nvPr/>
        </p:nvSpPr>
        <p:spPr>
          <a:xfrm>
            <a:off x="5261105" y="9892481"/>
            <a:ext cx="4627174" cy="3725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8754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49526"/>
            <a:ext cx="23042085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625437" y="3270935"/>
            <a:ext cx="21403886" cy="3944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Exercício:</a:t>
            </a:r>
            <a:endParaRPr lang="pt-BR" altLang="pt-BR" sz="48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Tabela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6FACF05-33F9-48C6-85CC-13951E39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45" y="4702401"/>
            <a:ext cx="22163777" cy="7786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Uma empresa de treinamento em informática ministra vários cursos de caráter técnico e gerencial;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cursos, que são identificados por um código, são considerados os melhores do mercado. Os cursos ‘Modelagem de Dados’ e ‘Modelagem Multidimensional’ são alguns dos mais procurados;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duração de cada curso pode variar de um a cinco dias; 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instrutores são especialistas, sendo que Alexandre Silva e Vagner Ramos são os mais experientes. Um instrutor pode ministrar vários cursos; 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Quando a empresa cria um curso aloca um instrutor para o mesmo. Os alunos podem matricular-se em vários cursos, e isso é um procedimento comum. 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A2436EE-AF7B-405F-B85B-44C9A8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3745" y="3270935"/>
            <a:ext cx="22857877" cy="108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Identifique as Entidades e Atribua Nome e Conceito</a:t>
            </a:r>
          </a:p>
        </p:txBody>
      </p:sp>
    </p:spTree>
    <p:extLst>
      <p:ext uri="{BB962C8B-B14F-4D97-AF65-F5344CB8AC3E}">
        <p14:creationId xmlns:p14="http://schemas.microsoft.com/office/powerpoint/2010/main" val="3384143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49526"/>
            <a:ext cx="23042085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Tipos de </a:t>
            </a:r>
            <a:r>
              <a:rPr lang="en-US" sz="6600" dirty="0" err="1">
                <a:latin typeface="Tw Cen MT" panose="020B0602020104020603" pitchFamily="34" charset="77"/>
              </a:rPr>
              <a:t>Tabelas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6FACF05-33F9-48C6-85CC-13951E39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593" y="4218600"/>
            <a:ext cx="21169682" cy="984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Classificadora/Tipificação;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Transacional;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Log/Auditoria;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Histórico;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Histórico Temporal;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Histórico do Dado;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Auxiliar;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Estatística/Resumo/Sumarização.</a:t>
            </a:r>
          </a:p>
          <a:p>
            <a:pPr algn="just">
              <a:spcAft>
                <a:spcPts val="1800"/>
              </a:spcAft>
              <a:defRPr/>
            </a:pP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690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849526"/>
            <a:ext cx="23551977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Tipos de </a:t>
            </a:r>
            <a:r>
              <a:rPr lang="en-US" sz="6600" dirty="0" err="1">
                <a:latin typeface="Tw Cen MT" panose="020B0602020104020603" pitchFamily="34" charset="77"/>
              </a:rPr>
              <a:t>Tabelas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6FACF05-33F9-48C6-85CC-13951E39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834" y="4456181"/>
            <a:ext cx="20953054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 tabela classificadora opera segundo duas ou mais propriedades do objeto que está sendo classificado;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Sua definição se baseia na classificação do objeto;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Mesmo que a tabela seja referenciada em múltiplas funções, processos, áreas de negócio da CAIXA e/ou visões particulares dos sistemas, ainda assim seu conceito permanece estável.</a:t>
            </a: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A2436EE-AF7B-405F-B85B-44C9A8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843" y="3196306"/>
            <a:ext cx="22857877" cy="108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Classificadora/Tipificação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A381A0B-4BC1-4A2F-BBB8-17916CCB80F2}"/>
              </a:ext>
            </a:extLst>
          </p:cNvPr>
          <p:cNvSpPr/>
          <p:nvPr/>
        </p:nvSpPr>
        <p:spPr>
          <a:xfrm>
            <a:off x="14226363" y="10519694"/>
            <a:ext cx="8430856" cy="2193007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EEA0560-5066-F272-E6D6-8AE937A76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289" y="10099199"/>
            <a:ext cx="19970983" cy="29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0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24743" y="2849526"/>
            <a:ext cx="23551977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Tipos de </a:t>
            </a:r>
            <a:r>
              <a:rPr lang="en-US" sz="6600" dirty="0" err="1">
                <a:latin typeface="Tw Cen MT" panose="020B0602020104020603" pitchFamily="34" charset="77"/>
              </a:rPr>
              <a:t>Tabelas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6FACF05-33F9-48C6-85CC-13951E39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834" y="4456181"/>
            <a:ext cx="22857876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onde ocorrem os fluxos negociais da aplicação;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Possui dados negociais e necessários para o funcionamento da aplicação;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dados contidos nesta tabela que não são mais necessários nas operações transacionais devem ser </a:t>
            </a:r>
            <a:r>
              <a:rPr lang="pt-BR" sz="66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analisados e movidos 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para uma tabela auxiliar/fita ou expurgados definitivamente, caso este ciclo de vida tenha terminado, conforme regra de negócio.</a:t>
            </a: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A2436EE-AF7B-405F-B85B-44C9A8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843" y="3196306"/>
            <a:ext cx="22857877" cy="108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Transacional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A381A0B-4BC1-4A2F-BBB8-17916CCB80F2}"/>
              </a:ext>
            </a:extLst>
          </p:cNvPr>
          <p:cNvSpPr/>
          <p:nvPr/>
        </p:nvSpPr>
        <p:spPr>
          <a:xfrm>
            <a:off x="2482440" y="8472990"/>
            <a:ext cx="8974808" cy="3492828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0288F43-1C3C-D218-92FF-9D6A923C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289" y="8831181"/>
            <a:ext cx="19970983" cy="29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79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24743" y="2849526"/>
            <a:ext cx="23551977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Tipos de </a:t>
            </a:r>
            <a:r>
              <a:rPr lang="en-US" sz="6600" dirty="0" err="1">
                <a:latin typeface="Tw Cen MT" panose="020B0602020104020603" pitchFamily="34" charset="77"/>
              </a:rPr>
              <a:t>Tabelas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6FACF05-33F9-48C6-85CC-13951E39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184" y="4288313"/>
            <a:ext cx="16219035" cy="8925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onde armazena informações sobre as ações executadas (quem fez, quando fez e o que fez?):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Tipo da Ação no objeto (Inclusão, Alteração, Exclusão, Consulta);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Autor da Ação;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Data e Hora da ação;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Se destina a consultas tanto de auditores quanto de gestores de sistema;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Somente sofre inserção e consulta de dados, sendo pouco consultadas;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existe obrigatoriedade de implementação de Integridade Referencial (FK) nem de Domínio (tabela de classificação).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A2436EE-AF7B-405F-B85B-44C9A8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843" y="3196306"/>
            <a:ext cx="22857877" cy="108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Log/Auditoria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B5418EB-A23A-4D45-8552-11665A783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1191" y="10743037"/>
            <a:ext cx="6128479" cy="174611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929E6BF-0D21-0DBA-1343-194175045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878" y="6654168"/>
            <a:ext cx="6374411" cy="2031081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C286D3E0-5ABD-9A8F-95D9-87DD18D64042}"/>
              </a:ext>
            </a:extLst>
          </p:cNvPr>
          <p:cNvSpPr/>
          <p:nvPr/>
        </p:nvSpPr>
        <p:spPr>
          <a:xfrm>
            <a:off x="20219992" y="9186530"/>
            <a:ext cx="917534" cy="8506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2D72094-A64B-77FD-C3DE-848FD9608144}"/>
              </a:ext>
            </a:extLst>
          </p:cNvPr>
          <p:cNvSpPr/>
          <p:nvPr/>
        </p:nvSpPr>
        <p:spPr>
          <a:xfrm>
            <a:off x="17462442" y="10374827"/>
            <a:ext cx="6125282" cy="2280717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718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24743" y="2849526"/>
            <a:ext cx="23551977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Tipos de </a:t>
            </a:r>
            <a:r>
              <a:rPr lang="en-US" sz="6600" dirty="0" err="1">
                <a:latin typeface="Tw Cen MT" panose="020B0602020104020603" pitchFamily="34" charset="77"/>
              </a:rPr>
              <a:t>Tabelas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6FACF05-33F9-48C6-85CC-13951E39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93" y="4523709"/>
            <a:ext cx="2285787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Possui estrutura idêntica à tabela de origem acrescida das seguintes colunas: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Marca  de  tempo (TIMESTAMP, DATE,  etc.) fazendo  parte  de sua Chave  Primária(PK);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Usuário que atualizou a informação na tabela de origem;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Tipo de atualização efetuada (Inclusão / Alteração / Exclusão) na tabela de origem;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possui relacionamento, integridade referencial, com a tabela de origem.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A2436EE-AF7B-405F-B85B-44C9A8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843" y="3196306"/>
            <a:ext cx="22857877" cy="108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Histórico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78F46156-8A1E-4B11-969C-A3FF8C92AD60}"/>
              </a:ext>
            </a:extLst>
          </p:cNvPr>
          <p:cNvSpPr/>
          <p:nvPr/>
        </p:nvSpPr>
        <p:spPr>
          <a:xfrm>
            <a:off x="9732441" y="10371373"/>
            <a:ext cx="1007157" cy="5417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94BF7C77-0FD2-40A1-B28B-F0D7E1997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187" y="12305397"/>
            <a:ext cx="5490329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Transacional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CB603DF9-2CAA-454C-9C61-2018F633C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00731" y="12357579"/>
            <a:ext cx="5490329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Histórico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5909C4D-E87B-722E-65F4-9526E2203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673" y="9377047"/>
            <a:ext cx="7911571" cy="252086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C687A4F-D1F5-5E4B-1EF3-9B935D201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4673" y="9333346"/>
            <a:ext cx="6895093" cy="285533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4B767933-47FF-A71F-0C98-B1972572AEA4}"/>
              </a:ext>
            </a:extLst>
          </p:cNvPr>
          <p:cNvSpPr/>
          <p:nvPr/>
        </p:nvSpPr>
        <p:spPr>
          <a:xfrm>
            <a:off x="11568223" y="9009366"/>
            <a:ext cx="7274303" cy="3348213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375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24743" y="2849526"/>
            <a:ext cx="23551977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Tipos de </a:t>
            </a:r>
            <a:r>
              <a:rPr lang="en-US" sz="6600" dirty="0" err="1">
                <a:latin typeface="Tw Cen MT" panose="020B0602020104020603" pitchFamily="34" charset="77"/>
              </a:rPr>
              <a:t>Tabelas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6FACF05-33F9-48C6-85CC-13951E39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93" y="4707850"/>
            <a:ext cx="22857876" cy="8017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Registro de temporalidade de atualização de uma informação válida gerenciado automaticamente pelos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SGBDs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DB2 e SQL Server 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tabela de histórico temporal possui estrutura idêntica à tabela de origem, contendo: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intervalo de tempo, definido por duas colunas do tipo de dados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Datetime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as quais significam o Inicio e o Término do período de validade da informação (System Time);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 informação atualizada na Tabela de Origem é refletida na Tabela de histórico temporal de forma automática pelo SGBD;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Através dessa construção, é possível voltar no tempo e recuperar informações para qualquer ponto do passado;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possui relacionamento / integridade referencial com a tabela de origem.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A2436EE-AF7B-405F-B85B-44C9A8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843" y="3196306"/>
            <a:ext cx="22857877" cy="108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Histórico Temporal</a:t>
            </a:r>
          </a:p>
        </p:txBody>
      </p:sp>
    </p:spTree>
    <p:extLst>
      <p:ext uri="{BB962C8B-B14F-4D97-AF65-F5344CB8AC3E}">
        <p14:creationId xmlns:p14="http://schemas.microsoft.com/office/powerpoint/2010/main" val="3417936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171445" y="2802921"/>
            <a:ext cx="23551977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Tem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Tipos de </a:t>
            </a:r>
            <a:r>
              <a:rPr lang="en-US" sz="6600" dirty="0" err="1">
                <a:latin typeface="Tw Cen MT" panose="020B0602020104020603" pitchFamily="34" charset="77"/>
              </a:rPr>
              <a:t>Tabelas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A2436EE-AF7B-405F-B85B-44C9A8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843" y="3196306"/>
            <a:ext cx="22857877" cy="108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DB2 - Tabela de Histórico Temporal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F4318E9-778C-58DF-E856-084E58A11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48" y="4556968"/>
            <a:ext cx="7320676" cy="2417991"/>
          </a:xfrm>
          <a:prstGeom prst="rect">
            <a:avLst/>
          </a:prstGeom>
        </p:spPr>
      </p:pic>
      <p:sp>
        <p:nvSpPr>
          <p:cNvPr id="9" name="Text Box 7">
            <a:extLst>
              <a:ext uri="{FF2B5EF4-FFF2-40B4-BE49-F238E27FC236}">
                <a16:creationId xmlns:a16="http://schemas.microsoft.com/office/drawing/2014/main" id="{6D119502-B696-AB37-A848-67E425B52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829" y="7164640"/>
            <a:ext cx="5490329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Transacional</a:t>
            </a: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29A7AB11-AD1C-1C4E-3B24-D7801A6E5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75988" y="7254922"/>
            <a:ext cx="6994861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Histórico Temporal 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28F9F27-3C56-63FF-8DA7-B25A0D6BB1D0}"/>
              </a:ext>
            </a:extLst>
          </p:cNvPr>
          <p:cNvSpPr/>
          <p:nvPr/>
        </p:nvSpPr>
        <p:spPr>
          <a:xfrm>
            <a:off x="11775988" y="4345067"/>
            <a:ext cx="6994861" cy="2819573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D0705482-F4A4-E9DE-012E-6377CAC96123}"/>
              </a:ext>
            </a:extLst>
          </p:cNvPr>
          <p:cNvSpPr/>
          <p:nvPr/>
        </p:nvSpPr>
        <p:spPr>
          <a:xfrm>
            <a:off x="9493851" y="5684782"/>
            <a:ext cx="1007157" cy="5417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AADCAEE-0CDA-6FAE-6F47-9DF354EBD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223" y="8081109"/>
            <a:ext cx="9648026" cy="5005300"/>
          </a:xfrm>
          <a:prstGeom prst="rect">
            <a:avLst/>
          </a:prstGeom>
        </p:spPr>
      </p:pic>
      <p:sp>
        <p:nvSpPr>
          <p:cNvPr id="22" name="Text Box 7">
            <a:extLst>
              <a:ext uri="{FF2B5EF4-FFF2-40B4-BE49-F238E27FC236}">
                <a16:creationId xmlns:a16="http://schemas.microsoft.com/office/drawing/2014/main" id="{0192EA91-E163-F935-D73C-4FDEFB3D3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99478" y="12036671"/>
            <a:ext cx="5490329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Power Designer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843A4C3-5861-4AE1-D432-65531FF76FE6}"/>
              </a:ext>
            </a:extLst>
          </p:cNvPr>
          <p:cNvSpPr/>
          <p:nvPr/>
        </p:nvSpPr>
        <p:spPr>
          <a:xfrm>
            <a:off x="12014792" y="8571891"/>
            <a:ext cx="382772" cy="162059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8F752FFC-9162-5B86-8E3F-76B0029AA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9706" y="4556968"/>
            <a:ext cx="6641884" cy="237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57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171445" y="2802921"/>
            <a:ext cx="23551977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Tem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Tipos de </a:t>
            </a:r>
            <a:r>
              <a:rPr lang="en-US" sz="6600" dirty="0" err="1">
                <a:latin typeface="Tw Cen MT" panose="020B0602020104020603" pitchFamily="34" charset="77"/>
              </a:rPr>
              <a:t>Tabelas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A2436EE-AF7B-405F-B85B-44C9A8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843" y="3196306"/>
            <a:ext cx="22857877" cy="108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SQL Server - Tabela de Histórico Temporal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6D119502-B696-AB37-A848-67E425B52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829" y="7164640"/>
            <a:ext cx="5490329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Transacional</a:t>
            </a: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29A7AB11-AD1C-1C4E-3B24-D7801A6E5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75988" y="7254922"/>
            <a:ext cx="6994861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Histórico Temporal 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28F9F27-3C56-63FF-8DA7-B25A0D6BB1D0}"/>
              </a:ext>
            </a:extLst>
          </p:cNvPr>
          <p:cNvSpPr/>
          <p:nvPr/>
        </p:nvSpPr>
        <p:spPr>
          <a:xfrm>
            <a:off x="12200731" y="4451018"/>
            <a:ext cx="5853354" cy="2713622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D0705482-F4A4-E9DE-012E-6377CAC96123}"/>
              </a:ext>
            </a:extLst>
          </p:cNvPr>
          <p:cNvSpPr/>
          <p:nvPr/>
        </p:nvSpPr>
        <p:spPr>
          <a:xfrm>
            <a:off x="9004756" y="5684782"/>
            <a:ext cx="1007157" cy="5417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0192EA91-E163-F935-D73C-4FDEFB3D3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96110" y="11837770"/>
            <a:ext cx="5490329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Power Designer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C475A6B-342B-00F6-7EEE-B9571C3E7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437" y="4704197"/>
            <a:ext cx="5438058" cy="226019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C6D6AAB-1703-5C69-61E1-3142A59D9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614" y="8049711"/>
            <a:ext cx="11112198" cy="5175039"/>
          </a:xfrm>
          <a:prstGeom prst="rect">
            <a:avLst/>
          </a:prstGeom>
        </p:spPr>
      </p:pic>
      <p:sp>
        <p:nvSpPr>
          <p:cNvPr id="24" name="Retângulo 23">
            <a:extLst>
              <a:ext uri="{FF2B5EF4-FFF2-40B4-BE49-F238E27FC236}">
                <a16:creationId xmlns:a16="http://schemas.microsoft.com/office/drawing/2014/main" id="{DCB47BA9-578F-4A38-8F86-D9BCBDEBA900}"/>
              </a:ext>
            </a:extLst>
          </p:cNvPr>
          <p:cNvSpPr/>
          <p:nvPr/>
        </p:nvSpPr>
        <p:spPr>
          <a:xfrm>
            <a:off x="15865071" y="8770987"/>
            <a:ext cx="765543" cy="295662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4D5B7ED1-3CEA-5B7C-D397-EEFD75808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1358" y="4652081"/>
            <a:ext cx="5252484" cy="231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839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24743" y="2849526"/>
            <a:ext cx="23551977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Tipos de </a:t>
            </a:r>
            <a:r>
              <a:rPr lang="en-US" sz="6600" dirty="0" err="1">
                <a:latin typeface="Tw Cen MT" panose="020B0602020104020603" pitchFamily="34" charset="77"/>
              </a:rPr>
              <a:t>Tabelas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6FACF05-33F9-48C6-85CC-13951E39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843" y="4280072"/>
            <a:ext cx="2184748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Quando  as  regras  de  negócio  definem  a  necessidade  de  guardar  as  alterações  de  domínios  ocorridas  em uma  única  coluna  é  recomendada  a  criação  de  uma  tabela  filha com  uma  coluna  de  marca de tempo na sua Chave Primária (PK).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A2436EE-AF7B-405F-B85B-44C9A8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843" y="3196306"/>
            <a:ext cx="22857877" cy="108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de Histórico do Dado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71152F5-E876-42F7-95B2-6203E1332EF0}"/>
              </a:ext>
            </a:extLst>
          </p:cNvPr>
          <p:cNvSpPr/>
          <p:nvPr/>
        </p:nvSpPr>
        <p:spPr>
          <a:xfrm>
            <a:off x="4742120" y="7679562"/>
            <a:ext cx="6698514" cy="2123658"/>
          </a:xfrm>
          <a:prstGeom prst="rect">
            <a:avLst/>
          </a:prstGeom>
          <a:noFill/>
          <a:ln w="698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D3BA1A79-A393-45AF-923B-9EED26537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14" y="8260969"/>
            <a:ext cx="4474066" cy="834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54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Histórico do Dado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DD14E2B-7100-C959-B784-379CE8746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318" y="7866066"/>
            <a:ext cx="14450531" cy="557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83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24743" y="2849526"/>
            <a:ext cx="23551977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Tipos de </a:t>
            </a:r>
            <a:r>
              <a:rPr lang="en-US" sz="6600" dirty="0" err="1">
                <a:latin typeface="Tw Cen MT" panose="020B0602020104020603" pitchFamily="34" charset="77"/>
              </a:rPr>
              <a:t>Tabelas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6FACF05-33F9-48C6-85CC-13951E39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748" y="4508769"/>
            <a:ext cx="22527966" cy="5524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Recebe registros da tabela transacional com criticidade (volume de acessos ou de registros), de acordo com a regra de negócio;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Possui estrutura idêntica à da tabela de origem, incluindo a chave primária (PK), e toda alteração na tabela de origem deve obrigatoriamente ser refletida na tabela auxiliar;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possui relacionamento com a tabela de origem;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registros permanecerão nessa tabela de acordo com o ciclo de vida do dado definido pelo gestor.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A2436EE-AF7B-405F-B85B-44C9A8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843" y="3196306"/>
            <a:ext cx="22857877" cy="108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Auxiliar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665EC55E-AAE7-42D7-B692-C04F1DC6A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029" y="12456183"/>
            <a:ext cx="5490329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Transacional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1F109D89-0FA5-4062-B743-50668B74B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6110" y="12525388"/>
            <a:ext cx="5490329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Auxiliar</a:t>
            </a:r>
          </a:p>
        </p:txBody>
      </p:sp>
      <p:sp>
        <p:nvSpPr>
          <p:cNvPr id="23" name="Seta: para a Direita 22">
            <a:extLst>
              <a:ext uri="{FF2B5EF4-FFF2-40B4-BE49-F238E27FC236}">
                <a16:creationId xmlns:a16="http://schemas.microsoft.com/office/drawing/2014/main" id="{03197E79-31BA-4220-A46E-35965F056D75}"/>
              </a:ext>
            </a:extLst>
          </p:cNvPr>
          <p:cNvSpPr/>
          <p:nvPr/>
        </p:nvSpPr>
        <p:spPr>
          <a:xfrm>
            <a:off x="11193575" y="10993612"/>
            <a:ext cx="1007157" cy="5417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8D972FB-A2DD-B430-F0B4-D5E18B835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163" y="9967166"/>
            <a:ext cx="7911571" cy="252086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D0625A5-FCFA-4333-B47C-5CADDF436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0869" y="10155441"/>
            <a:ext cx="7576181" cy="230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08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24743" y="2849526"/>
            <a:ext cx="23551977" cy="1059342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Tipos de </a:t>
            </a:r>
            <a:r>
              <a:rPr lang="en-US" sz="6600" dirty="0" err="1">
                <a:latin typeface="Tw Cen MT" panose="020B0602020104020603" pitchFamily="34" charset="77"/>
              </a:rPr>
              <a:t>Tabelas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6FACF05-33F9-48C6-85CC-13951E39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748" y="4508769"/>
            <a:ext cx="22527966" cy="7340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que recebe dados derivados, ou seja, sofreram algum tipo de alteração em relação à informação original;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Recebe registros da tabela transacional agrupados com base nos valores idênticos de uma ou mais colunas-chave e realiza a contagem em cada grupo;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Indicada para processamento de registros da tabela transacional com criticidade (volume de acessos ou de registros), de acordo com a regra de negócio.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A2436EE-AF7B-405F-B85B-44C9A8F7A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8843" y="3196306"/>
            <a:ext cx="22857877" cy="1081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Estatística/Resumo/Sumarização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665EC55E-AAE7-42D7-B692-C04F1DC6A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6560" y="12524294"/>
            <a:ext cx="5490329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Transacional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1F109D89-0FA5-4062-B743-50668B74B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6110" y="12525388"/>
            <a:ext cx="5490329" cy="91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/>
            </a:pP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Sumarização</a:t>
            </a:r>
          </a:p>
        </p:txBody>
      </p:sp>
      <p:sp>
        <p:nvSpPr>
          <p:cNvPr id="23" name="Seta: para a Direita 22">
            <a:extLst>
              <a:ext uri="{FF2B5EF4-FFF2-40B4-BE49-F238E27FC236}">
                <a16:creationId xmlns:a16="http://schemas.microsoft.com/office/drawing/2014/main" id="{03197E79-31BA-4220-A46E-35965F056D75}"/>
              </a:ext>
            </a:extLst>
          </p:cNvPr>
          <p:cNvSpPr/>
          <p:nvPr/>
        </p:nvSpPr>
        <p:spPr>
          <a:xfrm>
            <a:off x="11193575" y="10993612"/>
            <a:ext cx="1007157" cy="5417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8D972FB-A2DD-B430-F0B4-D5E18B835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163" y="9967166"/>
            <a:ext cx="7911571" cy="252086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B80CC1B-B468-B53A-CF38-2A5B37211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5142" y="10323121"/>
            <a:ext cx="10947167" cy="220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245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80485" y="3125972"/>
            <a:ext cx="22711144" cy="9973339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625437" y="4101459"/>
            <a:ext cx="21766192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Definição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AC255CD-A717-480A-8BA9-0D9A8B8E2C0C}"/>
              </a:ext>
            </a:extLst>
          </p:cNvPr>
          <p:cNvSpPr txBox="1">
            <a:spLocks noChangeArrowheads="1"/>
          </p:cNvSpPr>
          <p:nvPr/>
        </p:nvSpPr>
        <p:spPr>
          <a:xfrm>
            <a:off x="1009834" y="5465307"/>
            <a:ext cx="20958902" cy="27432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São elementos de dados que conferem identificação e qualificação aos </a:t>
            </a: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objetos</a:t>
            </a:r>
            <a:r>
              <a:rPr lang="pt-PT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(de entidade e relacionamento);</a:t>
            </a:r>
          </a:p>
          <a:p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são ocorrências da Entidade mas sim propriedades inerentes a todas as ocorrências;</a:t>
            </a:r>
          </a:p>
          <a:p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Qualificam, identificam, quantificam ou expressam o estado </a:t>
            </a:r>
            <a:b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 uma entidade.</a:t>
            </a:r>
          </a:p>
        </p:txBody>
      </p:sp>
      <p:sp>
        <p:nvSpPr>
          <p:cNvPr id="34" name="AutoShape 5">
            <a:extLst>
              <a:ext uri="{FF2B5EF4-FFF2-40B4-BE49-F238E27FC236}">
                <a16:creationId xmlns:a16="http://schemas.microsoft.com/office/drawing/2014/main" id="{9E25C911-1C38-48F8-9EEB-405F99D3D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600" y="10069512"/>
            <a:ext cx="546967" cy="235282"/>
          </a:xfrm>
          <a:prstGeom prst="rightArrow">
            <a:avLst>
              <a:gd name="adj1" fmla="val 50000"/>
              <a:gd name="adj2" fmla="val 436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426AA728-57C5-426C-9D0B-D82807B1F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600" y="10605617"/>
            <a:ext cx="546967" cy="135740"/>
          </a:xfrm>
          <a:prstGeom prst="rightArrow">
            <a:avLst>
              <a:gd name="adj1" fmla="val 50000"/>
              <a:gd name="adj2" fmla="val 75714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673947B2-C96D-4B76-AD42-A5F248749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2799" y="9637712"/>
            <a:ext cx="1713143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pt-BR" altLang="pt-BR" sz="1900">
                <a:solidFill>
                  <a:srgbClr val="000000"/>
                </a:solidFill>
              </a:rPr>
              <a:t>EMPREGADO</a:t>
            </a:r>
            <a:endParaRPr lang="pt-BR" altLang="pt-BR" sz="1200"/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6995DAA7-F80A-4ECC-A0EF-37BCBD898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0888" y="10343643"/>
            <a:ext cx="3653282" cy="1472452"/>
          </a:xfrm>
          <a:prstGeom prst="rect">
            <a:avLst/>
          </a:prstGeom>
          <a:solidFill>
            <a:srgbClr val="FFCC00"/>
          </a:solidFill>
          <a:ln w="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BD42E3A2-EBE6-4160-91D9-59A543D4E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0889" y="9959975"/>
            <a:ext cx="3653282" cy="29238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pt-BR" altLang="pt-BR" sz="1900" b="0" dirty="0">
                <a:solidFill>
                  <a:srgbClr val="000000"/>
                </a:solidFill>
              </a:rPr>
              <a:t>Numero matricula empregado</a:t>
            </a:r>
            <a:endParaRPr lang="pt-BR" altLang="pt-BR" sz="1200" dirty="0"/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id="{394F5107-BB0D-4339-886E-26DA7733E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5694" y="10567988"/>
            <a:ext cx="2101840" cy="29238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pt-BR" altLang="pt-BR" sz="1900" b="0" dirty="0">
                <a:solidFill>
                  <a:srgbClr val="000000"/>
                </a:solidFill>
              </a:rPr>
              <a:t>Nome empregado</a:t>
            </a:r>
          </a:p>
        </p:txBody>
      </p:sp>
      <p:sp>
        <p:nvSpPr>
          <p:cNvPr id="40" name="Rectangle 14">
            <a:extLst>
              <a:ext uri="{FF2B5EF4-FFF2-40B4-BE49-F238E27FC236}">
                <a16:creationId xmlns:a16="http://schemas.microsoft.com/office/drawing/2014/main" id="{F3047C61-A205-49BE-8426-D533CDBE4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0625" y="10858500"/>
            <a:ext cx="2860639" cy="29238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pt-BR" altLang="pt-BR" sz="1900" b="0" dirty="0">
                <a:solidFill>
                  <a:srgbClr val="000000"/>
                </a:solidFill>
              </a:rPr>
              <a:t>Código sexo empregado</a:t>
            </a:r>
          </a:p>
        </p:txBody>
      </p:sp>
      <p:sp>
        <p:nvSpPr>
          <p:cNvPr id="41" name="Rectangle 15">
            <a:extLst>
              <a:ext uri="{FF2B5EF4-FFF2-40B4-BE49-F238E27FC236}">
                <a16:creationId xmlns:a16="http://schemas.microsoft.com/office/drawing/2014/main" id="{D24096BA-DBF2-4F62-8845-2A6CE9971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7474" y="11180763"/>
            <a:ext cx="1925499" cy="29238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pt-BR" altLang="pt-BR" sz="1900" b="0">
                <a:solidFill>
                  <a:srgbClr val="000000"/>
                </a:solidFill>
              </a:rPr>
              <a:t>CPF empregado</a:t>
            </a:r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3430333E-CD61-4DC2-A234-002B43249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0490" y="11436350"/>
            <a:ext cx="3368287" cy="29238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pt-BR" altLang="pt-BR" sz="1900" b="0">
                <a:solidFill>
                  <a:srgbClr val="000000"/>
                </a:solidFill>
              </a:rPr>
              <a:t>Data nascimento empregado</a:t>
            </a:r>
          </a:p>
        </p:txBody>
      </p:sp>
      <p:sp>
        <p:nvSpPr>
          <p:cNvPr id="43" name="AutoShape 17">
            <a:extLst>
              <a:ext uri="{FF2B5EF4-FFF2-40B4-BE49-F238E27FC236}">
                <a16:creationId xmlns:a16="http://schemas.microsoft.com/office/drawing/2014/main" id="{57EACB9F-D7BA-4B54-A3AA-DE53A434D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600" y="10910417"/>
            <a:ext cx="546967" cy="135740"/>
          </a:xfrm>
          <a:prstGeom prst="rightArrow">
            <a:avLst>
              <a:gd name="adj1" fmla="val 50000"/>
              <a:gd name="adj2" fmla="val 75714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4" name="AutoShape 18">
            <a:extLst>
              <a:ext uri="{FF2B5EF4-FFF2-40B4-BE49-F238E27FC236}">
                <a16:creationId xmlns:a16="http://schemas.microsoft.com/office/drawing/2014/main" id="{ECDB7713-6EDF-49CF-A41B-3B5A989D9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600" y="11200930"/>
            <a:ext cx="546967" cy="135740"/>
          </a:xfrm>
          <a:prstGeom prst="rightArrow">
            <a:avLst>
              <a:gd name="adj1" fmla="val 50000"/>
              <a:gd name="adj2" fmla="val 75714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5" name="AutoShape 19">
            <a:extLst>
              <a:ext uri="{FF2B5EF4-FFF2-40B4-BE49-F238E27FC236}">
                <a16:creationId xmlns:a16="http://schemas.microsoft.com/office/drawing/2014/main" id="{AB503A42-232B-4826-866B-C4AE0DDC5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600" y="11480330"/>
            <a:ext cx="546967" cy="135740"/>
          </a:xfrm>
          <a:prstGeom prst="rightArrow">
            <a:avLst>
              <a:gd name="adj1" fmla="val 50000"/>
              <a:gd name="adj2" fmla="val 75714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1573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3251391"/>
            <a:ext cx="23799871" cy="10191560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009834" y="3251391"/>
            <a:ext cx="21766192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Nomeação – Propriedade “</a:t>
            </a:r>
            <a:r>
              <a:rPr lang="pt-BR" sz="7200" b="1" dirty="0" err="1"/>
              <a:t>Name</a:t>
            </a:r>
            <a:r>
              <a:rPr lang="pt-BR" sz="7200" b="1" dirty="0"/>
              <a:t>”</a:t>
            </a:r>
          </a:p>
          <a:p>
            <a:pPr marL="0" indent="0" algn="just">
              <a:buNone/>
            </a:pPr>
            <a:endParaRPr lang="pt-BR" altLang="pt-BR" sz="4800" dirty="0"/>
          </a:p>
          <a:p>
            <a:pPr marL="0" indent="0" algn="just">
              <a:buNone/>
            </a:pPr>
            <a:endParaRPr lang="pt-BR" altLang="pt-BR" sz="6000" dirty="0"/>
          </a:p>
          <a:p>
            <a:pPr marL="0" indent="0" algn="just">
              <a:buNone/>
            </a:pPr>
            <a:endParaRPr lang="pt-BR" altLang="pt-BR" sz="6000" dirty="0"/>
          </a:p>
          <a:p>
            <a:pPr algn="just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F62B3E98-F5CC-4B35-94A9-08E87EB9603D}"/>
              </a:ext>
            </a:extLst>
          </p:cNvPr>
          <p:cNvSpPr txBox="1">
            <a:spLocks noChangeArrowheads="1"/>
          </p:cNvSpPr>
          <p:nvPr/>
        </p:nvSpPr>
        <p:spPr>
          <a:xfrm>
            <a:off x="680486" y="4560094"/>
            <a:ext cx="13089437" cy="4038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Utilizar um nome que seja de conhecimento do usuário e significativo para o negócio. </a:t>
            </a:r>
          </a:p>
          <a:p>
            <a:pPr algn="just"/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Esta nomeação deve ser única no Modelo de Dados. </a:t>
            </a:r>
          </a:p>
          <a:p>
            <a:pPr algn="just">
              <a:lnSpc>
                <a:spcPct val="100000"/>
              </a:lnSpc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nomeação do atributo deverá ocorrer no SINGULAR.</a:t>
            </a:r>
          </a:p>
          <a:p>
            <a:pPr algn="just">
              <a:lnSpc>
                <a:spcPct val="100000"/>
              </a:lnSpc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nomeação dos objetos deve seguir o padrão de 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Nomenclatura de Objetos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no Portal de Práticas.</a:t>
            </a:r>
          </a:p>
          <a:p>
            <a:pPr lvl="1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pt-PT" altLang="pt-BR" sz="5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 nomeação de atributo deve ser precedida de uma CLASSE DE ATRIBUTO que consiste em caracterizar o tipo de domínio identificado.</a:t>
            </a:r>
          </a:p>
          <a:p>
            <a:pPr algn="just"/>
            <a:r>
              <a:rPr lang="pt-PT" altLang="pt-BR" sz="6600" baseline="30000" dirty="0">
                <a:solidFill>
                  <a:srgbClr val="FF0000"/>
                </a:solidFill>
                <a:latin typeface="Tw Cen MT" panose="020B0602020104020603" pitchFamily="34" charset="77"/>
                <a:cs typeface="Arial" charset="0"/>
              </a:rPr>
              <a:t>Não há restrição em relação ao tamanho do nome do atributo/coluna. </a:t>
            </a:r>
          </a:p>
          <a:p>
            <a:pPr marL="0" indent="0" algn="just">
              <a:buNone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0C9A37A-4550-45FB-AB5B-7D282B12B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8968" y="4182092"/>
            <a:ext cx="6429910" cy="123402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7BAB9FA-1AB6-4730-904D-520AA586F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3877" y="7381087"/>
            <a:ext cx="8997752" cy="4667945"/>
          </a:xfrm>
          <a:prstGeom prst="rect">
            <a:avLst/>
          </a:prstGeom>
        </p:spPr>
      </p:pic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A915E163-A3D3-45BC-93CB-88BFE47099BB}"/>
              </a:ext>
            </a:extLst>
          </p:cNvPr>
          <p:cNvSpPr/>
          <p:nvPr/>
        </p:nvSpPr>
        <p:spPr>
          <a:xfrm>
            <a:off x="18561590" y="5648074"/>
            <a:ext cx="577015" cy="12099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0D685F1-5522-4EA1-B0AD-0987FFB547DC}"/>
              </a:ext>
            </a:extLst>
          </p:cNvPr>
          <p:cNvSpPr/>
          <p:nvPr/>
        </p:nvSpPr>
        <p:spPr>
          <a:xfrm>
            <a:off x="14694195" y="8442423"/>
            <a:ext cx="2998382" cy="3258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30027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579954" y="4201088"/>
            <a:ext cx="15599308" cy="94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 algn="just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ü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>
              <a:buFont typeface="Arial" panose="020B0604020202020204" pitchFamily="34" charset="0"/>
              <a:buChar char="•"/>
            </a:pPr>
            <a:r>
              <a:rPr lang="pt-PT" altLang="pt-BR" sz="6000" dirty="0"/>
              <a:t>Cada atributo necessita ser conceituado, de forma clara e precisa.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altLang="pt-BR" sz="6000" dirty="0"/>
              <a:t>Sua descrição deverá ser capaz de possibilitar um completo entendimento do conceito que procura transmitir e não pode estar restrito à sua nomeação.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altLang="pt-BR" sz="6000" dirty="0"/>
              <a:t>Uma boa prática é a inclusão de exemplos. Os exemplos não dispensam a necessidade de descrição, entretanto auxiliam o seu entendimento. </a:t>
            </a:r>
          </a:p>
          <a:p>
            <a:pPr marL="0" indent="0">
              <a:buNone/>
            </a:pPr>
            <a:r>
              <a:rPr lang="pt-PT" altLang="pt-BR" sz="6000" dirty="0">
                <a:solidFill>
                  <a:srgbClr val="FF0000"/>
                </a:solidFill>
              </a:rPr>
              <a:t>      </a:t>
            </a:r>
            <a:r>
              <a:rPr lang="pt-PT" altLang="pt-BR" sz="6000" b="1" dirty="0">
                <a:solidFill>
                  <a:srgbClr val="FF0000"/>
                </a:solidFill>
              </a:rPr>
              <a:t>Descrição INADEQUADA para o atributo DT_MOVIMENTO:</a:t>
            </a:r>
          </a:p>
          <a:p>
            <a:pPr lvl="1"/>
            <a:r>
              <a:rPr lang="pt-PT" altLang="pt-BR" sz="6000" baseline="30000" dirty="0">
                <a:solidFill>
                  <a:srgbClr val="FF0000"/>
                </a:solidFill>
                <a:latin typeface="Tw Cen MT" panose="020B0602020104020603" pitchFamily="34" charset="77"/>
                <a:cs typeface="Arial" charset="0"/>
              </a:rPr>
              <a:t>                   “Data do movimento.”</a:t>
            </a:r>
          </a:p>
          <a:p>
            <a:pPr lvl="1"/>
            <a:r>
              <a:rPr lang="pt-PT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</a:t>
            </a:r>
          </a:p>
          <a:p>
            <a:pPr marL="0" indent="0">
              <a:buNone/>
            </a:pPr>
            <a:r>
              <a:rPr lang="pt-PT" altLang="pt-BR" sz="6000" b="1" dirty="0"/>
              <a:t>      Descrição ADEQUADA para o atributo DT_MOVIMENTO:</a:t>
            </a:r>
          </a:p>
          <a:p>
            <a:pPr lvl="1"/>
            <a:r>
              <a:rPr lang="pt-PT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 “Dia, mês e ano em que a operação financeira foi efetivada.”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1061069" y="2692400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Descrição – Propriedade “</a:t>
            </a:r>
            <a:r>
              <a:rPr lang="pt-BR" sz="7200" b="1" dirty="0" err="1"/>
              <a:t>Comment</a:t>
            </a:r>
            <a:r>
              <a:rPr lang="pt-BR" sz="7200" b="1" dirty="0"/>
              <a:t>”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2A3B029-1355-4FA4-8FA6-04BFE2C48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278" y="5096759"/>
            <a:ext cx="7668231" cy="5503811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686E9E26-29D1-4A72-9A64-037171D60A00}"/>
              </a:ext>
            </a:extLst>
          </p:cNvPr>
          <p:cNvSpPr/>
          <p:nvPr/>
        </p:nvSpPr>
        <p:spPr>
          <a:xfrm>
            <a:off x="16236581" y="6409367"/>
            <a:ext cx="7209624" cy="5517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7887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522180" y="3077344"/>
            <a:ext cx="2200054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 algn="just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ü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buNone/>
            </a:pPr>
            <a:endParaRPr lang="pt-PT" altLang="pt-BR" sz="6000" dirty="0"/>
          </a:p>
          <a:p>
            <a:pPr marL="0" indent="0">
              <a:buNone/>
            </a:pPr>
            <a:r>
              <a:rPr lang="pt-PT" altLang="pt-BR" sz="6000" dirty="0"/>
              <a:t>O “nível de dados pessoais” deve ser especificado para cada atributo que possua essa informação: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altLang="pt-BR" sz="6000" dirty="0"/>
              <a:t>Pessoal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altLang="pt-BR" sz="6000" dirty="0"/>
              <a:t>Sensível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altLang="pt-BR" sz="6000" dirty="0"/>
              <a:t>Quasi-Identificador </a:t>
            </a:r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1118843" y="2778676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Proteção de Dados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677B0AD-D9A2-4037-8A38-65C6EB669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855" y="6902074"/>
            <a:ext cx="8856723" cy="63568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46F3665-34EF-41E6-A9BA-55C05C637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623" y="6979447"/>
            <a:ext cx="8856723" cy="6356841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01F0C318-CD44-4694-9AF0-177DC8FA0EC7}"/>
              </a:ext>
            </a:extLst>
          </p:cNvPr>
          <p:cNvSpPr/>
          <p:nvPr/>
        </p:nvSpPr>
        <p:spPr>
          <a:xfrm>
            <a:off x="3147238" y="7666278"/>
            <a:ext cx="1531088" cy="2267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7643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252048" y="3586039"/>
            <a:ext cx="22253846" cy="823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 algn="just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ü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buNone/>
            </a:pPr>
            <a:endParaRPr lang="pt-PT" altLang="pt-BR" sz="6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6600" dirty="0"/>
              <a:t>Pessoal: Dado  ou  informação  relacionada  a  uma  pessoa  natural  identificada  ou  identificável,  de forma direta.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6600" dirty="0"/>
              <a:t>Sensível - Dado pessoal sobre origem racial ou étnica, convicção religiosa, opinião política, filiação a sindicato ou a organização de caráter religioso, filosófico ou político, dado referente à saúde ou à vida sexual, dado genético  ou  biométrico,  quando  vinculado  a uma  pessoa  natural.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6600" dirty="0" err="1"/>
              <a:t>Quasi</a:t>
            </a:r>
            <a:r>
              <a:rPr lang="pt-BR" sz="6600" dirty="0"/>
              <a:t>-Identificador: Dado  ou  informação indiretas, a partir das quais se possa reconhecer  e  identificar   o   seu   respectivo   titular,  ou    aquele utilizado para formação do perfil comportamental ou padrões de consumo de determinada pessoa natural, e que  se  apresentam  nos  formatos  físico,  digitalizado  ou  digital.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1118843" y="2778676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Proteção de Dados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9999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522180" y="3077344"/>
            <a:ext cx="22000549" cy="3452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 algn="just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ü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buNone/>
            </a:pPr>
            <a:endParaRPr lang="pt-PT" altLang="pt-BR" sz="6000" dirty="0"/>
          </a:p>
          <a:p>
            <a:pPr>
              <a:buFont typeface="Arial" panose="020B0604020202020204" pitchFamily="34" charset="0"/>
              <a:buChar char="•"/>
            </a:pPr>
            <a:r>
              <a:rPr lang="pt-PT" altLang="pt-BR" sz="6000" dirty="0"/>
              <a:t>A tabela que possuir dador pessoais deve ser representada na cor vermelha, em negrito;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altLang="pt-BR" sz="6000" dirty="0"/>
              <a:t>Na aba “Ciclo de Vida do Dado” selecionar “SIM” na coluna “Possui Dados Pessoais” ; 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1118843" y="2778676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Proteção de Dados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A2748F6-A284-4FD5-B8F9-EEE107526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9257" y="5878231"/>
            <a:ext cx="13235652" cy="686652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A819ABD-F4A4-4658-93CE-C6837C2B8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76" y="7389339"/>
            <a:ext cx="8067324" cy="1839350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1AB46329-1F40-46DD-B0B9-3C52ACA3E49D}"/>
              </a:ext>
            </a:extLst>
          </p:cNvPr>
          <p:cNvSpPr/>
          <p:nvPr/>
        </p:nvSpPr>
        <p:spPr>
          <a:xfrm>
            <a:off x="9898445" y="7113450"/>
            <a:ext cx="5944067" cy="5517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25300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48417" y="3062383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Características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370191" y="4421280"/>
            <a:ext cx="19849801" cy="641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857250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atributos podem ser discutidos segundo os seguintes princípios:</a:t>
            </a:r>
          </a:p>
          <a:p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Identificação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Conexão ou Relacionamento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Descritivos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Classificação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Domínio</a:t>
            </a: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081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-74608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48417" y="3062383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Características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5586" y="4289568"/>
            <a:ext cx="2438587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Identificação</a:t>
            </a:r>
          </a:p>
          <a:p>
            <a:pPr marL="1314450" lvl="1" indent="-857250">
              <a:buFont typeface="Wingdings" panose="05000000000000000000" pitchFamily="2" charset="2"/>
              <a:buChar char="ü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Conjunto de um ou mais atributos que identificam univocamente uma entidade. (Chave Primária - PK).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27D6FB7-4D13-4A66-A203-5D6582F39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500" y="6798384"/>
            <a:ext cx="7767461" cy="6279442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84E5A5A2-84D6-4342-96E5-028886AFB632}"/>
              </a:ext>
            </a:extLst>
          </p:cNvPr>
          <p:cNvSpPr/>
          <p:nvPr/>
        </p:nvSpPr>
        <p:spPr>
          <a:xfrm>
            <a:off x="11124503" y="12039600"/>
            <a:ext cx="6147497" cy="326785"/>
          </a:xfrm>
          <a:prstGeom prst="rect">
            <a:avLst/>
          </a:prstGeom>
          <a:noFill/>
          <a:ln w="857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4761966-17E9-459D-8DF4-60D00294F240}"/>
              </a:ext>
            </a:extLst>
          </p:cNvPr>
          <p:cNvSpPr/>
          <p:nvPr/>
        </p:nvSpPr>
        <p:spPr>
          <a:xfrm>
            <a:off x="10242500" y="7416800"/>
            <a:ext cx="7683993" cy="736789"/>
          </a:xfrm>
          <a:prstGeom prst="rect">
            <a:avLst/>
          </a:prstGeom>
          <a:noFill/>
          <a:ln w="857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64970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9" y="2828260"/>
            <a:ext cx="23537460" cy="106146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48417" y="3062383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Características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5586" y="4063096"/>
            <a:ext cx="2353746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Conexão ou Relacionamento</a:t>
            </a:r>
          </a:p>
          <a:p>
            <a:pPr marL="1314450" lvl="1" indent="-857250">
              <a:buFont typeface="Wingdings" panose="05000000000000000000" pitchFamily="2" charset="2"/>
              <a:buChar char="ü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771650" lvl="2" indent="-857250" algn="just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Atributo ou conjunto de atributos que estabelecem associações entre entidades. Com o advento do modelo relacional intensificou-se o conceito de chave estrangeira - FK (presença em uma entidade de uma chave primária de outra entidade).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3ACF38D-0D89-4F4C-84F8-3FF394B3A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0573" y="7737387"/>
            <a:ext cx="6664204" cy="5387537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973130AF-80B2-410B-9349-C816B4603CB5}"/>
              </a:ext>
            </a:extLst>
          </p:cNvPr>
          <p:cNvSpPr/>
          <p:nvPr/>
        </p:nvSpPr>
        <p:spPr>
          <a:xfrm>
            <a:off x="15330573" y="8164346"/>
            <a:ext cx="6432211" cy="439401"/>
          </a:xfrm>
          <a:prstGeom prst="rect">
            <a:avLst/>
          </a:prstGeom>
          <a:noFill/>
          <a:ln w="857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9790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48417" y="3062383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Características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5587" y="4063096"/>
            <a:ext cx="2403633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Descritivos</a:t>
            </a:r>
          </a:p>
          <a:p>
            <a:pPr marL="1314450" lvl="1" indent="-857250">
              <a:buFont typeface="Wingdings" panose="05000000000000000000" pitchFamily="2" charset="2"/>
              <a:buChar char="ü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Atributos que servem especificamente para carregar informação necessárias para o seu negócio;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são utilizadas para identificação ou relacionamento.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A1A5530-744E-44A1-9DEE-C19D31FBF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4710" y="9535041"/>
            <a:ext cx="8657593" cy="2311137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F273A8EA-D149-4BDF-A88C-7FE826D9A726}"/>
              </a:ext>
            </a:extLst>
          </p:cNvPr>
          <p:cNvSpPr/>
          <p:nvPr/>
        </p:nvSpPr>
        <p:spPr>
          <a:xfrm>
            <a:off x="13594710" y="10724141"/>
            <a:ext cx="8249290" cy="895960"/>
          </a:xfrm>
          <a:prstGeom prst="rect">
            <a:avLst/>
          </a:prstGeom>
          <a:noFill/>
          <a:ln w="857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6560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1245491" y="2637463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Características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252048" y="3663847"/>
            <a:ext cx="19144283" cy="1024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Classificação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atributos podem ser classificados quanto a: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r>
              <a:rPr lang="pt-BR" altLang="pt-BR" sz="66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Formação</a:t>
            </a:r>
          </a:p>
          <a:p>
            <a:pPr lvl="2"/>
            <a:r>
              <a:rPr lang="pt-BR" altLang="pt-BR" sz="6600" baseline="30000" dirty="0">
                <a:solidFill>
                  <a:schemeClr val="accent1"/>
                </a:solidFill>
                <a:latin typeface="Tw Cen MT" panose="020B0602020104020603" pitchFamily="34" charset="77"/>
                <a:cs typeface="Arial" charset="0"/>
              </a:rPr>
              <a:t>ELEMENTARES</a:t>
            </a:r>
            <a:b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Exemplo: DD_NASCIMENTO (dia)</a:t>
            </a:r>
          </a:p>
          <a:p>
            <a:pPr lvl="2"/>
            <a:r>
              <a:rPr lang="pt-BR" altLang="pt-BR" sz="6600" baseline="30000" dirty="0">
                <a:solidFill>
                  <a:schemeClr val="accent1"/>
                </a:solidFill>
                <a:latin typeface="Tw Cen MT" panose="020B0602020104020603" pitchFamily="34" charset="77"/>
                <a:cs typeface="Arial" charset="0"/>
              </a:rPr>
              <a:t>COMPOSTOS</a:t>
            </a:r>
            <a:b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Exemplo: DT_NASCIMENTO (dia, mês e ano)</a:t>
            </a:r>
          </a:p>
          <a:p>
            <a:pPr lvl="1"/>
            <a:r>
              <a:rPr lang="pt-BR" altLang="pt-BR" sz="66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Origem</a:t>
            </a:r>
          </a:p>
          <a:p>
            <a:pPr lvl="2"/>
            <a:r>
              <a:rPr lang="pt-BR" altLang="pt-BR" sz="6600" baseline="30000" dirty="0">
                <a:solidFill>
                  <a:schemeClr val="accent1"/>
                </a:solidFill>
                <a:latin typeface="Tw Cen MT" panose="020B0602020104020603" pitchFamily="34" charset="77"/>
                <a:cs typeface="Arial" charset="0"/>
              </a:rPr>
              <a:t>NATURAIS</a:t>
            </a:r>
            <a:b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Exemplo: NO_EMPREGADO</a:t>
            </a:r>
          </a:p>
          <a:p>
            <a:pPr lvl="2"/>
            <a:r>
              <a:rPr lang="pt-BR" altLang="pt-BR" sz="6600" baseline="30000" dirty="0">
                <a:solidFill>
                  <a:schemeClr val="accent1"/>
                </a:solidFill>
                <a:latin typeface="Tw Cen MT" panose="020B0602020104020603" pitchFamily="34" charset="77"/>
                <a:cs typeface="Arial" charset="0"/>
              </a:rPr>
              <a:t>ARTIFICIAIS</a:t>
            </a:r>
            <a:b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Exemplo: NU_MATRICULA_EMPREGADO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3470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792" y="2965449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48417" y="3062383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Características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252048" y="3663847"/>
            <a:ext cx="19144283" cy="1024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Classificação</a:t>
            </a:r>
          </a:p>
          <a:p>
            <a:pPr lvl="1"/>
            <a:r>
              <a:rPr lang="pt-BR" altLang="pt-BR" sz="66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Derivação</a:t>
            </a:r>
          </a:p>
          <a:p>
            <a:pPr lvl="2"/>
            <a:r>
              <a:rPr lang="pt-BR" altLang="pt-BR" sz="6600" baseline="30000" dirty="0">
                <a:solidFill>
                  <a:schemeClr val="accent1"/>
                </a:solidFill>
                <a:latin typeface="Tw Cen MT" panose="020B0602020104020603" pitchFamily="34" charset="77"/>
                <a:cs typeface="Arial" charset="0"/>
              </a:rPr>
              <a:t>PRIMITIVOS</a:t>
            </a:r>
            <a:b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Exemplo: DT_NASCIMENTO_EMPREGADO</a:t>
            </a:r>
          </a:p>
          <a:p>
            <a:pPr lvl="2"/>
            <a:r>
              <a:rPr lang="pt-BR" altLang="pt-BR" sz="6600" baseline="30000" dirty="0">
                <a:solidFill>
                  <a:schemeClr val="accent1"/>
                </a:solidFill>
                <a:latin typeface="Tw Cen MT" panose="020B0602020104020603" pitchFamily="34" charset="77"/>
                <a:cs typeface="Arial" charset="0"/>
              </a:rPr>
              <a:t>DERIVADOS</a:t>
            </a:r>
            <a:b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Exemplo: NU_IDADE_EMPREGADO (derivado a partir de um cálculo baseado em um atributo primitivo)</a:t>
            </a:r>
            <a:b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endParaRPr lang="pt-BR" altLang="pt-BR" sz="66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r>
              <a:rPr lang="pt-BR" altLang="pt-BR" sz="66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Valoração</a:t>
            </a:r>
          </a:p>
          <a:p>
            <a:pPr lvl="2"/>
            <a:r>
              <a:rPr lang="pt-BR" altLang="pt-BR" sz="6600" baseline="30000" dirty="0">
                <a:solidFill>
                  <a:schemeClr val="accent1"/>
                </a:solidFill>
                <a:latin typeface="Tw Cen MT" panose="020B0602020104020603" pitchFamily="34" charset="77"/>
                <a:cs typeface="Arial" charset="0"/>
              </a:rPr>
              <a:t>MONOVALORADO</a:t>
            </a:r>
            <a:b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Exemplo: NU_CPF_EMPREGADO (possui apenas um valor)</a:t>
            </a:r>
          </a:p>
          <a:p>
            <a:pPr lvl="2"/>
            <a:r>
              <a:rPr lang="pt-BR" altLang="pt-BR" sz="6600" baseline="30000" dirty="0">
                <a:solidFill>
                  <a:schemeClr val="accent1"/>
                </a:solidFill>
                <a:latin typeface="Tw Cen MT" panose="020B0602020104020603" pitchFamily="34" charset="77"/>
                <a:cs typeface="Arial" charset="0"/>
              </a:rPr>
              <a:t>MULTIVALORADO</a:t>
            </a:r>
            <a:b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Exemplo: NU_TELEFONE_EMPREGADO (podem existir vários telefones)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994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48417" y="3062383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Características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252048" y="3668848"/>
            <a:ext cx="23627235" cy="1024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Classificação</a:t>
            </a:r>
          </a:p>
          <a:p>
            <a:pPr lvl="1"/>
            <a:endParaRPr lang="pt-BR" altLang="pt-BR" sz="66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r>
              <a:rPr lang="pt-BR" altLang="pt-BR" sz="66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Formato</a:t>
            </a: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principais formatos disponíveis são:</a:t>
            </a:r>
          </a:p>
          <a:p>
            <a:pPr marL="2228850" lvl="3" indent="-857250">
              <a:buFont typeface="Courier New" panose="02070309020205020404" pitchFamily="49" charset="0"/>
              <a:buChar char="o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Caractere</a:t>
            </a:r>
          </a:p>
          <a:p>
            <a:pPr marL="2228850" lvl="3" indent="-857250">
              <a:buFont typeface="Courier New" panose="02070309020205020404" pitchFamily="49" charset="0"/>
              <a:buChar char="o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Caractere variável (</a:t>
            </a:r>
            <a:r>
              <a:rPr lang="pt-BR" alt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Varchar</a:t>
            </a: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)</a:t>
            </a:r>
          </a:p>
          <a:p>
            <a:pPr marL="2228850" lvl="3" indent="-857250">
              <a:buFont typeface="Courier New" panose="02070309020205020404" pitchFamily="49" charset="0"/>
              <a:buChar char="o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Numérico</a:t>
            </a:r>
          </a:p>
          <a:p>
            <a:pPr marL="2228850" lvl="3" indent="-857250">
              <a:buFont typeface="Courier New" panose="02070309020205020404" pitchFamily="49" charset="0"/>
              <a:buChar char="o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Date	   (aaaa.mm.dd)</a:t>
            </a:r>
          </a:p>
          <a:p>
            <a:pPr marL="2228850" lvl="3" indent="-857250">
              <a:buFont typeface="Courier New" panose="02070309020205020404" pitchFamily="49" charset="0"/>
              <a:buChar char="o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Time	   (</a:t>
            </a:r>
            <a:r>
              <a:rPr lang="pt-BR" alt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hh:mm:ss</a:t>
            </a: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)</a:t>
            </a:r>
          </a:p>
          <a:p>
            <a:pPr marL="2228850" lvl="3" indent="-857250">
              <a:buFont typeface="Courier New" panose="02070309020205020404" pitchFamily="49" charset="0"/>
              <a:buChar char="o"/>
            </a:pPr>
            <a:r>
              <a:rPr lang="pt-BR" alt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Timestamp</a:t>
            </a: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(</a:t>
            </a:r>
            <a:r>
              <a:rPr lang="pt-BR" alt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aaaa.mm.dd.hh:mm:ss:mmmmmm</a:t>
            </a: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)</a:t>
            </a: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formatos estão diretamente relacionados aos disponíveis no SGDB (Sistema Gerenciador de Banco de Dados).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6405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522180" y="3519738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Obrigatoriedade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252048" y="3668848"/>
            <a:ext cx="23627235" cy="8894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Wingdings" panose="05000000000000000000" pitchFamily="2" charset="2"/>
              <a:buChar char="ü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>
              <a:buClr>
                <a:srgbClr val="FF9900"/>
              </a:buClr>
            </a:pPr>
            <a:r>
              <a:rPr lang="pt-PT" altLang="pt-BR" sz="66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Atributos Obrigatórios </a:t>
            </a:r>
          </a:p>
          <a:p>
            <a:pPr marL="1314450" lvl="1" indent="-857250">
              <a:buFont typeface="Wingdings" panose="05000000000000000000" pitchFamily="2" charset="2"/>
              <a:buChar char="ü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valor deve ser informado para cada ocorrência da entidade. (Not Null)</a:t>
            </a:r>
          </a:p>
          <a:p>
            <a:pPr lvl="1"/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Ex. NU_MATRICULA_EMPREGADO</a:t>
            </a:r>
          </a:p>
          <a:p>
            <a:pPr lvl="1">
              <a:buClr>
                <a:srgbClr val="FF9900"/>
              </a:buClr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>
              <a:buClr>
                <a:srgbClr val="FF9900"/>
              </a:buClr>
            </a:pPr>
            <a:r>
              <a:rPr lang="pt-PT" altLang="pt-BR" sz="66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Atributos Opcionais </a:t>
            </a:r>
          </a:p>
          <a:p>
            <a:pPr marL="1314450" lvl="1" indent="-857250">
              <a:buFont typeface="Wingdings" panose="05000000000000000000" pitchFamily="2" charset="2"/>
              <a:buChar char="ü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valor pode não ser informado para todas as ocorrências da entidade. (Null) </a:t>
            </a:r>
          </a:p>
          <a:p>
            <a:pPr lvl="1"/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Ex. DT_DEMISSÃO</a:t>
            </a:r>
          </a:p>
          <a:p>
            <a:pPr marL="1314450" lvl="1" indent="-857250">
              <a:buFont typeface="Wingdings" panose="05000000000000000000" pitchFamily="2" charset="2"/>
              <a:buChar char="ü"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Wingdings" panose="05000000000000000000" pitchFamily="2" charset="2"/>
              <a:buChar char="ü"/>
            </a:pPr>
            <a:endParaRPr lang="pt-PT" altLang="pt-BR" sz="6600" baseline="30000" dirty="0">
              <a:solidFill>
                <a:srgbClr val="FF0000"/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r>
              <a:rPr lang="pt-PT" altLang="pt-BR" sz="6600" baseline="30000" dirty="0">
                <a:solidFill>
                  <a:srgbClr val="FF0000"/>
                </a:solidFill>
                <a:latin typeface="Tw Cen MT" panose="020B0602020104020603" pitchFamily="34" charset="77"/>
                <a:cs typeface="Arial" charset="0"/>
              </a:rPr>
              <a:t>* Nulo (Null): Ausência de valor (Não é zero e não é branco).  </a:t>
            </a: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6864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r>
              <a:rPr lang="en-US" sz="6600" dirty="0">
                <a:latin typeface="Tw Cen MT" panose="020B0602020104020603" pitchFamily="34" charset="77"/>
              </a:rPr>
              <a:t>/</a:t>
            </a:r>
            <a:r>
              <a:rPr lang="en-US" sz="6600" dirty="0" err="1">
                <a:latin typeface="Tw Cen MT" panose="020B0602020104020603" pitchFamily="34" charset="77"/>
              </a:rPr>
              <a:t>Coluna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48417" y="3062383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Domínio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696071" y="3932288"/>
            <a:ext cx="23863696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Define os valores possíveis de um atributo em uma entidade, restringindo seu conteúdo;</a:t>
            </a:r>
          </a:p>
          <a:p>
            <a:pPr>
              <a:buFont typeface="Wingdings" panose="05000000000000000000" pitchFamily="2" charset="2"/>
              <a:buNone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Usado para identificar campos onde seu conjunto de valores é fixo.</a:t>
            </a:r>
          </a:p>
          <a:p>
            <a:pPr>
              <a:buFont typeface="Wingdings" panose="05000000000000000000" pitchFamily="2" charset="2"/>
              <a:buNone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Exemplos de atributos:</a:t>
            </a:r>
          </a:p>
          <a:p>
            <a:pPr lvl="1"/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IC_SEXO (‘M’ e ‘F’)</a:t>
            </a:r>
          </a:p>
          <a:p>
            <a:pPr lvl="1"/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IC_TIPO_CONTRIBUINTE (‘F’ e ‘J’)</a:t>
            </a:r>
          </a:p>
          <a:p>
            <a:pPr lvl="1"/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IC_SITUACAO_QUITACAO (‘S’ e ‘N’)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0512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Relacionamento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48417" y="3062383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Definição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522180" y="3657995"/>
            <a:ext cx="22419110" cy="10926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 relacionamento é uma ligação lógica entre duas entidades; </a:t>
            </a:r>
          </a:p>
          <a:p>
            <a:pPr marL="857250" indent="-8572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É uma estrutura que indica as associações entre elementos do conjunto de uma entidade e elementos do conjunto de outra;</a:t>
            </a:r>
          </a:p>
          <a:p>
            <a:pPr marL="857250" indent="-8572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Cada associação representa uma ligação entre a ocorrência de uma entidade com ocorrências de outra;</a:t>
            </a:r>
          </a:p>
          <a:p>
            <a:pPr marL="857250" indent="-8572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É composto de duas associações: a de ida e a de volta;</a:t>
            </a:r>
          </a:p>
          <a:p>
            <a:pPr marL="857250" indent="-8572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relacionamentos traduzem as regras de negócio, estabelecendo caminhos de navegação pelo Modelo de Dados e rotas de acesso.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3859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Relacionamento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69682" y="3094540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Nomeação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730086" y="3690152"/>
            <a:ext cx="22419110" cy="1173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 relacionamento é uma ligação lógica entre duas entidades;  </a:t>
            </a:r>
          </a:p>
          <a:p>
            <a:pPr marL="857250" indent="-8572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relacionamentos são caracterizados através de um VERBO. Pode ser utilizado o VERBO na voz ativa e passiva para estabelecer esta conexão. Eventualmente são utilizadas locuções verbais para estabelecer estas conexões;</a:t>
            </a:r>
          </a:p>
          <a:p>
            <a:pPr marL="857250" indent="-8572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Devem ser utilizados verbos ou locuções verbais que refletem exatamente as regras de negócio definidas. </a:t>
            </a:r>
          </a:p>
          <a:p>
            <a:pPr algn="just">
              <a:lnSpc>
                <a:spcPct val="90000"/>
              </a:lnSpc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algn="just">
              <a:lnSpc>
                <a:spcPct val="90000"/>
              </a:lnSpc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Dada as entidades PESSOA e CARRO, podemos estabelecer um relacionamento entre elas:</a:t>
            </a:r>
          </a:p>
          <a:p>
            <a:pPr algn="just">
              <a:lnSpc>
                <a:spcPct val="90000"/>
              </a:lnSpc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 algn="just">
              <a:lnSpc>
                <a:spcPct val="90000"/>
              </a:lnSpc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Primeira Associação&gt; Cada PESSOA utiliza CARRO</a:t>
            </a:r>
          </a:p>
          <a:p>
            <a:pPr lvl="1" algn="just">
              <a:lnSpc>
                <a:spcPct val="90000"/>
              </a:lnSpc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Segunda Associação&gt; Cada CARRO é utilizado por PESSOA </a:t>
            </a:r>
          </a:p>
          <a:p>
            <a:pPr lvl="1" algn="just">
              <a:lnSpc>
                <a:spcPct val="90000"/>
              </a:lnSpc>
            </a:pPr>
            <a:endParaRPr lang="pt-BR" altLang="pt-BR" sz="6600" b="1" baseline="30000" dirty="0">
              <a:solidFill>
                <a:srgbClr val="FF0000"/>
              </a:solidFill>
              <a:latin typeface="Tw Cen MT" panose="020B0602020104020603" pitchFamily="34" charset="77"/>
              <a:cs typeface="Arial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6600" b="1" baseline="30000" dirty="0">
                <a:solidFill>
                  <a:srgbClr val="FF0000"/>
                </a:solidFill>
                <a:latin typeface="Tw Cen MT" panose="020B0602020104020603" pitchFamily="34" charset="77"/>
                <a:cs typeface="Arial" charset="0"/>
              </a:rPr>
              <a:t>IMPORTANTE: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6600" baseline="30000" dirty="0">
                <a:solidFill>
                  <a:srgbClr val="FF0000"/>
                </a:solidFill>
                <a:latin typeface="Tw Cen MT" panose="020B0602020104020603" pitchFamily="34" charset="77"/>
                <a:cs typeface="Arial" charset="0"/>
              </a:rPr>
              <a:t>Os verbos “Possui” /  “Pertence” e “Contém” / “Está Contido” deverão ser evitados</a:t>
            </a: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.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2173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Relacionamento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48417" y="3062383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Características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696071" y="3932288"/>
            <a:ext cx="2241911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relacionamentos podem ser caracterizados de acordo com  os seguintes aspectos: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Cardinalidade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Opcionalidade</a:t>
            </a: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Grau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7EFFA81-8182-2828-0EF3-2D2E08A9F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165" y="7291769"/>
            <a:ext cx="13905633" cy="536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5193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9240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Relacionamento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48417" y="3062383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Cardinalidade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696071" y="3932288"/>
            <a:ext cx="2241911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Indica quantas vezes a ocorrência de uma entidade pode associar-se a outra;</a:t>
            </a:r>
            <a:b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Devem ser analisadas as duas associações do relacionamento.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r>
              <a:rPr lang="pt-BR" altLang="pt-BR" sz="66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Boa Prática - fixa-se uma ocorrência de uma entidade e pergunta-se: </a:t>
            </a:r>
          </a:p>
          <a:p>
            <a:pPr lvl="1">
              <a:buFontTx/>
              <a:buNone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Quantas ocorrências da outra entidade poderão existir? </a:t>
            </a:r>
            <a:b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 vice-versa.</a:t>
            </a:r>
          </a:p>
          <a:p>
            <a:pPr marL="2686050" lvl="4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UM-PARA-UM (1:1) </a:t>
            </a:r>
          </a:p>
          <a:p>
            <a:pPr marL="2686050" lvl="4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UM-PARA-MUITOS (1:N)</a:t>
            </a:r>
          </a:p>
          <a:p>
            <a:pPr marL="2686050" lvl="4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MUITOS-PARA-MUITOS (M:N)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>
              <a:lnSpc>
                <a:spcPct val="150000"/>
              </a:lnSpc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2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grpSp>
        <p:nvGrpSpPr>
          <p:cNvPr id="8" name="Group 1096">
            <a:extLst>
              <a:ext uri="{FF2B5EF4-FFF2-40B4-BE49-F238E27FC236}">
                <a16:creationId xmlns:a16="http://schemas.microsoft.com/office/drawing/2014/main" id="{9C47FC05-B310-4148-9609-F2A0A462F9AE}"/>
              </a:ext>
            </a:extLst>
          </p:cNvPr>
          <p:cNvGrpSpPr>
            <a:grpSpLocks/>
          </p:cNvGrpSpPr>
          <p:nvPr/>
        </p:nvGrpSpPr>
        <p:grpSpPr bwMode="auto">
          <a:xfrm>
            <a:off x="10357470" y="10089604"/>
            <a:ext cx="2973388" cy="349250"/>
            <a:chOff x="2928" y="3696"/>
            <a:chExt cx="1392" cy="100"/>
          </a:xfrm>
        </p:grpSpPr>
        <p:sp>
          <p:nvSpPr>
            <p:cNvPr id="9" name="Line 1077">
              <a:extLst>
                <a:ext uri="{FF2B5EF4-FFF2-40B4-BE49-F238E27FC236}">
                  <a16:creationId xmlns:a16="http://schemas.microsoft.com/office/drawing/2014/main" id="{99AB6D5B-85F5-4B6C-B09D-B8C3509923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28" y="3743"/>
              <a:ext cx="1392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Line 1078">
              <a:extLst>
                <a:ext uri="{FF2B5EF4-FFF2-40B4-BE49-F238E27FC236}">
                  <a16:creationId xmlns:a16="http://schemas.microsoft.com/office/drawing/2014/main" id="{CA3914F5-4D1B-4681-9EDA-E10212632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3696"/>
              <a:ext cx="1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Line 1079">
              <a:extLst>
                <a:ext uri="{FF2B5EF4-FFF2-40B4-BE49-F238E27FC236}">
                  <a16:creationId xmlns:a16="http://schemas.microsoft.com/office/drawing/2014/main" id="{2F0C68C4-641E-406C-A62F-7E7BB448AC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3696"/>
              <a:ext cx="1" cy="1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33">
            <a:extLst>
              <a:ext uri="{FF2B5EF4-FFF2-40B4-BE49-F238E27FC236}">
                <a16:creationId xmlns:a16="http://schemas.microsoft.com/office/drawing/2014/main" id="{4ED34DB5-8B91-4F0C-820E-DA105B0BFA53}"/>
              </a:ext>
            </a:extLst>
          </p:cNvPr>
          <p:cNvGrpSpPr>
            <a:grpSpLocks/>
          </p:cNvGrpSpPr>
          <p:nvPr/>
        </p:nvGrpSpPr>
        <p:grpSpPr bwMode="auto">
          <a:xfrm>
            <a:off x="10371258" y="10847936"/>
            <a:ext cx="2990850" cy="349250"/>
            <a:chOff x="2256" y="3732"/>
            <a:chExt cx="1392" cy="108"/>
          </a:xfrm>
        </p:grpSpPr>
        <p:grpSp>
          <p:nvGrpSpPr>
            <p:cNvPr id="18" name="Group 25">
              <a:extLst>
                <a:ext uri="{FF2B5EF4-FFF2-40B4-BE49-F238E27FC236}">
                  <a16:creationId xmlns:a16="http://schemas.microsoft.com/office/drawing/2014/main" id="{0F0EEC13-DFE7-4670-98DB-B5409F2AFC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3740"/>
              <a:ext cx="1392" cy="100"/>
              <a:chOff x="2928" y="3696"/>
              <a:chExt cx="1392" cy="100"/>
            </a:xfrm>
          </p:grpSpPr>
          <p:sp>
            <p:nvSpPr>
              <p:cNvPr id="21" name="Line 26">
                <a:extLst>
                  <a:ext uri="{FF2B5EF4-FFF2-40B4-BE49-F238E27FC236}">
                    <a16:creationId xmlns:a16="http://schemas.microsoft.com/office/drawing/2014/main" id="{F541139F-AC69-42AA-B68E-3B6839E8C7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28" y="3743"/>
                <a:ext cx="1392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Line 27">
                <a:extLst>
                  <a:ext uri="{FF2B5EF4-FFF2-40B4-BE49-F238E27FC236}">
                    <a16:creationId xmlns:a16="http://schemas.microsoft.com/office/drawing/2014/main" id="{679CD75C-799E-49B1-A1FE-AF0DFF831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3" y="3696"/>
                <a:ext cx="1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Line 28">
                <a:extLst>
                  <a:ext uri="{FF2B5EF4-FFF2-40B4-BE49-F238E27FC236}">
                    <a16:creationId xmlns:a16="http://schemas.microsoft.com/office/drawing/2014/main" id="{FC21BD35-E5A3-45DF-B1D5-1E869A1A56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2" y="3696"/>
                <a:ext cx="1" cy="1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9" name="Line 30">
              <a:extLst>
                <a:ext uri="{FF2B5EF4-FFF2-40B4-BE49-F238E27FC236}">
                  <a16:creationId xmlns:a16="http://schemas.microsoft.com/office/drawing/2014/main" id="{B25495B2-3BD1-4506-B832-D34085D4D0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3732"/>
              <a:ext cx="96" cy="4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pt-BR"/>
            </a:p>
          </p:txBody>
        </p:sp>
        <p:sp>
          <p:nvSpPr>
            <p:cNvPr id="20" name="Line 31">
              <a:extLst>
                <a:ext uri="{FF2B5EF4-FFF2-40B4-BE49-F238E27FC236}">
                  <a16:creationId xmlns:a16="http://schemas.microsoft.com/office/drawing/2014/main" id="{44507778-61D3-401D-B358-922C212D6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780"/>
              <a:ext cx="96" cy="4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pt-BR"/>
            </a:p>
          </p:txBody>
        </p:sp>
      </p:grpSp>
      <p:grpSp>
        <p:nvGrpSpPr>
          <p:cNvPr id="24" name="Group 36">
            <a:extLst>
              <a:ext uri="{FF2B5EF4-FFF2-40B4-BE49-F238E27FC236}">
                <a16:creationId xmlns:a16="http://schemas.microsoft.com/office/drawing/2014/main" id="{29FF1B5B-305D-4809-9A8F-979D0AACB001}"/>
              </a:ext>
            </a:extLst>
          </p:cNvPr>
          <p:cNvGrpSpPr>
            <a:grpSpLocks/>
          </p:cNvGrpSpPr>
          <p:nvPr/>
        </p:nvGrpSpPr>
        <p:grpSpPr bwMode="auto">
          <a:xfrm>
            <a:off x="10461534" y="11718335"/>
            <a:ext cx="2971800" cy="347663"/>
            <a:chOff x="2256" y="3738"/>
            <a:chExt cx="1392" cy="102"/>
          </a:xfrm>
        </p:grpSpPr>
        <p:sp>
          <p:nvSpPr>
            <p:cNvPr id="25" name="Line 16">
              <a:extLst>
                <a:ext uri="{FF2B5EF4-FFF2-40B4-BE49-F238E27FC236}">
                  <a16:creationId xmlns:a16="http://schemas.microsoft.com/office/drawing/2014/main" id="{6CA641F6-5C64-4D44-A043-FAE87C5413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6" y="3787"/>
              <a:ext cx="1392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Line 17">
              <a:extLst>
                <a:ext uri="{FF2B5EF4-FFF2-40B4-BE49-F238E27FC236}">
                  <a16:creationId xmlns:a16="http://schemas.microsoft.com/office/drawing/2014/main" id="{CE6123C2-5CE3-461A-875B-865B1F14F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3740"/>
              <a:ext cx="1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Line 18">
              <a:extLst>
                <a:ext uri="{FF2B5EF4-FFF2-40B4-BE49-F238E27FC236}">
                  <a16:creationId xmlns:a16="http://schemas.microsoft.com/office/drawing/2014/main" id="{7202EF68-C05D-4BEF-B90C-6BBA077E9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1" y="3740"/>
              <a:ext cx="1" cy="1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Line 20">
              <a:extLst>
                <a:ext uri="{FF2B5EF4-FFF2-40B4-BE49-F238E27FC236}">
                  <a16:creationId xmlns:a16="http://schemas.microsoft.com/office/drawing/2014/main" id="{98BA822C-80B3-4719-AC3F-D75A99B39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3744"/>
              <a:ext cx="96" cy="4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pt-BR"/>
            </a:p>
          </p:txBody>
        </p:sp>
        <p:sp>
          <p:nvSpPr>
            <p:cNvPr id="29" name="Line 21">
              <a:extLst>
                <a:ext uri="{FF2B5EF4-FFF2-40B4-BE49-F238E27FC236}">
                  <a16:creationId xmlns:a16="http://schemas.microsoft.com/office/drawing/2014/main" id="{DF1C8D0A-434F-4F3D-87CF-E4CA9FBFB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780"/>
              <a:ext cx="96" cy="4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pt-BR"/>
            </a:p>
          </p:txBody>
        </p:sp>
        <p:sp>
          <p:nvSpPr>
            <p:cNvPr id="30" name="Line 34">
              <a:extLst>
                <a:ext uri="{FF2B5EF4-FFF2-40B4-BE49-F238E27FC236}">
                  <a16:creationId xmlns:a16="http://schemas.microsoft.com/office/drawing/2014/main" id="{2E1B7D11-7D92-4EEA-9540-CB8440798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6" y="3738"/>
              <a:ext cx="96" cy="4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pt-BR"/>
            </a:p>
          </p:txBody>
        </p:sp>
        <p:sp>
          <p:nvSpPr>
            <p:cNvPr id="31" name="Line 35">
              <a:extLst>
                <a:ext uri="{FF2B5EF4-FFF2-40B4-BE49-F238E27FC236}">
                  <a16:creationId xmlns:a16="http://schemas.microsoft.com/office/drawing/2014/main" id="{563CD607-2020-4C4F-989B-24042E4D94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3792"/>
              <a:ext cx="96" cy="4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6486347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736048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Relacionamento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54759" y="3331907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 err="1"/>
              <a:t>Opcionalidade</a:t>
            </a:r>
            <a:endParaRPr lang="pt-BR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356916" y="3864477"/>
            <a:ext cx="224191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Indica se uma ocorrência de uma entidade deve ou não possuir associação com no mínimo uma ocorrência de outra entidade;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Deve ser analisada em ambas as direções.</a:t>
            </a: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78" name="AutoShape 14">
            <a:extLst>
              <a:ext uri="{FF2B5EF4-FFF2-40B4-BE49-F238E27FC236}">
                <a16:creationId xmlns:a16="http://schemas.microsoft.com/office/drawing/2014/main" id="{D1C0A792-2955-4D38-A3D9-3EBA310C6DC1}"/>
              </a:ext>
            </a:extLst>
          </p:cNvPr>
          <p:cNvSpPr>
            <a:spLocks/>
          </p:cNvSpPr>
          <p:nvPr/>
        </p:nvSpPr>
        <p:spPr bwMode="auto">
          <a:xfrm>
            <a:off x="7658830" y="8200073"/>
            <a:ext cx="2209800" cy="346075"/>
          </a:xfrm>
          <a:prstGeom prst="borderCallout1">
            <a:avLst>
              <a:gd name="adj1" fmla="val 33028"/>
              <a:gd name="adj2" fmla="val -3449"/>
              <a:gd name="adj3" fmla="val -72019"/>
              <a:gd name="adj4" fmla="val -14801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1600" b="0" dirty="0">
                <a:solidFill>
                  <a:schemeClr val="tx1"/>
                </a:solidFill>
              </a:rPr>
              <a:t>Indica </a:t>
            </a:r>
            <a:r>
              <a:rPr lang="pt-BR" altLang="pt-BR" sz="1600" b="0" dirty="0" err="1">
                <a:solidFill>
                  <a:schemeClr val="tx1"/>
                </a:solidFill>
              </a:rPr>
              <a:t>opcionalidade</a:t>
            </a:r>
            <a:endParaRPr lang="pt-BR" altLang="pt-BR" sz="1600" b="0" dirty="0">
              <a:solidFill>
                <a:schemeClr val="tx1"/>
              </a:solidFill>
            </a:endParaRPr>
          </a:p>
        </p:txBody>
      </p:sp>
      <p:sp>
        <p:nvSpPr>
          <p:cNvPr id="79" name="AutoShape 15">
            <a:extLst>
              <a:ext uri="{FF2B5EF4-FFF2-40B4-BE49-F238E27FC236}">
                <a16:creationId xmlns:a16="http://schemas.microsoft.com/office/drawing/2014/main" id="{9ABF2AFE-B3EC-4AD4-983F-F4CDCDAC18D0}"/>
              </a:ext>
            </a:extLst>
          </p:cNvPr>
          <p:cNvSpPr>
            <a:spLocks/>
          </p:cNvSpPr>
          <p:nvPr/>
        </p:nvSpPr>
        <p:spPr bwMode="auto">
          <a:xfrm>
            <a:off x="7468330" y="9704837"/>
            <a:ext cx="2400300" cy="346075"/>
          </a:xfrm>
          <a:prstGeom prst="borderCallout1">
            <a:avLst>
              <a:gd name="adj1" fmla="val 33028"/>
              <a:gd name="adj2" fmla="val -3176"/>
              <a:gd name="adj3" fmla="val -56421"/>
              <a:gd name="adj4" fmla="val -2619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pt-BR" altLang="pt-BR" sz="1600" b="0">
                <a:solidFill>
                  <a:schemeClr val="tx1"/>
                </a:solidFill>
              </a:rPr>
              <a:t>Indica obrigatoriedade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4147AD7-ED0C-28A7-2BB7-317707972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3426" y="7830215"/>
            <a:ext cx="7602385" cy="542707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7E3C350-91B5-B982-53FF-EED330F22FD3}"/>
              </a:ext>
            </a:extLst>
          </p:cNvPr>
          <p:cNvSpPr txBox="1"/>
          <p:nvPr/>
        </p:nvSpPr>
        <p:spPr>
          <a:xfrm>
            <a:off x="946207" y="7432927"/>
            <a:ext cx="12627454" cy="296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4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Cada CLIENTE_CREDITO às vezes executa uma ou mais OPERACAO_CREDITO</a:t>
            </a:r>
          </a:p>
          <a:p>
            <a:pPr marL="857250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4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Cada OPERACAO_CREDITO sempre está associada em um CLIENTE_CREDITO</a:t>
            </a:r>
          </a:p>
        </p:txBody>
      </p:sp>
    </p:spTree>
    <p:extLst>
      <p:ext uri="{BB962C8B-B14F-4D97-AF65-F5344CB8AC3E}">
        <p14:creationId xmlns:p14="http://schemas.microsoft.com/office/powerpoint/2010/main" val="20241832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0734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Relacionamento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54759" y="3331907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Grau 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356915" y="3864477"/>
            <a:ext cx="23522367" cy="95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 algn="just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grau do relacionamento representa o número de entidades que participam do relacionamento;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mais utilizados são:     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Unário (recursivo): Este tipo de relacionamento ocorre quando há ligação de uma entidade com ela mesma. Normalmente (nem sempre) utilizado para representar uma estrutura hierárquica;</a:t>
            </a:r>
          </a:p>
          <a:p>
            <a:pPr marL="1771650" lvl="2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Binário: Este tipo de relacionamento ocorre entre duas entidade, sendo o mais comum no modelo de dados;</a:t>
            </a:r>
          </a:p>
          <a:p>
            <a:pPr marL="1600200" lvl="2" indent="-68580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Ternário: Ocorre entre três entidades, sendo necessário avaliar a sua pertinência e se não há objetos que não identificados;</a:t>
            </a:r>
          </a:p>
          <a:p>
            <a:pPr marL="1600200" lvl="2" indent="-68580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N-ário: Ocorre entre quatro ou mais entidades, sendo necessário avaliar a sua pertinência e se não há objetos que não foram identificados.</a:t>
            </a: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7116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0734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Relacionamento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54759" y="3331907"/>
            <a:ext cx="4248869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Grau Unário 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5DA9886-9C15-69F4-B251-448BD3079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59" y="5452885"/>
            <a:ext cx="5657237" cy="25428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57B9B1D-85EF-3B2F-ED78-46343F315986}"/>
              </a:ext>
            </a:extLst>
          </p:cNvPr>
          <p:cNvSpPr txBox="1"/>
          <p:nvPr/>
        </p:nvSpPr>
        <p:spPr>
          <a:xfrm>
            <a:off x="9220771" y="3331907"/>
            <a:ext cx="4248869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Grau Binário 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C2341F-457F-C4D8-1DC7-35765E6BA592}"/>
              </a:ext>
            </a:extLst>
          </p:cNvPr>
          <p:cNvSpPr txBox="1"/>
          <p:nvPr/>
        </p:nvSpPr>
        <p:spPr>
          <a:xfrm>
            <a:off x="16550027" y="3230888"/>
            <a:ext cx="4248869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Grau Ternário 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9FB97C4-D0EC-5706-D492-4C1E950F4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194" y="5247698"/>
            <a:ext cx="5963998" cy="421788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1F530FD-2AE8-A093-3965-FE64D9DE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6975" y="5469603"/>
            <a:ext cx="9599730" cy="375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171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23792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Código da Tabela e Coluna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Nome e Código da Chave Primária (PK)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Nome e Código da Referência (FK)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Lista de valores (Check Constraint)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Índice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Sequence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Identity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Owner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Particionamento de Tabela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Compactação de Dados</a:t>
            </a: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245491" y="2977605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Configurações Físicas  </a:t>
            </a:r>
          </a:p>
        </p:txBody>
      </p:sp>
    </p:spTree>
    <p:extLst>
      <p:ext uri="{BB962C8B-B14F-4D97-AF65-F5344CB8AC3E}">
        <p14:creationId xmlns:p14="http://schemas.microsoft.com/office/powerpoint/2010/main" val="37526444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882946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321692" y="3101191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Código da Tabela e Coluna – Propriedade “</a:t>
            </a:r>
            <a:r>
              <a:rPr lang="pt-BR" b="1" dirty="0" err="1"/>
              <a:t>Code</a:t>
            </a:r>
            <a:r>
              <a:rPr lang="pt-BR" b="1" dirty="0"/>
              <a:t>”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7560E2-214E-1AD9-00E6-3DF65046F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967" y="7186402"/>
            <a:ext cx="10990764" cy="570189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1F08828-0BCF-8AE7-CF94-1CF4927BD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2456" y="6967629"/>
            <a:ext cx="10346399" cy="607808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4063662B-6EAA-5ADD-3AD0-C0737A4E66DC}"/>
              </a:ext>
            </a:extLst>
          </p:cNvPr>
          <p:cNvSpPr/>
          <p:nvPr/>
        </p:nvSpPr>
        <p:spPr>
          <a:xfrm>
            <a:off x="1321692" y="8253843"/>
            <a:ext cx="3601425" cy="2559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BB15492-C064-8A3B-5706-098A6E2C0A33}"/>
              </a:ext>
            </a:extLst>
          </p:cNvPr>
          <p:cNvSpPr/>
          <p:nvPr/>
        </p:nvSpPr>
        <p:spPr>
          <a:xfrm>
            <a:off x="12752117" y="8258222"/>
            <a:ext cx="3601425" cy="2559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B3E3B9-982B-6E08-7D4D-CF1997395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217" y="4132869"/>
            <a:ext cx="22613027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padrão de nomeação do código da tabela deve ser consultado no PPDS.CAIXA;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tamanho do código é limitado até 30 caracteres;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regra de abreviação deverá ser aplicada nos casos que ultrapasse 30 caracteres;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Consultar o “Glossário de Termos” na opção “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Glossary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no Power Designer.</a:t>
            </a:r>
          </a:p>
        </p:txBody>
      </p:sp>
    </p:spTree>
    <p:extLst>
      <p:ext uri="{BB962C8B-B14F-4D97-AF65-F5344CB8AC3E}">
        <p14:creationId xmlns:p14="http://schemas.microsoft.com/office/powerpoint/2010/main" val="1139326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22575" y="2878567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245490" y="3262563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Nome e Código da Chave Primária – Aba “Keys”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B3E3B9-982B-6E08-7D4D-CF1997395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593" y="4541957"/>
            <a:ext cx="22613027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padrão de nomeação da PK deve ser consultado no PPDS.CAIXA, que varia de acordo com o SGBD;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As colunas “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name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”, “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code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e “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Constraint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name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devem receber a mesma nomeação.</a:t>
            </a:r>
          </a:p>
          <a:p>
            <a:pPr>
              <a:spcAft>
                <a:spcPts val="1800"/>
              </a:spcAft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CFD7F44-A232-AE20-BDE3-3DFD62421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43" y="6549507"/>
            <a:ext cx="11578771" cy="600695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904AD81-5444-C7B2-9366-35A9A9ACC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0839" y="6528446"/>
            <a:ext cx="7958537" cy="6023463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9F6E8C99-19E7-3A9E-71BF-6001F366566D}"/>
              </a:ext>
            </a:extLst>
          </p:cNvPr>
          <p:cNvSpPr/>
          <p:nvPr/>
        </p:nvSpPr>
        <p:spPr>
          <a:xfrm>
            <a:off x="14970943" y="10837433"/>
            <a:ext cx="2338861" cy="317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32A6DBC-B108-F8D8-D079-42E68DD48480}"/>
              </a:ext>
            </a:extLst>
          </p:cNvPr>
          <p:cNvSpPr/>
          <p:nvPr/>
        </p:nvSpPr>
        <p:spPr>
          <a:xfrm>
            <a:off x="4504962" y="7123610"/>
            <a:ext cx="513606" cy="295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97889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22575" y="2878567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245490" y="3262563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Nome e Código da Referência (FK) – Propriedades “</a:t>
            </a:r>
            <a:r>
              <a:rPr lang="pt-BR" b="1" dirty="0" err="1"/>
              <a:t>Name</a:t>
            </a:r>
            <a:r>
              <a:rPr lang="pt-BR" b="1" dirty="0"/>
              <a:t>” e “</a:t>
            </a:r>
            <a:r>
              <a:rPr lang="pt-BR" b="1" dirty="0" err="1"/>
              <a:t>Code</a:t>
            </a:r>
            <a:r>
              <a:rPr lang="pt-BR" b="1" dirty="0"/>
              <a:t>”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B3E3B9-982B-6E08-7D4D-CF1997395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593" y="4541957"/>
            <a:ext cx="22613027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padrão de nomeação de referência deve ser consultado no PPDS.CAIXA,  que varia de acordo com o SGBD;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As colunas “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name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”, “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code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e “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Constraint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name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devem receber a mesma nomeação;</a:t>
            </a:r>
          </a:p>
          <a:p>
            <a:pPr>
              <a:spcAft>
                <a:spcPts val="1800"/>
              </a:spcAft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2BB96BC-5E90-9FFB-1659-6EBECDCEE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740" y="6813015"/>
            <a:ext cx="6786755" cy="63285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609CD19-65F5-F387-F008-4D0285D7F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6" y="7387462"/>
            <a:ext cx="7110436" cy="5075887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76D5192-F2FE-4562-B8C1-FFEF8AE9C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5743" y="6813016"/>
            <a:ext cx="6786755" cy="6328524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41DF3A7D-9BFA-4B85-8D2B-A2BC26EFB931}"/>
              </a:ext>
            </a:extLst>
          </p:cNvPr>
          <p:cNvSpPr/>
          <p:nvPr/>
        </p:nvSpPr>
        <p:spPr>
          <a:xfrm>
            <a:off x="9672457" y="8964813"/>
            <a:ext cx="3601425" cy="5804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8549F6D-99C0-ECD2-38B1-815B238431F1}"/>
              </a:ext>
            </a:extLst>
          </p:cNvPr>
          <p:cNvSpPr/>
          <p:nvPr/>
        </p:nvSpPr>
        <p:spPr>
          <a:xfrm>
            <a:off x="16755743" y="8971139"/>
            <a:ext cx="3601425" cy="2425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3BF19E4-3D18-29F5-72BC-02C90743088E}"/>
              </a:ext>
            </a:extLst>
          </p:cNvPr>
          <p:cNvSpPr/>
          <p:nvPr/>
        </p:nvSpPr>
        <p:spPr>
          <a:xfrm>
            <a:off x="3721395" y="9746936"/>
            <a:ext cx="701749" cy="1438515"/>
          </a:xfrm>
          <a:prstGeom prst="rect">
            <a:avLst/>
          </a:prstGeom>
          <a:noFill/>
          <a:ln w="920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BC0A6DA-4319-0D1E-B877-DF8E133C880C}"/>
              </a:ext>
            </a:extLst>
          </p:cNvPr>
          <p:cNvSpPr/>
          <p:nvPr/>
        </p:nvSpPr>
        <p:spPr>
          <a:xfrm>
            <a:off x="9672456" y="11031379"/>
            <a:ext cx="3601425" cy="926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78904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61089" y="2901450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245490" y="3262563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Lista de Valores – Aba “</a:t>
            </a:r>
            <a:r>
              <a:rPr lang="pt-BR" b="1" dirty="0" err="1"/>
              <a:t>Additional</a:t>
            </a:r>
            <a:r>
              <a:rPr lang="pt-BR" b="1" dirty="0"/>
              <a:t> </a:t>
            </a:r>
            <a:r>
              <a:rPr lang="pt-BR" b="1" dirty="0" err="1"/>
              <a:t>Checks</a:t>
            </a:r>
            <a:r>
              <a:rPr lang="pt-BR" b="1" dirty="0"/>
              <a:t>”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B3E3B9-982B-6E08-7D4D-CF1997395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46" y="4218149"/>
            <a:ext cx="2261302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padrão de nomeação da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Check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Constraint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deve ser consultado no PPDS.CAIXA, que varia de acordo com o SGBD;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classe desse tipo de coluna é IC e deve ser Mandatória, limitada até 10 valores;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lista de valores e o valor default devem ser preenchidos na aba “Standard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Checks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”.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>
              <a:spcAft>
                <a:spcPts val="1800"/>
              </a:spcAft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1E8DCA6-B6C6-7ED9-8F94-88C03BF1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406" y="7108779"/>
            <a:ext cx="9385404" cy="551353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B1ECC2F2-62BF-7A2D-1351-5392EB2CD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0622" y="7115092"/>
            <a:ext cx="9385404" cy="5513538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61F546A3-7776-F381-8CBA-8FC1E7260519}"/>
              </a:ext>
            </a:extLst>
          </p:cNvPr>
          <p:cNvSpPr/>
          <p:nvPr/>
        </p:nvSpPr>
        <p:spPr>
          <a:xfrm>
            <a:off x="6550022" y="7685484"/>
            <a:ext cx="960171" cy="243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481E2F1-BDB9-E117-FC89-98A4E93E6F60}"/>
              </a:ext>
            </a:extLst>
          </p:cNvPr>
          <p:cNvSpPr/>
          <p:nvPr/>
        </p:nvSpPr>
        <p:spPr>
          <a:xfrm>
            <a:off x="16507841" y="7685484"/>
            <a:ext cx="960171" cy="243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0C73E4F-A031-AD6B-C003-6DA19EB7FA8B}"/>
              </a:ext>
            </a:extLst>
          </p:cNvPr>
          <p:cNvSpPr/>
          <p:nvPr/>
        </p:nvSpPr>
        <p:spPr>
          <a:xfrm>
            <a:off x="17795661" y="7980245"/>
            <a:ext cx="960171" cy="243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EE28FB6-4F75-E085-E07D-2D5B18AE6267}"/>
              </a:ext>
            </a:extLst>
          </p:cNvPr>
          <p:cNvSpPr/>
          <p:nvPr/>
        </p:nvSpPr>
        <p:spPr>
          <a:xfrm>
            <a:off x="13648963" y="8683494"/>
            <a:ext cx="960171" cy="243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17814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61089" y="2901450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245490" y="3262563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Índice – Aba “Index”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B3E3B9-982B-6E08-7D4D-CF1997395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593" y="4541957"/>
            <a:ext cx="22613027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padrão de nomeação do índice deve ser consultado no PPDS.CAIXA, que varia de acordo com o SGBD;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ADI é responsável pela validação </a:t>
            </a:r>
            <a:r>
              <a:rPr lang="pt-BR" altLang="pt-BR" sz="6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APENAS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do índice de PK, necessário para grande parte dos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SGBDs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, exceto Oracle.</a:t>
            </a:r>
          </a:p>
          <a:p>
            <a:pPr>
              <a:spcAft>
                <a:spcPts val="1800"/>
              </a:spcAft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5E2E31C-E95D-31E5-B0CF-C18004398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790" y="6837955"/>
            <a:ext cx="11348471" cy="5887474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C81C63A4-556E-F562-B50F-23420B0B7A57}"/>
              </a:ext>
            </a:extLst>
          </p:cNvPr>
          <p:cNvSpPr/>
          <p:nvPr/>
        </p:nvSpPr>
        <p:spPr>
          <a:xfrm>
            <a:off x="9275850" y="7441848"/>
            <a:ext cx="673694" cy="161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75194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61089" y="2901450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245490" y="3262563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 err="1"/>
              <a:t>Sequence</a:t>
            </a:r>
            <a:endParaRPr lang="pt-BR" b="1" dirty="0"/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DB3E3B9-982B-6E08-7D4D-CF1997395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593" y="4541957"/>
            <a:ext cx="23274928" cy="8479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Objeto de banco de dados responsável por gerar valores numéricos automaticamente;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Diferente do objeto IDENTITY, a SEQUENCE não fica vinculada à tabela e nem à coluna, sendo vinculada no momento da operação INSERT via aplicação;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Uma tabela poderá utilizar mais de uma SEQUENCE para colunas diferentes;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padrão de nomeação da SEQUENCE deve ser consultado no PPDS.CAIXA, acrescentando o nome da coluna após o prefixo &lt;ALIAS&gt;SQ&lt;três últimos caracteres da tabela&gt;_&lt;nome do atributo&gt;;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 coluna que for diretamente relacionada a uma SEQUENCE deve ter a sua vinculação representada no modelo;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SEQUENCE poderá ser criada no momento da sua vinculação à coluna;</a:t>
            </a:r>
          </a:p>
          <a:p>
            <a:pPr algn="just">
              <a:spcAft>
                <a:spcPts val="1800"/>
              </a:spcAft>
              <a:defRPr/>
            </a:pPr>
            <a:endParaRPr 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6023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95615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361747" y="2906625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 err="1"/>
              <a:t>Sequence</a:t>
            </a:r>
            <a:endParaRPr lang="pt-BR" b="1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E027A64-F546-C9C3-51EC-00A4205E9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96" y="7232321"/>
            <a:ext cx="8250382" cy="4846759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602E1BBB-FC59-5ABC-15AE-B5D8CA04B6D1}"/>
              </a:ext>
            </a:extLst>
          </p:cNvPr>
          <p:cNvSpPr/>
          <p:nvPr/>
        </p:nvSpPr>
        <p:spPr>
          <a:xfrm>
            <a:off x="1024900" y="11190134"/>
            <a:ext cx="673694" cy="161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8177A1B-6D23-19B0-4821-B011AA19EF78}"/>
              </a:ext>
            </a:extLst>
          </p:cNvPr>
          <p:cNvSpPr/>
          <p:nvPr/>
        </p:nvSpPr>
        <p:spPr>
          <a:xfrm>
            <a:off x="7277025" y="11213404"/>
            <a:ext cx="465303" cy="182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EAC5E4B4-2E22-6456-DD01-916CE2B41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996" y="3947245"/>
            <a:ext cx="22613027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nome e o código recebem a mesma denominação;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descrição da SEQUENCE deve ser preenchida no campo “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Comment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Owner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da SEQUENCE deve ser preenchido;</a:t>
            </a:r>
          </a:p>
          <a:p>
            <a:pPr marL="857250" indent="-857250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As propriedades físicas da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sequence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devem se preenchidas na aba “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Physical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Option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ou “DB2”.</a:t>
            </a:r>
          </a:p>
          <a:p>
            <a:pPr>
              <a:spcAft>
                <a:spcPts val="1800"/>
              </a:spcAft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2DE434E1-A01B-E377-9BD3-7A0F085DE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531" y="7215017"/>
            <a:ext cx="7884282" cy="5736644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D83CE1CB-F686-BB56-BB1E-F1A966C5015B}"/>
              </a:ext>
            </a:extLst>
          </p:cNvPr>
          <p:cNvSpPr/>
          <p:nvPr/>
        </p:nvSpPr>
        <p:spPr>
          <a:xfrm>
            <a:off x="9822531" y="8400920"/>
            <a:ext cx="7337744" cy="529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EB99FF3-271B-366F-3408-8ABC47D37D6F}"/>
              </a:ext>
            </a:extLst>
          </p:cNvPr>
          <p:cNvSpPr/>
          <p:nvPr/>
        </p:nvSpPr>
        <p:spPr>
          <a:xfrm>
            <a:off x="10098982" y="11583420"/>
            <a:ext cx="1617425" cy="336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F90D763-C3CD-D0B9-DE42-D3310707C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9079" y="7489992"/>
            <a:ext cx="5625892" cy="409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13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68675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361747" y="2906625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 err="1"/>
              <a:t>Identity</a:t>
            </a:r>
            <a:endParaRPr lang="pt-BR" b="1" dirty="0"/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EAC5E4B4-2E22-6456-DD01-916CE2B41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920" y="3332684"/>
            <a:ext cx="22613027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PT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PT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propriedade IDENTITY tem como finalidade incrementar de forma automática um valor a cada nova inserção de registro na tabela;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PT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propriedade IDENTITY é associada à chave primária (PK) de uma tabela no momento do CREATE TABLE ou ALTER TABLE (DDL).</a:t>
            </a: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>
              <a:spcAft>
                <a:spcPts val="1800"/>
              </a:spcAft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892C15-52AD-8896-AFBD-307A1D668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21" y="7021410"/>
            <a:ext cx="8127942" cy="47748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FA02C596-9EC9-6B62-0015-E7C959BE79D1}"/>
              </a:ext>
            </a:extLst>
          </p:cNvPr>
          <p:cNvSpPr/>
          <p:nvPr/>
        </p:nvSpPr>
        <p:spPr>
          <a:xfrm>
            <a:off x="7754130" y="10647283"/>
            <a:ext cx="701751" cy="303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A4F0BEF-7A1E-2D3B-C963-523D33B3E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785" y="7225619"/>
            <a:ext cx="7636026" cy="475628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EA4B151-C5AA-A901-9C20-1D31BFDFA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7596" y="6978721"/>
            <a:ext cx="6542946" cy="5258627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33B56363-F2E0-6273-2E9C-28920FB219F6}"/>
              </a:ext>
            </a:extLst>
          </p:cNvPr>
          <p:cNvSpPr/>
          <p:nvPr/>
        </p:nvSpPr>
        <p:spPr>
          <a:xfrm>
            <a:off x="15972012" y="7845467"/>
            <a:ext cx="701751" cy="303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BF0F776-5530-01FC-1D06-481A3B271013}"/>
              </a:ext>
            </a:extLst>
          </p:cNvPr>
          <p:cNvSpPr/>
          <p:nvPr/>
        </p:nvSpPr>
        <p:spPr>
          <a:xfrm>
            <a:off x="22958978" y="7517227"/>
            <a:ext cx="701751" cy="303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17276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95615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361747" y="2906625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 err="1"/>
              <a:t>Owner</a:t>
            </a:r>
            <a:endParaRPr lang="pt-BR" b="1" dirty="0"/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EAC5E4B4-2E22-6456-DD01-916CE2B41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176" y="4296108"/>
            <a:ext cx="22613027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OWNER do modelo condiz com a sigla do sistema, com exceção dos sistemas armazenados no Microsoft SQL Server, que possuem o “</a:t>
            </a:r>
            <a:r>
              <a:rPr 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dbo</a:t>
            </a: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de forma padrão;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 TABELA e SEQUENCE obrigatoriamente estão vinculados ao OWNER do sistema.</a:t>
            </a: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A02C596-9EC9-6B62-0015-E7C959BE79D1}"/>
              </a:ext>
            </a:extLst>
          </p:cNvPr>
          <p:cNvSpPr/>
          <p:nvPr/>
        </p:nvSpPr>
        <p:spPr>
          <a:xfrm>
            <a:off x="9462974" y="11695813"/>
            <a:ext cx="510366" cy="346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7DEEBF2-3ECE-0ACB-4AEC-DB26EE06F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961" y="7199463"/>
            <a:ext cx="10391775" cy="539115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D2D76DAC-7DD7-3D32-0310-C45317C96453}"/>
              </a:ext>
            </a:extLst>
          </p:cNvPr>
          <p:cNvSpPr/>
          <p:nvPr/>
        </p:nvSpPr>
        <p:spPr>
          <a:xfrm>
            <a:off x="5511208" y="9679177"/>
            <a:ext cx="2420680" cy="3366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60237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95615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361747" y="2906625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Particionamento de Tabela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EAC5E4B4-2E22-6456-DD01-916CE2B41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1747" y="4208859"/>
            <a:ext cx="22613027" cy="8586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Considera-se uma tabela candidata ao particionamento nas seguintes situações: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Volume de linhas inicial; 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Taxa de Crescimento ao ano;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As características Negociais;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As particularidades do SGBD.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Tabelas com volume superior a 100.000.000 (cem milhões) de linhas por ano deverão ser assinaladas no laudo de validação do AD mas também com as informações acima visando alertar o DBA para analisar esse assunto em tempo de implementação física;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É registrada nas propriedades físicas do objeto a indicação do particionamento da tabela em campo apropriado, conforme SGBD utilizado.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Oracle e DB2 tem sua indicação na opção PARTITION;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Microsoft SQL Server tem sua indicação na opção Microsoft.</a:t>
            </a:r>
            <a:endParaRPr lang="pt-BR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6366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95615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372140" y="2796093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Partição no Oracle e DB2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EAC5E4B4-2E22-6456-DD01-916CE2B41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69" y="3873395"/>
            <a:ext cx="22613027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Oracle e DB2 têm sua indicação na aba “</a:t>
            </a:r>
            <a:r>
              <a:rPr lang="pt-BR" sz="54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Partition</a:t>
            </a: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Há dois tipos de particionamento: 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Range: leva em consideração a regra de negócio baseada em uma coluna chave ou não chave que será responsável pelo agrupamento dos dados por partição; (RECOMENDÀVEL)</a:t>
            </a:r>
          </a:p>
          <a:p>
            <a:pPr marL="1314450" lvl="1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Size</a:t>
            </a: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leva em consideração apenas a quantidade de linhas por partição. (NÃO RECOMENDÀVEL)</a:t>
            </a:r>
          </a:p>
          <a:p>
            <a:pPr algn="just">
              <a:spcAft>
                <a:spcPts val="1800"/>
              </a:spcAft>
              <a:defRPr/>
            </a:pPr>
            <a:endParaRPr lang="pt-BR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62EC97-8BA6-EBE3-658C-076C6A2D4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767" y="7676014"/>
            <a:ext cx="9733059" cy="504941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87D8D54-821D-0225-985B-6F37EC294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0545" y="7781055"/>
            <a:ext cx="10062416" cy="5220282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E4409960-B596-1A9A-C27E-7B561010D2F1}"/>
              </a:ext>
            </a:extLst>
          </p:cNvPr>
          <p:cNvSpPr/>
          <p:nvPr/>
        </p:nvSpPr>
        <p:spPr>
          <a:xfrm>
            <a:off x="1624767" y="10182608"/>
            <a:ext cx="4967417" cy="282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A364FD2-7C74-E27D-4FF1-F5366F5A5CD3}"/>
              </a:ext>
            </a:extLst>
          </p:cNvPr>
          <p:cNvSpPr/>
          <p:nvPr/>
        </p:nvSpPr>
        <p:spPr>
          <a:xfrm>
            <a:off x="20797285" y="8295249"/>
            <a:ext cx="467832" cy="2842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F7CEBF2-2D68-F46E-E463-C7D425B03843}"/>
              </a:ext>
            </a:extLst>
          </p:cNvPr>
          <p:cNvSpPr/>
          <p:nvPr/>
        </p:nvSpPr>
        <p:spPr>
          <a:xfrm>
            <a:off x="12730545" y="8570863"/>
            <a:ext cx="2608832" cy="19611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30244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62452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372140" y="2796093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Partição no Microsoft SQL Server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EAC5E4B4-2E22-6456-DD01-916CE2B41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69" y="3873395"/>
            <a:ext cx="22613027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Microsoft SQL Server tem sua indicação na aba “Microsoft” 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Especificar o “</a:t>
            </a:r>
            <a:r>
              <a:rPr lang="pt-BR" sz="54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Partition</a:t>
            </a: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pt-BR" sz="54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Scheme</a:t>
            </a: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e a coluna a ser particionada;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Especificar o “</a:t>
            </a:r>
            <a:r>
              <a:rPr lang="pt-BR" sz="54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Filestream</a:t>
            </a: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pt-BR" sz="54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Partition</a:t>
            </a: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pt-BR" sz="54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Scheme</a:t>
            </a:r>
            <a:r>
              <a:rPr 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e a coluna a ser particionada.</a:t>
            </a:r>
          </a:p>
          <a:p>
            <a:pPr algn="just">
              <a:spcAft>
                <a:spcPts val="1800"/>
              </a:spcAft>
              <a:defRPr/>
            </a:pPr>
            <a:endParaRPr lang="pt-BR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C0AC81E-96BA-8EC0-9D81-62FF0E89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477" y="6147633"/>
            <a:ext cx="12679109" cy="6577796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0CD38D8-298A-CCC5-82A3-CAAF6A8211D8}"/>
              </a:ext>
            </a:extLst>
          </p:cNvPr>
          <p:cNvSpPr/>
          <p:nvPr/>
        </p:nvSpPr>
        <p:spPr>
          <a:xfrm>
            <a:off x="6291972" y="7702477"/>
            <a:ext cx="12031014" cy="803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2D87659-1124-697C-A489-E7BF14809CEF}"/>
              </a:ext>
            </a:extLst>
          </p:cNvPr>
          <p:cNvSpPr/>
          <p:nvPr/>
        </p:nvSpPr>
        <p:spPr>
          <a:xfrm>
            <a:off x="16437935" y="6858000"/>
            <a:ext cx="595423" cy="115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9563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95615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361747" y="2906625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Compactação de Dados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EAC5E4B4-2E22-6456-DD01-916CE2B41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00" y="4208859"/>
            <a:ext cx="22477068" cy="463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Toda nova tabela criada em SGBD relacional tem a indicação, na opção adequada da ferramenta de modelagem, da forma de compactação;</a:t>
            </a:r>
          </a:p>
          <a:p>
            <a:pPr marL="857250" indent="-857250" algn="just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não utilização de compactação é embasada em relatório técnico elaborado por DBA da CESTI e/ou CEPTI.</a:t>
            </a:r>
          </a:p>
        </p:txBody>
      </p:sp>
    </p:spTree>
    <p:extLst>
      <p:ext uri="{BB962C8B-B14F-4D97-AF65-F5344CB8AC3E}">
        <p14:creationId xmlns:p14="http://schemas.microsoft.com/office/powerpoint/2010/main" val="20820785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95615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361747" y="2906625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Compactação de Dados – DB2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EAC5E4B4-2E22-6456-DD01-916CE2B41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28" y="4464393"/>
            <a:ext cx="22613027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compactação dos dados no DB2 é indicada na aba “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Physical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Options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”, na cláusula “COMPRESS (YES)”.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65E692A-E5F8-5076-7EA3-241029EDE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790" y="5954326"/>
            <a:ext cx="12930944" cy="670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974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124047" y="2419042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372140" y="2648894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Compactação de Dados – Oracle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EAC5E4B4-2E22-6456-DD01-916CE2B41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48" y="3626709"/>
            <a:ext cx="22613027" cy="441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compactação dos dados no Oracle é indicada na opção “</a:t>
            </a:r>
            <a:r>
              <a:rPr 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Physical</a:t>
            </a: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Options</a:t>
            </a: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”, na cláusula “TABLE PROPERTIES, EXTRA, COMPRESS_CLAUSE, COMPRESS (BASIC)”;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Existem outras possibilidades de compressão para os modelos de dados Oracle que podem ser exploradas.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3302D1D-054B-05E6-C3D3-2D7C8BCE5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264" y="5843316"/>
            <a:ext cx="12835314" cy="665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648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95615"/>
            <a:ext cx="23879283" cy="1036798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Objetos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– </a:t>
            </a:r>
            <a:r>
              <a:rPr lang="en-US" sz="6600" dirty="0" err="1">
                <a:latin typeface="Tw Cen MT" panose="020B0602020104020603" pitchFamily="34" charset="77"/>
              </a:rPr>
              <a:t>Configurações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Físicas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1118843" y="3713251"/>
            <a:ext cx="202810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/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5DD643-A700-23AB-4F69-8441A8DD1C40}"/>
              </a:ext>
            </a:extLst>
          </p:cNvPr>
          <p:cNvSpPr txBox="1"/>
          <p:nvPr/>
        </p:nvSpPr>
        <p:spPr>
          <a:xfrm>
            <a:off x="1361747" y="2906625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Compactação de Dados – Microsoft SQL Server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EAC5E4B4-2E22-6456-DD01-916CE2B41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358" y="4467122"/>
            <a:ext cx="22613027" cy="2231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compactação dos dados no Microsoft SQL Server é indicada na aba “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Physical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Options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na cláusula “WITH DATA_COMPRESSION(PAGE)”.</a:t>
            </a:r>
          </a:p>
          <a:p>
            <a:pPr marL="857250" indent="-857250" algn="just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endParaRPr 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1AA84A2-6A55-572B-0A63-ED43AB105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55" y="6290358"/>
            <a:ext cx="13144557" cy="681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450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0734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Metadados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54759" y="3331907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Preenchimento dos Metadados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252048" y="4254586"/>
            <a:ext cx="2028109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Classificação da informação;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Detalhe das colunas numéricos com os tipo de dado Smallint, Integer e BigInt;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Valor para a carga inicial do dado na coluna.</a:t>
            </a:r>
          </a:p>
          <a:p>
            <a:pPr lvl="1"/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1442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0734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Metadados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54759" y="3331907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Classificação da informação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252048" y="4254586"/>
            <a:ext cx="22523978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Classificação da informação segue o MN </a:t>
            </a:r>
            <a:r>
              <a:rPr lang="pt-BR" altLang="pt-BR" sz="6600" baseline="30000" dirty="0">
                <a:solidFill>
                  <a:srgbClr val="00B0F0"/>
                </a:solidFill>
                <a:latin typeface="Tw Cen MT" panose="020B0602020104020603" pitchFamily="34" charset="77"/>
                <a:cs typeface="Arial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OR016 – Tratamento da Informação</a:t>
            </a:r>
            <a:r>
              <a:rPr lang="pt-BR" altLang="pt-BR" sz="6600" baseline="30000" dirty="0">
                <a:solidFill>
                  <a:srgbClr val="00B0F0"/>
                </a:solidFill>
                <a:latin typeface="Tw Cen MT" panose="020B0602020104020603" pitchFamily="34" charset="77"/>
                <a:cs typeface="Arial" charset="0"/>
              </a:rPr>
              <a:t>;</a:t>
            </a:r>
          </a:p>
          <a:p>
            <a:pPr marL="1314450" lvl="1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classificação da informação deve ser informada:</a:t>
            </a:r>
          </a:p>
          <a:p>
            <a:pPr marL="1771650" lvl="2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No Modelo de Dados: informar na opção “Properties”;</a:t>
            </a:r>
          </a:p>
          <a:p>
            <a:pPr marL="1771650" lvl="2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Nas tabelas do Modelo de Dados: informar na opção “Properties”;</a:t>
            </a:r>
          </a:p>
          <a:p>
            <a:pPr marL="1771650" lvl="2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Nas colunas do Modelo de Dados: informar na opção “Properties”, aba “Detalhes”.</a:t>
            </a:r>
          </a:p>
          <a:p>
            <a:pPr lvl="1"/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2040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0734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Metadados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728110" y="4472570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54759" y="3331907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Classificação da informação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A62AFD-3FD5-FE48-0AE3-63CED0641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48" y="4523131"/>
            <a:ext cx="5658010" cy="441676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C9E77A1-04C5-85DC-98CC-34E6E02B2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875" y="7419505"/>
            <a:ext cx="8513587" cy="441676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289ABE3-47E4-CAD9-280E-14C7BB64A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4190" y="7284188"/>
            <a:ext cx="7694821" cy="452039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A3E48F0-F988-010F-9C73-444BC90BD460}"/>
              </a:ext>
            </a:extLst>
          </p:cNvPr>
          <p:cNvSpPr txBox="1"/>
          <p:nvPr/>
        </p:nvSpPr>
        <p:spPr>
          <a:xfrm>
            <a:off x="1121057" y="9852146"/>
            <a:ext cx="4496090" cy="696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4400" b="1" dirty="0"/>
              <a:t>Modelo de Dados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3C53C67-EDC8-8E2C-62AD-241670538A28}"/>
              </a:ext>
            </a:extLst>
          </p:cNvPr>
          <p:cNvSpPr txBox="1"/>
          <p:nvPr/>
        </p:nvSpPr>
        <p:spPr>
          <a:xfrm>
            <a:off x="9464862" y="12377096"/>
            <a:ext cx="4496090" cy="696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4400" b="1" dirty="0"/>
              <a:t>Tabela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C9AFC12-422E-FEE8-E2AE-AF06F0F7016E}"/>
              </a:ext>
            </a:extLst>
          </p:cNvPr>
          <p:cNvSpPr txBox="1"/>
          <p:nvPr/>
        </p:nvSpPr>
        <p:spPr>
          <a:xfrm>
            <a:off x="18471042" y="12128045"/>
            <a:ext cx="4496090" cy="696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4400" b="1" dirty="0"/>
              <a:t>Coluna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A42AC2F-9845-975A-E960-67FEA381DF50}"/>
              </a:ext>
            </a:extLst>
          </p:cNvPr>
          <p:cNvSpPr/>
          <p:nvPr/>
        </p:nvSpPr>
        <p:spPr>
          <a:xfrm>
            <a:off x="6506044" y="10254783"/>
            <a:ext cx="2608832" cy="1727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09EE910-EB8A-60EA-0FF2-93A9BA652A81}"/>
              </a:ext>
            </a:extLst>
          </p:cNvPr>
          <p:cNvSpPr/>
          <p:nvPr/>
        </p:nvSpPr>
        <p:spPr>
          <a:xfrm>
            <a:off x="18202940" y="8187070"/>
            <a:ext cx="3178397" cy="1600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4CFC51E-6AB1-B871-A6AC-76ABFF6A2D15}"/>
              </a:ext>
            </a:extLst>
          </p:cNvPr>
          <p:cNvSpPr/>
          <p:nvPr/>
        </p:nvSpPr>
        <p:spPr>
          <a:xfrm>
            <a:off x="406501" y="7889358"/>
            <a:ext cx="3506279" cy="2450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628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86397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Metadados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54759" y="3331907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sz="7200" b="1" dirty="0"/>
              <a:t>Detalhe das colunas numéricas dos tipos de dados </a:t>
            </a:r>
            <a:r>
              <a:rPr lang="pt-PT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Smallint, Integer e BigInt</a:t>
            </a:r>
            <a:endParaRPr lang="pt-BR" sz="7200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0" y="3872568"/>
            <a:ext cx="2252397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As colunas dos tipos de dados BIGINT, INTEGER e SMALLINT devem especificar na aba “DETALHES” o tamanho relaciodo ao dado que será armazenado;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69D5CF1-DC64-5114-8FCB-EBD14B183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16" y="6421858"/>
            <a:ext cx="11390005" cy="6691158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8EE165F-7849-C217-E325-E00D100173DC}"/>
              </a:ext>
            </a:extLst>
          </p:cNvPr>
          <p:cNvSpPr/>
          <p:nvPr/>
        </p:nvSpPr>
        <p:spPr>
          <a:xfrm>
            <a:off x="9591899" y="8061673"/>
            <a:ext cx="3379822" cy="242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950011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52048" y="2713665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Metadados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54759" y="3331907"/>
            <a:ext cx="21403886" cy="108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PT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Valor para carga inicial do dado na coluna</a:t>
            </a:r>
            <a:endParaRPr lang="pt-BR" sz="7200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0" y="3872568"/>
            <a:ext cx="225239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valor para carga inicial da coluna é exigido quando a tabela já está implementada e uma nova coluna é criada;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r>
              <a:rPr lang="pt-PT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Essa informação deve ser preenchina na aba “DETALHES”. </a:t>
            </a: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C5CBA7-5E9A-A2D1-C08E-143E9EEFC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912" y="6461123"/>
            <a:ext cx="11200463" cy="657981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4BC8143-30E2-0E4F-2B46-90DB38253A6C}"/>
              </a:ext>
            </a:extLst>
          </p:cNvPr>
          <p:cNvSpPr/>
          <p:nvPr/>
        </p:nvSpPr>
        <p:spPr>
          <a:xfrm>
            <a:off x="9866791" y="8354873"/>
            <a:ext cx="3379822" cy="242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5345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0734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Procedimentos</a:t>
            </a:r>
            <a:r>
              <a:rPr lang="en-US" sz="6600" dirty="0">
                <a:latin typeface="Tw Cen MT" panose="020B0602020104020603" pitchFamily="34" charset="77"/>
              </a:rPr>
              <a:t> para </a:t>
            </a:r>
            <a:r>
              <a:rPr lang="en-US" sz="6600" dirty="0" err="1">
                <a:latin typeface="Tw Cen MT" panose="020B0602020104020603" pitchFamily="34" charset="77"/>
              </a:rPr>
              <a:t>submissão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para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252048" y="4254586"/>
            <a:ext cx="23030572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Modelar os objetos na ferramenta Power Designer;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Verificar se os objetos modelados estão em conformidade com as normas e padrões definidos nas Instruções Normativas e nos Guias da Caixa;  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Identificar o Banco de Dados (SGBD) e a versão;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Submeter o Modelo de dados físico (novo ou preexistente) ao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Pré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-Validador;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Analisar e resolver os apontamentos, como avisos e erros, do relatório gerado pelo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Pré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-Validador;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Verificar se o escopo modelo está de acordo com os requisitos negociais.</a:t>
            </a:r>
          </a:p>
          <a:p>
            <a:pPr marL="0" lvl="1"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   </a:t>
            </a:r>
          </a:p>
          <a:p>
            <a:pPr lvl="1"/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6945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0734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Submeter 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para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54759" y="3331907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Procedimentos para submissão de modelo preexistente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252048" y="4354639"/>
            <a:ext cx="23030572" cy="10002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pt-PT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lvl="1" indent="-5715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Baixe a última versão do modelo de dados no repositório e faça as alterações nessa versão;</a:t>
            </a:r>
          </a:p>
          <a:p>
            <a:pPr marL="571500" lvl="1" indent="-5715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Execute o “Compare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with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Repository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” para geração do arquivo compare.xml;</a:t>
            </a:r>
          </a:p>
          <a:p>
            <a:pPr marL="571500" lvl="1" indent="-5715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Abra um RTC de validação no “Acionamento de Capítulos de Dados”;</a:t>
            </a:r>
          </a:p>
          <a:p>
            <a:pPr marL="571500" lvl="1" indent="-5715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Acesse a 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Ferramenta de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-Validação de Modelo de Dados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;</a:t>
            </a:r>
          </a:p>
          <a:p>
            <a:pPr marL="571500" lvl="1" indent="-5715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Submeta o modelo de dados físico (PDM) e o compare.xml para validação;</a:t>
            </a:r>
          </a:p>
          <a:p>
            <a:pPr marL="571500" lvl="1" indent="-5715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Informe os requisitos negociais relacionados ao escopo da alteração no modelo de dados.</a:t>
            </a:r>
          </a:p>
          <a:p>
            <a:pPr marL="571500" lvl="1" indent="-571500">
              <a:buFont typeface="Arial" panose="020B0604020202020204" pitchFamily="34" charset="0"/>
              <a:buChar char="•"/>
              <a:defRPr/>
            </a:pP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0" lvl="1"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   </a:t>
            </a:r>
          </a:p>
          <a:p>
            <a:pPr lvl="1"/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4136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0734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Submeter 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para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CC1396-FA78-4C93-B53F-1082A5A80D96}"/>
              </a:ext>
            </a:extLst>
          </p:cNvPr>
          <p:cNvSpPr txBox="1"/>
          <p:nvPr/>
        </p:nvSpPr>
        <p:spPr>
          <a:xfrm>
            <a:off x="854759" y="3331907"/>
            <a:ext cx="21403886" cy="1191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pt-BR" b="1" dirty="0"/>
              <a:t>Procedimentos para submissão de modelo de dados novo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432148" y="4728050"/>
            <a:ext cx="23030572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Abra um RTC de validação no “Acionamento de Capítulos de Dados”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Acesse a 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Ferramenta de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Pré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-Validação de Modelo de Dados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;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Submeta o modelo de dados físico (PDM) para validação;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Informe os requisitos negociais relacionados ao escopo da alteração no modelo de dados.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0" lvl="1"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   </a:t>
            </a:r>
          </a:p>
          <a:p>
            <a:pPr lvl="1"/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8883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0734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2. Processo de </a:t>
            </a:r>
            <a:r>
              <a:rPr lang="en-US" sz="6600" dirty="0" err="1">
                <a:latin typeface="Tw Cen MT" panose="020B0602020104020603" pitchFamily="34" charset="77"/>
              </a:rPr>
              <a:t>Validação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Ferramentas e </a:t>
            </a:r>
            <a:r>
              <a:rPr lang="en-US" sz="6600" dirty="0" err="1">
                <a:latin typeface="Tw Cen MT" panose="020B0602020104020603" pitchFamily="34" charset="77"/>
              </a:rPr>
              <a:t>Documentos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522180" y="3786604"/>
            <a:ext cx="23030572" cy="10679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Acessar os Requisitos Negociais/Histórias de Usuário (HU) para análise do escopo a ser modelado:</a:t>
            </a:r>
          </a:p>
          <a:p>
            <a:pPr marL="1485900" lvl="3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RDNG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Identificar o SGBD, volumetria, integrações:</a:t>
            </a:r>
          </a:p>
          <a:p>
            <a:pPr marL="1485900" lvl="3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DAS (Documento de Arquitetura de Software)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Verificar a classificação da informação, descrição do sistema:</a:t>
            </a:r>
          </a:p>
          <a:p>
            <a:pPr marL="1485900" lvl="3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SIPGC (https://plataformagestaoti.caixa/)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Criar o Modelo de Dados físico de acordo com o SGBD do sistema:</a:t>
            </a:r>
          </a:p>
          <a:p>
            <a:pPr marL="1485900" lvl="3" indent="-5715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Power Designer</a:t>
            </a:r>
          </a:p>
          <a:p>
            <a:pPr marL="0" lvl="1"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   </a:t>
            </a:r>
          </a:p>
          <a:p>
            <a:pPr lvl="1"/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5986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0734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3. </a:t>
            </a:r>
            <a:r>
              <a:rPr lang="en-US" sz="6600" dirty="0" err="1">
                <a:latin typeface="Tw Cen MT" panose="020B0602020104020603" pitchFamily="34" charset="77"/>
              </a:rPr>
              <a:t>Atualizando</a:t>
            </a:r>
            <a:r>
              <a:rPr lang="en-US" sz="6600" dirty="0">
                <a:latin typeface="Tw Cen MT" panose="020B0602020104020603" pitchFamily="34" charset="77"/>
              </a:rPr>
              <a:t> um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EXISTENTE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Atividade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D24128-2F87-44D5-928F-F2F8CEAF557D}"/>
              </a:ext>
            </a:extLst>
          </p:cNvPr>
          <p:cNvSpPr txBox="1"/>
          <p:nvPr/>
        </p:nvSpPr>
        <p:spPr>
          <a:xfrm>
            <a:off x="522180" y="3786604"/>
            <a:ext cx="23030572" cy="12711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lvl="1" indent="-857250">
              <a:buFont typeface="Wingdings" panose="05000000000000000000" pitchFamily="2" charset="2"/>
              <a:buChar char="ü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Atualizar o modelo de dados que permita o parcelamento do valor de um pagamento efetuado via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Pix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, com as seguintes regras negociais:</a:t>
            </a:r>
          </a:p>
          <a:p>
            <a:pPr marL="857250" lvl="1" indent="-857250">
              <a:buFont typeface="Wingdings" panose="05000000000000000000" pitchFamily="2" charset="2"/>
              <a:buChar char="ü"/>
              <a:defRPr/>
            </a:pP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lvl="1" indent="-857250"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sistema deve permitir o parcelamento do valor em até 10 vezes.  O valor mínimo para parcelamento deve ser de R$100,00;</a:t>
            </a:r>
          </a:p>
          <a:p>
            <a:pPr marL="857250" lvl="1" indent="-857250"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parcelamento deve ser feito apenas para transações realizadas via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Pix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. O sistema deve calcular automaticamente o valor de cada parcela, considerando os juros e a taxa de administração;</a:t>
            </a:r>
          </a:p>
          <a:p>
            <a:pPr marL="857250" lvl="1" indent="-857250"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Data de vencimento das próximas parcelas do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Pix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será a mesma em que o pagamento foi realizado;</a:t>
            </a:r>
          </a:p>
          <a:p>
            <a:pPr marL="857250" lvl="1" indent="-857250"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usuário poderá escolher a quantidade de parcelas no momento da transação via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Pix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, sendo a primeira parcela paga no momento que o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Pix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é realizado, gerando um comprovante de pagamento da primeira parcela;</a:t>
            </a:r>
          </a:p>
          <a:p>
            <a:pPr marL="857250" lvl="1" indent="-857250">
              <a:buFont typeface="Arial" panose="020B0604020202020204" pitchFamily="34" charset="0"/>
              <a:buChar char="•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usuário tem a opção de quitar o saldo devedor antecipadamente, a qualquer momento.</a:t>
            </a:r>
          </a:p>
          <a:p>
            <a:pPr marL="857250" lvl="1" indent="-857250">
              <a:buFont typeface="Arial" panose="020B0604020202020204" pitchFamily="34" charset="0"/>
              <a:buChar char="•"/>
              <a:defRPr/>
            </a:pP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0" lvl="1"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   </a:t>
            </a:r>
          </a:p>
          <a:p>
            <a:pPr lvl="1"/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PT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44368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2607340"/>
            <a:ext cx="23879283" cy="1075055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18EB01-E405-46AD-B4D3-0E87FB4A569C}"/>
              </a:ext>
            </a:extLst>
          </p:cNvPr>
          <p:cNvSpPr txBox="1">
            <a:spLocks/>
          </p:cNvSpPr>
          <p:nvPr/>
        </p:nvSpPr>
        <p:spPr>
          <a:xfrm>
            <a:off x="252048" y="990571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3. </a:t>
            </a:r>
            <a:r>
              <a:rPr lang="en-US" sz="6600" dirty="0" err="1">
                <a:latin typeface="Tw Cen MT" panose="020B0602020104020603" pitchFamily="34" charset="77"/>
              </a:rPr>
              <a:t>Atualizando</a:t>
            </a:r>
            <a:r>
              <a:rPr lang="en-US" sz="6600" dirty="0">
                <a:latin typeface="Tw Cen MT" panose="020B0602020104020603" pitchFamily="34" charset="77"/>
              </a:rPr>
              <a:t> um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EXISTENTE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Atividade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AB821EA-E630-4954-9DCF-3516E1979A48}"/>
              </a:ext>
            </a:extLst>
          </p:cNvPr>
          <p:cNvSpPr txBox="1">
            <a:spLocks noChangeArrowheads="1"/>
          </p:cNvSpPr>
          <p:nvPr/>
        </p:nvSpPr>
        <p:spPr>
          <a:xfrm>
            <a:off x="1118843" y="4624407"/>
            <a:ext cx="21657183" cy="29786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pt-PT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6C7F741-03A3-1920-0925-D1D4F52B2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45" y="3826131"/>
            <a:ext cx="21321655" cy="860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073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BFAD22F-3A13-4F16-94D2-B685C3DD1F83}"/>
              </a:ext>
            </a:extLst>
          </p:cNvPr>
          <p:cNvSpPr txBox="1"/>
          <p:nvPr/>
        </p:nvSpPr>
        <p:spPr>
          <a:xfrm>
            <a:off x="2276033" y="3771792"/>
            <a:ext cx="18045749" cy="894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altLang="pt-BR" sz="6000" baseline="30000" dirty="0">
                <a:solidFill>
                  <a:schemeClr val="bg1"/>
                </a:solidFill>
                <a:latin typeface="Tw Cen MT" panose="020B0602020104020603" pitchFamily="34" charset="77"/>
                <a:cs typeface="Arial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Arquitetura TI Caixa</a:t>
            </a:r>
            <a:endParaRPr lang="pt-BR" altLang="pt-BR" sz="6000" baseline="30000" dirty="0">
              <a:solidFill>
                <a:schemeClr val="bg1"/>
              </a:solidFill>
              <a:latin typeface="Tw Cen MT" panose="020B0602020104020603" pitchFamily="34" charset="77"/>
              <a:cs typeface="Arial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lvl="4">
              <a:spcAft>
                <a:spcPts val="1800"/>
              </a:spcAft>
            </a:pPr>
            <a:r>
              <a:rPr lang="pt-BR" altLang="pt-BR" sz="6000" baseline="30000" dirty="0">
                <a:solidFill>
                  <a:schemeClr val="bg1"/>
                </a:solidFill>
                <a:latin typeface="Tw Cen MT" panose="020B0602020104020603" pitchFamily="34" charset="77"/>
                <a:cs typeface="Arial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TE073- GERÊNCIA DE MODELOS DE SISTEMAS DE INFORMAÇÃO</a:t>
            </a:r>
            <a:endParaRPr lang="pt-BR" altLang="pt-BR" sz="6000" baseline="30000" dirty="0">
              <a:solidFill>
                <a:schemeClr val="bg1"/>
              </a:solidFill>
              <a:latin typeface="Tw Cen MT" panose="020B0602020104020603" pitchFamily="34" charset="77"/>
              <a:cs typeface="Arial" charset="0"/>
            </a:endParaRPr>
          </a:p>
          <a:p>
            <a:pPr marL="0" lvl="4">
              <a:spcAft>
                <a:spcPts val="1800"/>
              </a:spcAft>
            </a:pPr>
            <a:r>
              <a:rPr lang="pt-BR" sz="6000" baseline="30000" dirty="0">
                <a:solidFill>
                  <a:schemeClr val="bg1"/>
                </a:solidFill>
                <a:latin typeface="Tw Cen MT" panose="020B0602020104020603" pitchFamily="34" charset="77"/>
                <a:cs typeface="Arial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TE074 - MODELAGEM DE DADOS PARA SISTEMAS E APLICATIVOS DE NEGÓCIO CAIXA</a:t>
            </a:r>
            <a:endParaRPr lang="pt-BR" sz="6000" baseline="30000" dirty="0">
              <a:solidFill>
                <a:schemeClr val="bg1"/>
              </a:solidFill>
              <a:latin typeface="Tw Cen MT" panose="020B0602020104020603" pitchFamily="34" charset="77"/>
              <a:cs typeface="Arial" charset="0"/>
            </a:endParaRPr>
          </a:p>
          <a:p>
            <a:pPr marL="0" lvl="4">
              <a:spcAft>
                <a:spcPts val="1800"/>
              </a:spcAft>
            </a:pPr>
            <a:r>
              <a:rPr lang="pt-BR" sz="6000" baseline="30000" dirty="0">
                <a:solidFill>
                  <a:schemeClr val="bg1"/>
                </a:solidFill>
                <a:latin typeface="Tw Cen MT" panose="020B0602020104020603" pitchFamily="34" charset="77"/>
                <a:cs typeface="Arial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TE109 - INFORMAÇÕES COMPARTILHADAS DA CAIXA</a:t>
            </a:r>
            <a:r>
              <a:rPr lang="pt-BR" sz="6000" baseline="30000" dirty="0">
                <a:solidFill>
                  <a:schemeClr val="bg1"/>
                </a:solidFill>
                <a:latin typeface="Tw Cen MT" panose="020B0602020104020603" pitchFamily="34" charset="77"/>
                <a:cs typeface="Arial" charset="0"/>
              </a:rPr>
              <a:t>.</a:t>
            </a:r>
          </a:p>
          <a:p>
            <a:pPr marL="0" lvl="4">
              <a:spcAft>
                <a:spcPts val="1800"/>
              </a:spcAft>
            </a:pPr>
            <a:r>
              <a:rPr lang="pt-BR" altLang="pt-BR" sz="6000" baseline="30000" dirty="0">
                <a:solidFill>
                  <a:schemeClr val="bg1"/>
                </a:solidFill>
                <a:latin typeface="Tw Cen MT" panose="020B0602020104020603" pitchFamily="34" charset="77"/>
                <a:cs typeface="Arial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TE111- PADRÕES ARQUITETURAIS CAIXA</a:t>
            </a:r>
            <a:endParaRPr lang="pt-BR" altLang="pt-BR" sz="6000" baseline="30000" dirty="0">
              <a:solidFill>
                <a:schemeClr val="bg1"/>
              </a:solidFill>
              <a:latin typeface="Tw Cen MT" panose="020B0602020104020603" pitchFamily="34" charset="77"/>
              <a:cs typeface="Arial" charset="0"/>
            </a:endParaRPr>
          </a:p>
          <a:p>
            <a:pPr marL="0" lvl="4">
              <a:spcAft>
                <a:spcPts val="1800"/>
              </a:spcAft>
            </a:pPr>
            <a:r>
              <a:rPr lang="pt-BR" sz="6000" baseline="30000" dirty="0">
                <a:solidFill>
                  <a:schemeClr val="bg1"/>
                </a:solidFill>
                <a:latin typeface="Tw Cen MT" panose="020B0602020104020603" pitchFamily="34" charset="77"/>
                <a:cs typeface="Arial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Guia para Modelagem e Validação de Modelos de Dados Caixa.</a:t>
            </a:r>
            <a:endParaRPr lang="pt-BR" sz="6000" baseline="30000" dirty="0">
              <a:solidFill>
                <a:schemeClr val="bg1"/>
              </a:solidFill>
              <a:latin typeface="Tw Cen MT" panose="020B0602020104020603" pitchFamily="34" charset="77"/>
              <a:cs typeface="Arial" charset="0"/>
            </a:endParaRPr>
          </a:p>
          <a:p>
            <a:pPr marL="0" lvl="4">
              <a:spcAft>
                <a:spcPts val="1800"/>
              </a:spcAft>
            </a:pPr>
            <a:r>
              <a:rPr lang="pt-BR" sz="6000" baseline="30000" dirty="0">
                <a:solidFill>
                  <a:schemeClr val="bg1"/>
                </a:solidFill>
                <a:latin typeface="Tw Cen MT" panose="020B0602020104020603" pitchFamily="34" charset="77"/>
                <a:cs typeface="Arial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Nomenclatura de Objetos</a:t>
            </a:r>
            <a:endParaRPr lang="pt-BR" sz="6000" baseline="30000" dirty="0">
              <a:solidFill>
                <a:schemeClr val="bg1"/>
              </a:solidFill>
              <a:latin typeface="Tw Cen MT" panose="020B0602020104020603" pitchFamily="34" charset="77"/>
              <a:cs typeface="Arial" charset="0"/>
            </a:endParaRPr>
          </a:p>
          <a:p>
            <a:pPr marL="0" lvl="4">
              <a:spcAft>
                <a:spcPts val="1800"/>
              </a:spcAft>
            </a:pPr>
            <a:r>
              <a:rPr lang="pt-BR" sz="6000" baseline="30000" dirty="0">
                <a:solidFill>
                  <a:schemeClr val="bg1"/>
                </a:solidFill>
                <a:latin typeface="Tw Cen MT" panose="020B0602020104020603" pitchFamily="34" charset="77"/>
                <a:cs typeface="Arial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Expressões Regulares que Definem Objetos Físicos dos SGBD</a:t>
            </a:r>
            <a:endParaRPr lang="pt-BR" sz="6000" baseline="30000" dirty="0">
              <a:solidFill>
                <a:schemeClr val="bg1"/>
              </a:solidFill>
              <a:latin typeface="Tw Cen MT" panose="020B0602020104020603" pitchFamily="34" charset="77"/>
              <a:cs typeface="Arial" charset="0"/>
            </a:endParaRPr>
          </a:p>
          <a:p>
            <a:pPr marL="0" lvl="4">
              <a:spcAft>
                <a:spcPts val="1800"/>
              </a:spcAft>
            </a:pPr>
            <a:r>
              <a:rPr lang="pt-BR" sz="6000" baseline="30000" dirty="0">
                <a:solidFill>
                  <a:schemeClr val="bg1"/>
                </a:solidFill>
                <a:latin typeface="Tw Cen MT" panose="020B0602020104020603" pitchFamily="34" charset="77"/>
                <a:cs typeface="Arial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Guia de Padronização e Organização Gráfica de Modelos de Dados</a:t>
            </a:r>
            <a:endParaRPr lang="pt-BR" altLang="pt-BR" sz="6000" baseline="30000" dirty="0">
              <a:solidFill>
                <a:schemeClr val="bg1"/>
              </a:solidFill>
              <a:latin typeface="Tw Cen MT" panose="020B0602020104020603" pitchFamily="34" charset="77"/>
              <a:cs typeface="Arial" charset="0"/>
            </a:endParaRPr>
          </a:p>
          <a:p>
            <a:pPr>
              <a:spcAft>
                <a:spcPts val="1800"/>
              </a:spcAft>
            </a:pPr>
            <a:endParaRPr lang="pt-BR" sz="6000" baseline="30000" dirty="0">
              <a:solidFill>
                <a:schemeClr val="bg1"/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925FD5-E27F-4934-83F5-E2F9CF3DE261}"/>
              </a:ext>
            </a:extLst>
          </p:cNvPr>
          <p:cNvSpPr txBox="1">
            <a:spLocks/>
          </p:cNvSpPr>
          <p:nvPr/>
        </p:nvSpPr>
        <p:spPr>
          <a:xfrm>
            <a:off x="3046521" y="919713"/>
            <a:ext cx="10652508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11500" dirty="0" err="1">
                <a:latin typeface="Tw Cen MT" panose="020B0602020104020603" pitchFamily="34" charset="77"/>
              </a:rPr>
              <a:t>Referências</a:t>
            </a:r>
            <a:endParaRPr lang="en-US" sz="11500" dirty="0">
              <a:latin typeface="Tw Cen MT" panose="020B0602020104020603" pitchFamily="34" charset="77"/>
            </a:endParaRP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6140F495-DFA0-44D4-8DB0-CAFD6EFC1778}"/>
              </a:ext>
            </a:extLst>
          </p:cNvPr>
          <p:cNvSpPr/>
          <p:nvPr/>
        </p:nvSpPr>
        <p:spPr>
          <a:xfrm rot="10800000" flipH="1" flipV="1">
            <a:off x="2276033" y="946535"/>
            <a:ext cx="594360" cy="5715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960120 w 1828800"/>
              <a:gd name="connsiteY2" fmla="*/ 86868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960120" y="86868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F39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1">
            <a:extLst>
              <a:ext uri="{FF2B5EF4-FFF2-40B4-BE49-F238E27FC236}">
                <a16:creationId xmlns:a16="http://schemas.microsoft.com/office/drawing/2014/main" id="{42811F47-B96A-9771-9D47-579E4A38159F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chemeClr val="bg1"/>
                </a:solidFill>
                <a:latin typeface="Tw Cen MT" panose="020B0602020104020603" pitchFamily="34" charset="77"/>
              </a:rPr>
              <a:pPr algn="r"/>
              <a:t>85</a:t>
            </a:fld>
            <a:endParaRPr lang="pt-BR" sz="2400" b="1" dirty="0"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923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721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77fd98c-c5fb-469f-a158-fce67a587d84" xsi:nil="true"/>
    <lcf76f155ced4ddcb4097134ff3c332f xmlns="bf4fc3f6-0c1b-47c4-8bf5-df647c636b8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A941604F0C5344F889EBBA1629AC9A1" ma:contentTypeVersion="16" ma:contentTypeDescription="Crie um novo documento." ma:contentTypeScope="" ma:versionID="23f35a93249b12374fed1ab184d4f870">
  <xsd:schema xmlns:xsd="http://www.w3.org/2001/XMLSchema" xmlns:xs="http://www.w3.org/2001/XMLSchema" xmlns:p="http://schemas.microsoft.com/office/2006/metadata/properties" xmlns:ns1="http://schemas.microsoft.com/sharepoint/v3" xmlns:ns2="bf4fc3f6-0c1b-47c4-8bf5-df647c636b89" xmlns:ns3="f77fd98c-c5fb-469f-a158-fce67a587d84" targetNamespace="http://schemas.microsoft.com/office/2006/metadata/properties" ma:root="true" ma:fieldsID="4bc8c65c11f015b83445705dcdf87ed7" ns1:_="" ns2:_="" ns3:_="">
    <xsd:import namespace="http://schemas.microsoft.com/sharepoint/v3"/>
    <xsd:import namespace="bf4fc3f6-0c1b-47c4-8bf5-df647c636b89"/>
    <xsd:import namespace="f77fd98c-c5fb-469f-a158-fce67a587d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4fc3f6-0c1b-47c4-8bf5-df647c636b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4faff722-0fb5-4c44-9338-8716c18793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7fd98c-c5fb-469f-a158-fce67a587d84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a85e1ae-6a74-4b38-bf72-19f904de8927}" ma:internalName="TaxCatchAll" ma:showField="CatchAllData" ma:web="f77fd98c-c5fb-469f-a158-fce67a587d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2706EA-CCDB-4FE1-B6C1-916ABD3FE7D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ba8c0245-d078-4141-9bf7-4ae90b7d83b9"/>
    <ds:schemaRef ds:uri="38c6ac97-d8d1-48aa-bd5b-1146f9c5bcc7"/>
    <ds:schemaRef ds:uri="225b382f-f8f1-42be-8a6d-2107438eb1aa"/>
    <ds:schemaRef ds:uri="eb890c79-d082-486e-aff5-151cd25642f8"/>
  </ds:schemaRefs>
</ds:datastoreItem>
</file>

<file path=customXml/itemProps2.xml><?xml version="1.0" encoding="utf-8"?>
<ds:datastoreItem xmlns:ds="http://schemas.openxmlformats.org/officeDocument/2006/customXml" ds:itemID="{D996E293-07A6-484F-9CBC-8DA2FADFA4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F7CBE0-5C18-4273-8CBB-545D688F9AE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9337</TotalTime>
  <Words>6846</Words>
  <Application>Microsoft Office PowerPoint</Application>
  <PresentationFormat>Personalizar</PresentationFormat>
  <Paragraphs>812</Paragraphs>
  <Slides>86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86</vt:i4>
      </vt:variant>
    </vt:vector>
  </HeadingPairs>
  <TitlesOfParts>
    <vt:vector size="93" baseType="lpstr">
      <vt:lpstr>Arial</vt:lpstr>
      <vt:lpstr>Calibri</vt:lpstr>
      <vt:lpstr>Calibri Light</vt:lpstr>
      <vt:lpstr>Courier New</vt:lpstr>
      <vt:lpstr>Tw Cen MT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Miranda Cruz</dc:creator>
  <cp:lastModifiedBy>Tatiana Stofella Sodre Rossini</cp:lastModifiedBy>
  <cp:revision>576</cp:revision>
  <dcterms:created xsi:type="dcterms:W3CDTF">2021-03-24T14:10:38Z</dcterms:created>
  <dcterms:modified xsi:type="dcterms:W3CDTF">2024-07-29T13:44:30Z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0x010100DA941604F0C5344F889EBBA1629AC9A1</vt:lpwstr>
  </property>
  <property fmtid="{D5CDD505-2E9C-101B-9397-08002B2CF9AE}" pid="3" name="MediaServiceImageTags">
    <vt:lpwstr/>
  </property>
  <property fmtid="{D5CDD505-2E9C-101B-9397-08002B2CF9AE}" pid="4" name="MSIP_Label_fde7aacd-7cc4-4c31-9e6f-7ef306428f09_Enabled">
    <vt:lpwstr>true</vt:lpwstr>
  </property>
  <property fmtid="{D5CDD505-2E9C-101B-9397-08002B2CF9AE}" pid="5" name="MSIP_Label_fde7aacd-7cc4-4c31-9e6f-7ef306428f09_SetDate">
    <vt:lpwstr>2023-06-21T15:03:49Z</vt:lpwstr>
  </property>
  <property fmtid="{D5CDD505-2E9C-101B-9397-08002B2CF9AE}" pid="6" name="MSIP_Label_fde7aacd-7cc4-4c31-9e6f-7ef306428f09_Method">
    <vt:lpwstr>Privileged</vt:lpwstr>
  </property>
  <property fmtid="{D5CDD505-2E9C-101B-9397-08002B2CF9AE}" pid="7" name="MSIP_Label_fde7aacd-7cc4-4c31-9e6f-7ef306428f09_Name">
    <vt:lpwstr>_PUBLICO</vt:lpwstr>
  </property>
  <property fmtid="{D5CDD505-2E9C-101B-9397-08002B2CF9AE}" pid="8" name="MSIP_Label_fde7aacd-7cc4-4c31-9e6f-7ef306428f09_SiteId">
    <vt:lpwstr>ab9bba98-684a-43fb-add8-9c2bebede229</vt:lpwstr>
  </property>
  <property fmtid="{D5CDD505-2E9C-101B-9397-08002B2CF9AE}" pid="9" name="MSIP_Label_fde7aacd-7cc4-4c31-9e6f-7ef306428f09_ActionId">
    <vt:lpwstr>ed56749d-e763-4c1c-a917-655214b84e10</vt:lpwstr>
  </property>
  <property fmtid="{D5CDD505-2E9C-101B-9397-08002B2CF9AE}" pid="10" name="MSIP_Label_fde7aacd-7cc4-4c31-9e6f-7ef306428f09_ContentBits">
    <vt:lpwstr>1</vt:lpwstr>
  </property>
</Properties>
</file>