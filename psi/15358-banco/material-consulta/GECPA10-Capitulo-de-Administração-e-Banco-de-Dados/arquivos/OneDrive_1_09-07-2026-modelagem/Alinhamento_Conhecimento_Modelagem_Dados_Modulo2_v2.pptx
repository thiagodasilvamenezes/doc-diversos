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5"/>
  </p:notesMasterIdLst>
  <p:sldIdLst>
    <p:sldId id="256" r:id="rId5"/>
    <p:sldId id="269" r:id="rId6"/>
    <p:sldId id="361" r:id="rId7"/>
    <p:sldId id="360" r:id="rId8"/>
    <p:sldId id="420" r:id="rId9"/>
    <p:sldId id="425" r:id="rId10"/>
    <p:sldId id="426" r:id="rId11"/>
    <p:sldId id="453" r:id="rId12"/>
    <p:sldId id="451" r:id="rId13"/>
    <p:sldId id="454" r:id="rId14"/>
    <p:sldId id="423" r:id="rId15"/>
    <p:sldId id="463" r:id="rId16"/>
    <p:sldId id="440" r:id="rId17"/>
    <p:sldId id="441" r:id="rId18"/>
    <p:sldId id="443" r:id="rId19"/>
    <p:sldId id="428" r:id="rId20"/>
    <p:sldId id="439" r:id="rId21"/>
    <p:sldId id="445" r:id="rId22"/>
    <p:sldId id="446" r:id="rId23"/>
    <p:sldId id="455" r:id="rId24"/>
    <p:sldId id="456" r:id="rId25"/>
    <p:sldId id="457" r:id="rId26"/>
    <p:sldId id="458" r:id="rId27"/>
    <p:sldId id="462" r:id="rId28"/>
    <p:sldId id="429" r:id="rId29"/>
    <p:sldId id="447" r:id="rId30"/>
    <p:sldId id="461" r:id="rId31"/>
    <p:sldId id="448" r:id="rId32"/>
    <p:sldId id="432" r:id="rId33"/>
    <p:sldId id="433" r:id="rId34"/>
    <p:sldId id="435" r:id="rId35"/>
    <p:sldId id="436" r:id="rId36"/>
    <p:sldId id="449" r:id="rId37"/>
    <p:sldId id="464" r:id="rId38"/>
    <p:sldId id="438" r:id="rId39"/>
    <p:sldId id="437" r:id="rId40"/>
    <p:sldId id="465" r:id="rId41"/>
    <p:sldId id="452" r:id="rId42"/>
    <p:sldId id="290" r:id="rId43"/>
    <p:sldId id="278" r:id="rId44"/>
  </p:sldIdLst>
  <p:sldSz cx="2440146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A9"/>
    <a:srgbClr val="0074B0"/>
    <a:srgbClr val="80A6C7"/>
    <a:srgbClr val="00B5E5"/>
    <a:srgbClr val="54BBAB"/>
    <a:srgbClr val="D0E0E3"/>
    <a:srgbClr val="F39200"/>
    <a:srgbClr val="A6B9C2"/>
    <a:srgbClr val="80A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51" autoAdjust="0"/>
    <p:restoredTop sz="94660"/>
  </p:normalViewPr>
  <p:slideViewPr>
    <p:cSldViewPr snapToGrid="0">
      <p:cViewPr varScale="1">
        <p:scale>
          <a:sx n="41" d="100"/>
          <a:sy n="41" d="100"/>
        </p:scale>
        <p:origin x="24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iana Stofella Sodre Rossini" userId="55bae36b-97c1-449b-b293-83c04e8a7d50" providerId="ADAL" clId="{54AA9F60-6BE6-4967-89ED-FAC8906C3282}"/>
    <pc:docChg chg="custSel modSld">
      <pc:chgData name="Tatiana Stofella Sodre Rossini" userId="55bae36b-97c1-449b-b293-83c04e8a7d50" providerId="ADAL" clId="{54AA9F60-6BE6-4967-89ED-FAC8906C3282}" dt="2023-08-21T19:22:40.627" v="29" actId="20577"/>
      <pc:docMkLst>
        <pc:docMk/>
      </pc:docMkLst>
      <pc:sldChg chg="modSp mod">
        <pc:chgData name="Tatiana Stofella Sodre Rossini" userId="55bae36b-97c1-449b-b293-83c04e8a7d50" providerId="ADAL" clId="{54AA9F60-6BE6-4967-89ED-FAC8906C3282}" dt="2023-08-21T19:22:40.627" v="29" actId="20577"/>
        <pc:sldMkLst>
          <pc:docMk/>
          <pc:sldMk cId="2680585286" sldId="269"/>
        </pc:sldMkLst>
        <pc:spChg chg="mod">
          <ac:chgData name="Tatiana Stofella Sodre Rossini" userId="55bae36b-97c1-449b-b293-83c04e8a7d50" providerId="ADAL" clId="{54AA9F60-6BE6-4967-89ED-FAC8906C3282}" dt="2023-08-21T19:22:40.627" v="29" actId="20577"/>
          <ac:spMkLst>
            <pc:docMk/>
            <pc:sldMk cId="2680585286" sldId="269"/>
            <ac:spMk id="15" creationId="{00B7F3F4-DB82-42CF-8409-0B6AA37FB52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9DCD9-A2C4-46FA-AE68-9B87F0F9C80F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32FFA-7D3E-4D52-B730-07D087FA3A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3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1pPr>
    <a:lvl2pPr marL="914811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2pPr>
    <a:lvl3pPr marL="1829623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3pPr>
    <a:lvl4pPr marL="2744434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4pPr>
    <a:lvl5pPr marL="3659246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5pPr>
    <a:lvl6pPr marL="4574057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6pPr>
    <a:lvl7pPr marL="5488869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7pPr>
    <a:lvl8pPr marL="6403680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8pPr>
    <a:lvl9pPr marL="7318492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DA8F9A7-C5FA-4A61-8E3F-A7A7B01255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612"/>
            <a:ext cx="24401462" cy="1371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7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60"/>
            <a:ext cx="24401462" cy="253917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6963AC1-1D44-4DC4-B0D4-323B6DE85F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6420" y="5193"/>
            <a:ext cx="2511397" cy="280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60"/>
            <a:ext cx="24401462" cy="2537853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342A9502-7092-3666-2996-E143956BB0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6420" y="5193"/>
            <a:ext cx="2511397" cy="280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4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7" y="660"/>
            <a:ext cx="24388767" cy="2537853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3FB3C01-75D0-CF13-B8DD-D35F329894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6420" y="5193"/>
            <a:ext cx="2511397" cy="280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1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8" y="11179355"/>
            <a:ext cx="24388767" cy="253785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6F00D67-C207-53B8-F63D-16BD667160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28" y="10879501"/>
            <a:ext cx="2511397" cy="2801777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34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8" y="11180015"/>
            <a:ext cx="24388767" cy="25365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94B833-8411-F8C0-2717-72C337940E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28" y="10879501"/>
            <a:ext cx="2511397" cy="2801777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257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8" y="11179355"/>
            <a:ext cx="24388767" cy="253785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0121B80-92DA-ADF3-04C1-BD9576BD6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28" y="10879501"/>
            <a:ext cx="2511397" cy="2801777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497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23D758F-6212-4DCE-B98C-5F9E7F535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24401463" cy="1094292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35074B-7650-415D-9FF2-950A2C3B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03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6DA843B-FA98-4943-B264-124A01E7E3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621707"/>
            <a:ext cx="24401463" cy="1094292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C6355D2-56A6-4180-A696-38D4FBB9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34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B4A8950-93FA-498F-9EDA-9E2183B0AC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5" y="0"/>
            <a:ext cx="8138106" cy="1372432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DC8921E-936F-028C-AC58-8496013A7C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476" y="4873"/>
            <a:ext cx="2356483" cy="2628951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238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C4D70FF-CEBF-4F5C-BB84-607848F67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02986" y="0"/>
            <a:ext cx="8133169" cy="13716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11B1A55-F3C8-B7A3-9269-EA95B7CD20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95436" y="4873"/>
            <a:ext cx="2356483" cy="2628951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343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D55D59-0147-49E5-9BE3-930CFC39D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2396" y="0"/>
            <a:ext cx="1103877" cy="13716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989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D55D59-0147-49E5-9BE3-930CFC39D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2396" y="3"/>
            <a:ext cx="1103877" cy="1371599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6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D55D59-0147-49E5-9BE3-930CFC39D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8740" y="3"/>
            <a:ext cx="1091189" cy="1371599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36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DAF63FB-4D16-44BD-AA7F-CCF8617E13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211" y="0"/>
            <a:ext cx="1103877" cy="13716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A16187-02E0-430F-A19C-18569A45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2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1666C79-47D9-4118-9078-C4B01D82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593" y="3"/>
            <a:ext cx="1103877" cy="137159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3FC4-EF8D-4893-9422-5A1510C3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23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1666C79-47D9-4118-9078-C4B01D82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0031" y="3"/>
            <a:ext cx="1091189" cy="137159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3FC4-EF8D-4893-9422-5A1510C3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913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BDCC96C-705A-45A8-8590-B3B925CA7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4" y="1"/>
            <a:ext cx="24441486" cy="13746746"/>
          </a:xfrm>
          <a:prstGeom prst="rect">
            <a:avLst/>
          </a:prstGeom>
        </p:spPr>
      </p:pic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3C5CE4CA-976E-453F-AE6C-6B6C27DD96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824" y="643707"/>
            <a:ext cx="9273282" cy="125595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>
              <a:defRPr sz="3600"/>
            </a:lvl1pPr>
          </a:lstStyle>
          <a:p>
            <a:endParaRPr lang="pt-B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BCACC6F-9D8A-416F-9C22-4FFA4BE7C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493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14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15048E0-D0F0-4546-899C-F7D728CA87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2302" y="-56317"/>
            <a:ext cx="24607193" cy="13839945"/>
          </a:xfrm>
          <a:prstGeom prst="rect">
            <a:avLst/>
          </a:prstGeom>
        </p:spPr>
      </p:pic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4FD83E0A-9CFA-43AF-BEDC-F96F0BE841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4694" y="-2106934"/>
            <a:ext cx="27546300" cy="19994563"/>
          </a:xfrm>
          <a:custGeom>
            <a:avLst/>
            <a:gdLst>
              <a:gd name="connsiteX0" fmla="*/ 0 w 8039100"/>
              <a:gd name="connsiteY0" fmla="*/ 0 h 3725863"/>
              <a:gd name="connsiteX1" fmla="*/ 8039100 w 8039100"/>
              <a:gd name="connsiteY1" fmla="*/ 0 h 3725863"/>
              <a:gd name="connsiteX2" fmla="*/ 8039100 w 8039100"/>
              <a:gd name="connsiteY2" fmla="*/ 3725863 h 3725863"/>
              <a:gd name="connsiteX3" fmla="*/ 0 w 8039100"/>
              <a:gd name="connsiteY3" fmla="*/ 3725863 h 3725863"/>
              <a:gd name="connsiteX4" fmla="*/ 0 w 8039100"/>
              <a:gd name="connsiteY4" fmla="*/ 0 h 3725863"/>
              <a:gd name="connsiteX0" fmla="*/ 0 w 16649700"/>
              <a:gd name="connsiteY0" fmla="*/ 16268700 h 19994563"/>
              <a:gd name="connsiteX1" fmla="*/ 16649700 w 16649700"/>
              <a:gd name="connsiteY1" fmla="*/ 0 h 19994563"/>
              <a:gd name="connsiteX2" fmla="*/ 8039100 w 16649700"/>
              <a:gd name="connsiteY2" fmla="*/ 19994563 h 19994563"/>
              <a:gd name="connsiteX3" fmla="*/ 0 w 16649700"/>
              <a:gd name="connsiteY3" fmla="*/ 19994563 h 19994563"/>
              <a:gd name="connsiteX4" fmla="*/ 0 w 16649700"/>
              <a:gd name="connsiteY4" fmla="*/ 16268700 h 19994563"/>
              <a:gd name="connsiteX0" fmla="*/ 0 w 16649700"/>
              <a:gd name="connsiteY0" fmla="*/ 16268700 h 19994563"/>
              <a:gd name="connsiteX1" fmla="*/ 16649700 w 16649700"/>
              <a:gd name="connsiteY1" fmla="*/ 0 h 19994563"/>
              <a:gd name="connsiteX2" fmla="*/ 8039100 w 16649700"/>
              <a:gd name="connsiteY2" fmla="*/ 19994563 h 19994563"/>
              <a:gd name="connsiteX3" fmla="*/ 8077200 w 16649700"/>
              <a:gd name="connsiteY3" fmla="*/ 19919950 h 19994563"/>
              <a:gd name="connsiteX4" fmla="*/ 0 w 16649700"/>
              <a:gd name="connsiteY4" fmla="*/ 19994563 h 19994563"/>
              <a:gd name="connsiteX5" fmla="*/ 0 w 16649700"/>
              <a:gd name="connsiteY5" fmla="*/ 16268700 h 19994563"/>
              <a:gd name="connsiteX0" fmla="*/ 0 w 16649700"/>
              <a:gd name="connsiteY0" fmla="*/ 16268700 h 20872450"/>
              <a:gd name="connsiteX1" fmla="*/ 16649700 w 16649700"/>
              <a:gd name="connsiteY1" fmla="*/ 0 h 20872450"/>
              <a:gd name="connsiteX2" fmla="*/ 8039100 w 16649700"/>
              <a:gd name="connsiteY2" fmla="*/ 19994563 h 20872450"/>
              <a:gd name="connsiteX3" fmla="*/ 5981700 w 16649700"/>
              <a:gd name="connsiteY3" fmla="*/ 20872450 h 20872450"/>
              <a:gd name="connsiteX4" fmla="*/ 0 w 16649700"/>
              <a:gd name="connsiteY4" fmla="*/ 19994563 h 20872450"/>
              <a:gd name="connsiteX5" fmla="*/ 0 w 16649700"/>
              <a:gd name="connsiteY5" fmla="*/ 16268700 h 20872450"/>
              <a:gd name="connsiteX0" fmla="*/ 0 w 27546300"/>
              <a:gd name="connsiteY0" fmla="*/ 16268700 h 20872450"/>
              <a:gd name="connsiteX1" fmla="*/ 16649700 w 27546300"/>
              <a:gd name="connsiteY1" fmla="*/ 0 h 20872450"/>
              <a:gd name="connsiteX2" fmla="*/ 27546300 w 27546300"/>
              <a:gd name="connsiteY2" fmla="*/ 182564 h 20872450"/>
              <a:gd name="connsiteX3" fmla="*/ 5981700 w 27546300"/>
              <a:gd name="connsiteY3" fmla="*/ 20872450 h 20872450"/>
              <a:gd name="connsiteX4" fmla="*/ 0 w 27546300"/>
              <a:gd name="connsiteY4" fmla="*/ 19994563 h 20872450"/>
              <a:gd name="connsiteX5" fmla="*/ 0 w 27546300"/>
              <a:gd name="connsiteY5" fmla="*/ 16268700 h 20872450"/>
              <a:gd name="connsiteX0" fmla="*/ 0 w 27546300"/>
              <a:gd name="connsiteY0" fmla="*/ 16268700 h 20872450"/>
              <a:gd name="connsiteX1" fmla="*/ 16649700 w 27546300"/>
              <a:gd name="connsiteY1" fmla="*/ 0 h 20872450"/>
              <a:gd name="connsiteX2" fmla="*/ 27546300 w 27546300"/>
              <a:gd name="connsiteY2" fmla="*/ 182564 h 20872450"/>
              <a:gd name="connsiteX3" fmla="*/ 27279600 w 27546300"/>
              <a:gd name="connsiteY3" fmla="*/ 488949 h 20872450"/>
              <a:gd name="connsiteX4" fmla="*/ 5981700 w 27546300"/>
              <a:gd name="connsiteY4" fmla="*/ 20872450 h 20872450"/>
              <a:gd name="connsiteX5" fmla="*/ 0 w 27546300"/>
              <a:gd name="connsiteY5" fmla="*/ 19994563 h 20872450"/>
              <a:gd name="connsiteX6" fmla="*/ 0 w 27546300"/>
              <a:gd name="connsiteY6" fmla="*/ 16268700 h 20872450"/>
              <a:gd name="connsiteX0" fmla="*/ 0 w 27546300"/>
              <a:gd name="connsiteY0" fmla="*/ 16268700 h 20872450"/>
              <a:gd name="connsiteX1" fmla="*/ 16649700 w 27546300"/>
              <a:gd name="connsiteY1" fmla="*/ 0 h 20872450"/>
              <a:gd name="connsiteX2" fmla="*/ 27546300 w 27546300"/>
              <a:gd name="connsiteY2" fmla="*/ 182564 h 20872450"/>
              <a:gd name="connsiteX3" fmla="*/ 27393900 w 27546300"/>
              <a:gd name="connsiteY3" fmla="*/ 603249 h 20872450"/>
              <a:gd name="connsiteX4" fmla="*/ 5981700 w 27546300"/>
              <a:gd name="connsiteY4" fmla="*/ 20872450 h 20872450"/>
              <a:gd name="connsiteX5" fmla="*/ 0 w 27546300"/>
              <a:gd name="connsiteY5" fmla="*/ 19994563 h 20872450"/>
              <a:gd name="connsiteX6" fmla="*/ 0 w 27546300"/>
              <a:gd name="connsiteY6" fmla="*/ 16268700 h 20872450"/>
              <a:gd name="connsiteX0" fmla="*/ 0 w 27546300"/>
              <a:gd name="connsiteY0" fmla="*/ 16268700 h 19994563"/>
              <a:gd name="connsiteX1" fmla="*/ 16649700 w 27546300"/>
              <a:gd name="connsiteY1" fmla="*/ 0 h 19994563"/>
              <a:gd name="connsiteX2" fmla="*/ 27546300 w 27546300"/>
              <a:gd name="connsiteY2" fmla="*/ 182564 h 19994563"/>
              <a:gd name="connsiteX3" fmla="*/ 27393900 w 27546300"/>
              <a:gd name="connsiteY3" fmla="*/ 603249 h 19994563"/>
              <a:gd name="connsiteX4" fmla="*/ 8153400 w 27546300"/>
              <a:gd name="connsiteY4" fmla="*/ 19805650 h 19994563"/>
              <a:gd name="connsiteX5" fmla="*/ 0 w 27546300"/>
              <a:gd name="connsiteY5" fmla="*/ 19994563 h 19994563"/>
              <a:gd name="connsiteX6" fmla="*/ 0 w 27546300"/>
              <a:gd name="connsiteY6" fmla="*/ 16268700 h 1999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546300" h="19994563">
                <a:moveTo>
                  <a:pt x="0" y="16268700"/>
                </a:moveTo>
                <a:lnTo>
                  <a:pt x="16649700" y="0"/>
                </a:lnTo>
                <a:lnTo>
                  <a:pt x="27546300" y="182564"/>
                </a:lnTo>
                <a:lnTo>
                  <a:pt x="27393900" y="603249"/>
                </a:lnTo>
                <a:lnTo>
                  <a:pt x="8153400" y="19805650"/>
                </a:lnTo>
                <a:lnTo>
                  <a:pt x="0" y="19994563"/>
                </a:lnTo>
                <a:lnTo>
                  <a:pt x="0" y="162687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2800"/>
            </a:lvl1pPr>
          </a:lstStyle>
          <a:p>
            <a:endParaRPr lang="pt-BR"/>
          </a:p>
        </p:txBody>
      </p:sp>
      <p:sp>
        <p:nvSpPr>
          <p:cNvPr id="19" name="Espaço Reservado para Imagem 18">
            <a:extLst>
              <a:ext uri="{FF2B5EF4-FFF2-40B4-BE49-F238E27FC236}">
                <a16:creationId xmlns:a16="http://schemas.microsoft.com/office/drawing/2014/main" id="{BEE315DE-E585-4187-A9BB-37960816D5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595941" y="-4495801"/>
            <a:ext cx="21321712" cy="21911469"/>
          </a:xfrm>
          <a:custGeom>
            <a:avLst/>
            <a:gdLst>
              <a:gd name="connsiteX0" fmla="*/ 0 w 21169313"/>
              <a:gd name="connsiteY0" fmla="*/ 0 h 22220238"/>
              <a:gd name="connsiteX1" fmla="*/ 21169313 w 21169313"/>
              <a:gd name="connsiteY1" fmla="*/ 0 h 22220238"/>
              <a:gd name="connsiteX2" fmla="*/ 21169313 w 21169313"/>
              <a:gd name="connsiteY2" fmla="*/ 22220238 h 22220238"/>
              <a:gd name="connsiteX3" fmla="*/ 0 w 21169313"/>
              <a:gd name="connsiteY3" fmla="*/ 22220238 h 22220238"/>
              <a:gd name="connsiteX4" fmla="*/ 0 w 21169313"/>
              <a:gd name="connsiteY4" fmla="*/ 0 h 22220238"/>
              <a:gd name="connsiteX0" fmla="*/ 0 w 21169313"/>
              <a:gd name="connsiteY0" fmla="*/ 0 h 22220238"/>
              <a:gd name="connsiteX1" fmla="*/ 21169313 w 21169313"/>
              <a:gd name="connsiteY1" fmla="*/ 0 h 22220238"/>
              <a:gd name="connsiteX2" fmla="*/ 8672512 w 21169313"/>
              <a:gd name="connsiteY2" fmla="*/ 16962438 h 22220238"/>
              <a:gd name="connsiteX3" fmla="*/ 0 w 21169313"/>
              <a:gd name="connsiteY3" fmla="*/ 22220238 h 22220238"/>
              <a:gd name="connsiteX4" fmla="*/ 0 w 21169313"/>
              <a:gd name="connsiteY4" fmla="*/ 0 h 22220238"/>
              <a:gd name="connsiteX0" fmla="*/ 0 w 21169313"/>
              <a:gd name="connsiteY0" fmla="*/ 0 h 22220238"/>
              <a:gd name="connsiteX1" fmla="*/ 21169313 w 21169313"/>
              <a:gd name="connsiteY1" fmla="*/ 0 h 22220238"/>
              <a:gd name="connsiteX2" fmla="*/ 0 w 21169313"/>
              <a:gd name="connsiteY2" fmla="*/ 22220238 h 22220238"/>
              <a:gd name="connsiteX3" fmla="*/ 0 w 21169313"/>
              <a:gd name="connsiteY3" fmla="*/ 0 h 22220238"/>
              <a:gd name="connsiteX0" fmla="*/ 0 w 21169313"/>
              <a:gd name="connsiteY0" fmla="*/ 0 h 21115338"/>
              <a:gd name="connsiteX1" fmla="*/ 21169313 w 21169313"/>
              <a:gd name="connsiteY1" fmla="*/ 0 h 21115338"/>
              <a:gd name="connsiteX2" fmla="*/ 38100 w 21169313"/>
              <a:gd name="connsiteY2" fmla="*/ 21115338 h 21115338"/>
              <a:gd name="connsiteX3" fmla="*/ 0 w 21169313"/>
              <a:gd name="connsiteY3" fmla="*/ 0 h 21115338"/>
              <a:gd name="connsiteX0" fmla="*/ 0 w 21359812"/>
              <a:gd name="connsiteY0" fmla="*/ 0 h 21115338"/>
              <a:gd name="connsiteX1" fmla="*/ 21359812 w 21359812"/>
              <a:gd name="connsiteY1" fmla="*/ 0 h 21115338"/>
              <a:gd name="connsiteX2" fmla="*/ 38100 w 21359812"/>
              <a:gd name="connsiteY2" fmla="*/ 21115338 h 21115338"/>
              <a:gd name="connsiteX3" fmla="*/ 0 w 21359812"/>
              <a:gd name="connsiteY3" fmla="*/ 0 h 21115338"/>
              <a:gd name="connsiteX0" fmla="*/ 0 w 21321712"/>
              <a:gd name="connsiteY0" fmla="*/ 8839200 h 21115338"/>
              <a:gd name="connsiteX1" fmla="*/ 21321712 w 21321712"/>
              <a:gd name="connsiteY1" fmla="*/ 0 h 21115338"/>
              <a:gd name="connsiteX2" fmla="*/ 0 w 21321712"/>
              <a:gd name="connsiteY2" fmla="*/ 21115338 h 21115338"/>
              <a:gd name="connsiteX3" fmla="*/ 0 w 21321712"/>
              <a:gd name="connsiteY3" fmla="*/ 8839200 h 21115338"/>
              <a:gd name="connsiteX0" fmla="*/ 76200 w 21321712"/>
              <a:gd name="connsiteY0" fmla="*/ 11125200 h 21115338"/>
              <a:gd name="connsiteX1" fmla="*/ 21321712 w 21321712"/>
              <a:gd name="connsiteY1" fmla="*/ 0 h 21115338"/>
              <a:gd name="connsiteX2" fmla="*/ 0 w 21321712"/>
              <a:gd name="connsiteY2" fmla="*/ 21115338 h 21115338"/>
              <a:gd name="connsiteX3" fmla="*/ 76200 w 21321712"/>
              <a:gd name="connsiteY3" fmla="*/ 11125200 h 21115338"/>
              <a:gd name="connsiteX0" fmla="*/ 0 w 21359812"/>
              <a:gd name="connsiteY0" fmla="*/ 10248900 h 21115338"/>
              <a:gd name="connsiteX1" fmla="*/ 21359812 w 21359812"/>
              <a:gd name="connsiteY1" fmla="*/ 0 h 21115338"/>
              <a:gd name="connsiteX2" fmla="*/ 38100 w 21359812"/>
              <a:gd name="connsiteY2" fmla="*/ 21115338 h 21115338"/>
              <a:gd name="connsiteX3" fmla="*/ 0 w 21359812"/>
              <a:gd name="connsiteY3" fmla="*/ 10248900 h 21115338"/>
              <a:gd name="connsiteX0" fmla="*/ 0 w 21359812"/>
              <a:gd name="connsiteY0" fmla="*/ 10248900 h 21115338"/>
              <a:gd name="connsiteX1" fmla="*/ 15121441 w 21359812"/>
              <a:gd name="connsiteY1" fmla="*/ 2937669 h 21115338"/>
              <a:gd name="connsiteX2" fmla="*/ 21359812 w 21359812"/>
              <a:gd name="connsiteY2" fmla="*/ 0 h 21115338"/>
              <a:gd name="connsiteX3" fmla="*/ 38100 w 21359812"/>
              <a:gd name="connsiteY3" fmla="*/ 21115338 h 21115338"/>
              <a:gd name="connsiteX4" fmla="*/ 0 w 21359812"/>
              <a:gd name="connsiteY4" fmla="*/ 10248900 h 21115338"/>
              <a:gd name="connsiteX0" fmla="*/ 0 w 21359812"/>
              <a:gd name="connsiteY0" fmla="*/ 10248900 h 21115338"/>
              <a:gd name="connsiteX1" fmla="*/ 7387141 w 21359812"/>
              <a:gd name="connsiteY1" fmla="*/ 3699669 h 21115338"/>
              <a:gd name="connsiteX2" fmla="*/ 21359812 w 21359812"/>
              <a:gd name="connsiteY2" fmla="*/ 0 h 21115338"/>
              <a:gd name="connsiteX3" fmla="*/ 38100 w 21359812"/>
              <a:gd name="connsiteY3" fmla="*/ 21115338 h 21115338"/>
              <a:gd name="connsiteX4" fmla="*/ 0 w 21359812"/>
              <a:gd name="connsiteY4" fmla="*/ 10248900 h 21115338"/>
              <a:gd name="connsiteX0" fmla="*/ 190500 w 21321712"/>
              <a:gd name="connsiteY0" fmla="*/ 10668000 h 21115338"/>
              <a:gd name="connsiteX1" fmla="*/ 7349041 w 21321712"/>
              <a:gd name="connsiteY1" fmla="*/ 3699669 h 21115338"/>
              <a:gd name="connsiteX2" fmla="*/ 21321712 w 21321712"/>
              <a:gd name="connsiteY2" fmla="*/ 0 h 21115338"/>
              <a:gd name="connsiteX3" fmla="*/ 0 w 21321712"/>
              <a:gd name="connsiteY3" fmla="*/ 21115338 h 21115338"/>
              <a:gd name="connsiteX4" fmla="*/ 190500 w 21321712"/>
              <a:gd name="connsiteY4" fmla="*/ 10668000 h 21115338"/>
              <a:gd name="connsiteX0" fmla="*/ 266700 w 21321712"/>
              <a:gd name="connsiteY0" fmla="*/ 10934700 h 21115338"/>
              <a:gd name="connsiteX1" fmla="*/ 7349041 w 21321712"/>
              <a:gd name="connsiteY1" fmla="*/ 3699669 h 21115338"/>
              <a:gd name="connsiteX2" fmla="*/ 21321712 w 21321712"/>
              <a:gd name="connsiteY2" fmla="*/ 0 h 21115338"/>
              <a:gd name="connsiteX3" fmla="*/ 0 w 21321712"/>
              <a:gd name="connsiteY3" fmla="*/ 21115338 h 21115338"/>
              <a:gd name="connsiteX4" fmla="*/ 266700 w 21321712"/>
              <a:gd name="connsiteY4" fmla="*/ 10934700 h 21115338"/>
              <a:gd name="connsiteX0" fmla="*/ 152400 w 21321712"/>
              <a:gd name="connsiteY0" fmla="*/ 10896600 h 21115338"/>
              <a:gd name="connsiteX1" fmla="*/ 7349041 w 21321712"/>
              <a:gd name="connsiteY1" fmla="*/ 3699669 h 21115338"/>
              <a:gd name="connsiteX2" fmla="*/ 21321712 w 21321712"/>
              <a:gd name="connsiteY2" fmla="*/ 0 h 21115338"/>
              <a:gd name="connsiteX3" fmla="*/ 0 w 21321712"/>
              <a:gd name="connsiteY3" fmla="*/ 21115338 h 21115338"/>
              <a:gd name="connsiteX4" fmla="*/ 152400 w 21321712"/>
              <a:gd name="connsiteY4" fmla="*/ 10896600 h 21115338"/>
              <a:gd name="connsiteX0" fmla="*/ 152400 w 21321712"/>
              <a:gd name="connsiteY0" fmla="*/ 11692731 h 21911469"/>
              <a:gd name="connsiteX1" fmla="*/ 11921041 w 21321712"/>
              <a:gd name="connsiteY1" fmla="*/ 0 h 21911469"/>
              <a:gd name="connsiteX2" fmla="*/ 21321712 w 21321712"/>
              <a:gd name="connsiteY2" fmla="*/ 796131 h 21911469"/>
              <a:gd name="connsiteX3" fmla="*/ 0 w 21321712"/>
              <a:gd name="connsiteY3" fmla="*/ 21911469 h 21911469"/>
              <a:gd name="connsiteX4" fmla="*/ 152400 w 21321712"/>
              <a:gd name="connsiteY4" fmla="*/ 11692731 h 2191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21712" h="21911469">
                <a:moveTo>
                  <a:pt x="152400" y="11692731"/>
                </a:moveTo>
                <a:lnTo>
                  <a:pt x="11921041" y="0"/>
                </a:lnTo>
                <a:lnTo>
                  <a:pt x="21321712" y="796131"/>
                </a:lnTo>
                <a:lnTo>
                  <a:pt x="0" y="21911469"/>
                </a:lnTo>
                <a:lnTo>
                  <a:pt x="152400" y="1169273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0" indent="0" algn="r">
              <a:buNone/>
              <a:defRPr sz="2800"/>
            </a:lvl1pPr>
          </a:lstStyle>
          <a:p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11260E-4A17-4F89-B695-2A34EE542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0D87D64-7413-71A6-C472-57282FAFC3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603" y="51130"/>
            <a:ext cx="2070181" cy="2309545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604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88402655-7AAE-421B-A5E4-65934B29A1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2861" y="-3454"/>
            <a:ext cx="24424324" cy="13737093"/>
          </a:xfrm>
          <a:prstGeom prst="rect">
            <a:avLst/>
          </a:prstGeom>
        </p:spPr>
      </p:pic>
      <p:sp>
        <p:nvSpPr>
          <p:cNvPr id="23" name="Espaço Reservado para Imagem 22">
            <a:extLst>
              <a:ext uri="{FF2B5EF4-FFF2-40B4-BE49-F238E27FC236}">
                <a16:creationId xmlns:a16="http://schemas.microsoft.com/office/drawing/2014/main" id="{9CC42A6A-2533-4502-BA3F-41A1B3A06C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255143" y="-813031"/>
            <a:ext cx="10066338" cy="6646863"/>
          </a:xfrm>
          <a:custGeom>
            <a:avLst/>
            <a:gdLst>
              <a:gd name="connsiteX0" fmla="*/ 0 w 9723438"/>
              <a:gd name="connsiteY0" fmla="*/ 0 h 6684963"/>
              <a:gd name="connsiteX1" fmla="*/ 9723438 w 9723438"/>
              <a:gd name="connsiteY1" fmla="*/ 0 h 6684963"/>
              <a:gd name="connsiteX2" fmla="*/ 9723438 w 9723438"/>
              <a:gd name="connsiteY2" fmla="*/ 6684963 h 6684963"/>
              <a:gd name="connsiteX3" fmla="*/ 0 w 9723438"/>
              <a:gd name="connsiteY3" fmla="*/ 6684963 h 6684963"/>
              <a:gd name="connsiteX4" fmla="*/ 0 w 9723438"/>
              <a:gd name="connsiteY4" fmla="*/ 0 h 6684963"/>
              <a:gd name="connsiteX0" fmla="*/ 0 w 9723438"/>
              <a:gd name="connsiteY0" fmla="*/ 0 h 6684963"/>
              <a:gd name="connsiteX1" fmla="*/ 9723438 w 9723438"/>
              <a:gd name="connsiteY1" fmla="*/ 0 h 6684963"/>
              <a:gd name="connsiteX2" fmla="*/ 9723438 w 9723438"/>
              <a:gd name="connsiteY2" fmla="*/ 6684963 h 6684963"/>
              <a:gd name="connsiteX3" fmla="*/ 3352800 w 9723438"/>
              <a:gd name="connsiteY3" fmla="*/ 6608763 h 6684963"/>
              <a:gd name="connsiteX4" fmla="*/ 0 w 9723438"/>
              <a:gd name="connsiteY4" fmla="*/ 0 h 6684963"/>
              <a:gd name="connsiteX0" fmla="*/ 0 w 9723438"/>
              <a:gd name="connsiteY0" fmla="*/ 0 h 6608763"/>
              <a:gd name="connsiteX1" fmla="*/ 9723438 w 9723438"/>
              <a:gd name="connsiteY1" fmla="*/ 0 h 6608763"/>
              <a:gd name="connsiteX2" fmla="*/ 3352800 w 9723438"/>
              <a:gd name="connsiteY2" fmla="*/ 6608763 h 6608763"/>
              <a:gd name="connsiteX3" fmla="*/ 0 w 9723438"/>
              <a:gd name="connsiteY3" fmla="*/ 0 h 6608763"/>
              <a:gd name="connsiteX0" fmla="*/ 0 w 10066338"/>
              <a:gd name="connsiteY0" fmla="*/ 38100 h 6646863"/>
              <a:gd name="connsiteX1" fmla="*/ 10066338 w 10066338"/>
              <a:gd name="connsiteY1" fmla="*/ 0 h 6646863"/>
              <a:gd name="connsiteX2" fmla="*/ 3352800 w 10066338"/>
              <a:gd name="connsiteY2" fmla="*/ 6646863 h 6646863"/>
              <a:gd name="connsiteX3" fmla="*/ 0 w 10066338"/>
              <a:gd name="connsiteY3" fmla="*/ 38100 h 664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66338" h="6646863">
                <a:moveTo>
                  <a:pt x="0" y="38100"/>
                </a:moveTo>
                <a:lnTo>
                  <a:pt x="10066338" y="0"/>
                </a:lnTo>
                <a:lnTo>
                  <a:pt x="3352800" y="6646863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r">
              <a:defRPr sz="2800"/>
            </a:lvl1pPr>
          </a:lstStyle>
          <a:p>
            <a:endParaRPr lang="pt-BR"/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CDDE4D4-7F04-4689-BB49-30B8FC8D2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74970" y="-824093"/>
            <a:ext cx="7699375" cy="6657925"/>
          </a:xfrm>
          <a:custGeom>
            <a:avLst/>
            <a:gdLst>
              <a:gd name="connsiteX0" fmla="*/ 0 w 7699375"/>
              <a:gd name="connsiteY0" fmla="*/ 0 h 6646863"/>
              <a:gd name="connsiteX1" fmla="*/ 7699375 w 7699375"/>
              <a:gd name="connsiteY1" fmla="*/ 0 h 6646863"/>
              <a:gd name="connsiteX2" fmla="*/ 7699375 w 7699375"/>
              <a:gd name="connsiteY2" fmla="*/ 6646863 h 6646863"/>
              <a:gd name="connsiteX3" fmla="*/ 0 w 7699375"/>
              <a:gd name="connsiteY3" fmla="*/ 6646863 h 6646863"/>
              <a:gd name="connsiteX4" fmla="*/ 0 w 7699375"/>
              <a:gd name="connsiteY4" fmla="*/ 0 h 6646863"/>
              <a:gd name="connsiteX0" fmla="*/ 6629400 w 7699375"/>
              <a:gd name="connsiteY0" fmla="*/ 342900 h 6646863"/>
              <a:gd name="connsiteX1" fmla="*/ 7699375 w 7699375"/>
              <a:gd name="connsiteY1" fmla="*/ 0 h 6646863"/>
              <a:gd name="connsiteX2" fmla="*/ 7699375 w 7699375"/>
              <a:gd name="connsiteY2" fmla="*/ 6646863 h 6646863"/>
              <a:gd name="connsiteX3" fmla="*/ 0 w 7699375"/>
              <a:gd name="connsiteY3" fmla="*/ 6646863 h 6646863"/>
              <a:gd name="connsiteX4" fmla="*/ 6629400 w 7699375"/>
              <a:gd name="connsiteY4" fmla="*/ 342900 h 6646863"/>
              <a:gd name="connsiteX0" fmla="*/ 6835877 w 7699375"/>
              <a:gd name="connsiteY0" fmla="*/ 0 h 6657925"/>
              <a:gd name="connsiteX1" fmla="*/ 7699375 w 7699375"/>
              <a:gd name="connsiteY1" fmla="*/ 11062 h 6657925"/>
              <a:gd name="connsiteX2" fmla="*/ 7699375 w 7699375"/>
              <a:gd name="connsiteY2" fmla="*/ 6657925 h 6657925"/>
              <a:gd name="connsiteX3" fmla="*/ 0 w 7699375"/>
              <a:gd name="connsiteY3" fmla="*/ 6657925 h 6657925"/>
              <a:gd name="connsiteX4" fmla="*/ 6835877 w 7699375"/>
              <a:gd name="connsiteY4" fmla="*/ 0 h 6657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9375" h="6657925">
                <a:moveTo>
                  <a:pt x="6835877" y="0"/>
                </a:moveTo>
                <a:lnTo>
                  <a:pt x="7699375" y="11062"/>
                </a:lnTo>
                <a:lnTo>
                  <a:pt x="7699375" y="6657925"/>
                </a:lnTo>
                <a:lnTo>
                  <a:pt x="0" y="6657925"/>
                </a:lnTo>
                <a:lnTo>
                  <a:pt x="683587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r">
              <a:defRPr sz="2800"/>
            </a:lvl1pPr>
          </a:lstStyle>
          <a:p>
            <a:endParaRPr lang="pt-BR"/>
          </a:p>
        </p:txBody>
      </p:sp>
      <p:sp>
        <p:nvSpPr>
          <p:cNvPr id="27" name="Espaço Reservado para Imagem 26">
            <a:extLst>
              <a:ext uri="{FF2B5EF4-FFF2-40B4-BE49-F238E27FC236}">
                <a16:creationId xmlns:a16="http://schemas.microsoft.com/office/drawing/2014/main" id="{6C48D7CB-1A03-4AC3-AB0A-746926E96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58178" y="5844894"/>
            <a:ext cx="16477431" cy="8951912"/>
          </a:xfrm>
          <a:custGeom>
            <a:avLst/>
            <a:gdLst>
              <a:gd name="connsiteX0" fmla="*/ 0 w 16300450"/>
              <a:gd name="connsiteY0" fmla="*/ 0 h 8951912"/>
              <a:gd name="connsiteX1" fmla="*/ 16300450 w 16300450"/>
              <a:gd name="connsiteY1" fmla="*/ 0 h 8951912"/>
              <a:gd name="connsiteX2" fmla="*/ 16300450 w 16300450"/>
              <a:gd name="connsiteY2" fmla="*/ 8951912 h 8951912"/>
              <a:gd name="connsiteX3" fmla="*/ 0 w 16300450"/>
              <a:gd name="connsiteY3" fmla="*/ 8951912 h 8951912"/>
              <a:gd name="connsiteX4" fmla="*/ 0 w 16300450"/>
              <a:gd name="connsiteY4" fmla="*/ 0 h 8951912"/>
              <a:gd name="connsiteX0" fmla="*/ 8790038 w 16300450"/>
              <a:gd name="connsiteY0" fmla="*/ 29496 h 8951912"/>
              <a:gd name="connsiteX1" fmla="*/ 16300450 w 16300450"/>
              <a:gd name="connsiteY1" fmla="*/ 0 h 8951912"/>
              <a:gd name="connsiteX2" fmla="*/ 16300450 w 16300450"/>
              <a:gd name="connsiteY2" fmla="*/ 8951912 h 8951912"/>
              <a:gd name="connsiteX3" fmla="*/ 0 w 16300450"/>
              <a:gd name="connsiteY3" fmla="*/ 8951912 h 8951912"/>
              <a:gd name="connsiteX4" fmla="*/ 8790038 w 16300450"/>
              <a:gd name="connsiteY4" fmla="*/ 29496 h 8951912"/>
              <a:gd name="connsiteX0" fmla="*/ 8967019 w 16477431"/>
              <a:gd name="connsiteY0" fmla="*/ 29496 h 8951912"/>
              <a:gd name="connsiteX1" fmla="*/ 16477431 w 16477431"/>
              <a:gd name="connsiteY1" fmla="*/ 0 h 8951912"/>
              <a:gd name="connsiteX2" fmla="*/ 16477431 w 16477431"/>
              <a:gd name="connsiteY2" fmla="*/ 8951912 h 8951912"/>
              <a:gd name="connsiteX3" fmla="*/ 0 w 16477431"/>
              <a:gd name="connsiteY3" fmla="*/ 8951912 h 8951912"/>
              <a:gd name="connsiteX4" fmla="*/ 8967019 w 16477431"/>
              <a:gd name="connsiteY4" fmla="*/ 29496 h 8951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77431" h="8951912">
                <a:moveTo>
                  <a:pt x="8967019" y="29496"/>
                </a:moveTo>
                <a:lnTo>
                  <a:pt x="16477431" y="0"/>
                </a:lnTo>
                <a:lnTo>
                  <a:pt x="16477431" y="8951912"/>
                </a:lnTo>
                <a:lnTo>
                  <a:pt x="0" y="8951912"/>
                </a:lnTo>
                <a:lnTo>
                  <a:pt x="8967019" y="294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 algn="r">
              <a:defRPr sz="2800"/>
            </a:lvl1pPr>
          </a:lstStyle>
          <a:p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C65151-9208-4251-BEBD-CC1609B35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CA9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A907EC3-44C3-0CDC-D883-A36693ACDF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603" y="51130"/>
            <a:ext cx="2070181" cy="2309545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58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0A07EDB-F017-4DCD-B587-5728ABAD6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BCC3A81-745E-471B-8DD1-75F922706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41541" y="2364106"/>
            <a:ext cx="10279062" cy="8939212"/>
          </a:xfrm>
          <a:custGeom>
            <a:avLst/>
            <a:gdLst>
              <a:gd name="connsiteX0" fmla="*/ 0 w 10279062"/>
              <a:gd name="connsiteY0" fmla="*/ 0 h 8939212"/>
              <a:gd name="connsiteX1" fmla="*/ 10279062 w 10279062"/>
              <a:gd name="connsiteY1" fmla="*/ 0 h 8939212"/>
              <a:gd name="connsiteX2" fmla="*/ 10279062 w 10279062"/>
              <a:gd name="connsiteY2" fmla="*/ 8939212 h 8939212"/>
              <a:gd name="connsiteX3" fmla="*/ 0 w 10279062"/>
              <a:gd name="connsiteY3" fmla="*/ 8939212 h 8939212"/>
              <a:gd name="connsiteX4" fmla="*/ 0 w 10279062"/>
              <a:gd name="connsiteY4" fmla="*/ 0 h 8939212"/>
              <a:gd name="connsiteX0" fmla="*/ 0 w 10279062"/>
              <a:gd name="connsiteY0" fmla="*/ 0 h 8939212"/>
              <a:gd name="connsiteX1" fmla="*/ 10279062 w 10279062"/>
              <a:gd name="connsiteY1" fmla="*/ 0 h 8939212"/>
              <a:gd name="connsiteX2" fmla="*/ 1312043 w 10279062"/>
              <a:gd name="connsiteY2" fmla="*/ 8939212 h 8939212"/>
              <a:gd name="connsiteX3" fmla="*/ 0 w 10279062"/>
              <a:gd name="connsiteY3" fmla="*/ 8939212 h 8939212"/>
              <a:gd name="connsiteX4" fmla="*/ 0 w 10279062"/>
              <a:gd name="connsiteY4" fmla="*/ 0 h 89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9062" h="8939212">
                <a:moveTo>
                  <a:pt x="0" y="0"/>
                </a:moveTo>
                <a:lnTo>
                  <a:pt x="10279062" y="0"/>
                </a:lnTo>
                <a:lnTo>
                  <a:pt x="1312043" y="8939212"/>
                </a:lnTo>
                <a:lnTo>
                  <a:pt x="0" y="89392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r">
              <a:defRPr sz="2400"/>
            </a:lvl1pPr>
          </a:lstStyle>
          <a:p>
            <a:endParaRPr lang="pt-BR"/>
          </a:p>
        </p:txBody>
      </p:sp>
      <p:sp>
        <p:nvSpPr>
          <p:cNvPr id="27" name="Espaço Reservado para Imagem 26">
            <a:extLst>
              <a:ext uri="{FF2B5EF4-FFF2-40B4-BE49-F238E27FC236}">
                <a16:creationId xmlns:a16="http://schemas.microsoft.com/office/drawing/2014/main" id="{4CC6587F-9BE7-4671-AAC5-042F44A741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93957" y="2202717"/>
            <a:ext cx="15505112" cy="9051925"/>
          </a:xfrm>
          <a:custGeom>
            <a:avLst/>
            <a:gdLst>
              <a:gd name="connsiteX0" fmla="*/ 0 w 15505112"/>
              <a:gd name="connsiteY0" fmla="*/ 0 h 9051925"/>
              <a:gd name="connsiteX1" fmla="*/ 15505112 w 15505112"/>
              <a:gd name="connsiteY1" fmla="*/ 0 h 9051925"/>
              <a:gd name="connsiteX2" fmla="*/ 15505112 w 15505112"/>
              <a:gd name="connsiteY2" fmla="*/ 9051925 h 9051925"/>
              <a:gd name="connsiteX3" fmla="*/ 0 w 15505112"/>
              <a:gd name="connsiteY3" fmla="*/ 9051925 h 9051925"/>
              <a:gd name="connsiteX4" fmla="*/ 0 w 15505112"/>
              <a:gd name="connsiteY4" fmla="*/ 0 h 9051925"/>
              <a:gd name="connsiteX0" fmla="*/ 8967019 w 15505112"/>
              <a:gd name="connsiteY0" fmla="*/ 58993 h 9051925"/>
              <a:gd name="connsiteX1" fmla="*/ 15505112 w 15505112"/>
              <a:gd name="connsiteY1" fmla="*/ 0 h 9051925"/>
              <a:gd name="connsiteX2" fmla="*/ 15505112 w 15505112"/>
              <a:gd name="connsiteY2" fmla="*/ 9051925 h 9051925"/>
              <a:gd name="connsiteX3" fmla="*/ 0 w 15505112"/>
              <a:gd name="connsiteY3" fmla="*/ 9051925 h 9051925"/>
              <a:gd name="connsiteX4" fmla="*/ 8967019 w 15505112"/>
              <a:gd name="connsiteY4" fmla="*/ 58993 h 9051925"/>
              <a:gd name="connsiteX0" fmla="*/ 8967019 w 15505112"/>
              <a:gd name="connsiteY0" fmla="*/ 58993 h 9051925"/>
              <a:gd name="connsiteX1" fmla="*/ 15505112 w 15505112"/>
              <a:gd name="connsiteY1" fmla="*/ 0 h 9051925"/>
              <a:gd name="connsiteX2" fmla="*/ 6626583 w 15505112"/>
              <a:gd name="connsiteY2" fmla="*/ 9022428 h 9051925"/>
              <a:gd name="connsiteX3" fmla="*/ 0 w 15505112"/>
              <a:gd name="connsiteY3" fmla="*/ 9051925 h 9051925"/>
              <a:gd name="connsiteX4" fmla="*/ 8967019 w 15505112"/>
              <a:gd name="connsiteY4" fmla="*/ 58993 h 905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5112" h="9051925">
                <a:moveTo>
                  <a:pt x="8967019" y="58993"/>
                </a:moveTo>
                <a:lnTo>
                  <a:pt x="15505112" y="0"/>
                </a:lnTo>
                <a:lnTo>
                  <a:pt x="6626583" y="9022428"/>
                </a:lnTo>
                <a:lnTo>
                  <a:pt x="0" y="9051925"/>
                </a:lnTo>
                <a:lnTo>
                  <a:pt x="8967019" y="589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r">
              <a:defRPr sz="2400"/>
            </a:lvl1pPr>
          </a:lstStyle>
          <a:p>
            <a:endParaRPr lang="pt-BR"/>
          </a:p>
        </p:txBody>
      </p:sp>
      <p:sp>
        <p:nvSpPr>
          <p:cNvPr id="29" name="Espaço Reservado para Imagem 28">
            <a:extLst>
              <a:ext uri="{FF2B5EF4-FFF2-40B4-BE49-F238E27FC236}">
                <a16:creationId xmlns:a16="http://schemas.microsoft.com/office/drawing/2014/main" id="{90D4B84B-38BA-411C-8DC5-70C47CE762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303776" y="2202717"/>
            <a:ext cx="11415200" cy="8939212"/>
          </a:xfrm>
          <a:custGeom>
            <a:avLst/>
            <a:gdLst>
              <a:gd name="connsiteX0" fmla="*/ 0 w 11533187"/>
              <a:gd name="connsiteY0" fmla="*/ 0 h 8939212"/>
              <a:gd name="connsiteX1" fmla="*/ 11533187 w 11533187"/>
              <a:gd name="connsiteY1" fmla="*/ 0 h 8939212"/>
              <a:gd name="connsiteX2" fmla="*/ 11533187 w 11533187"/>
              <a:gd name="connsiteY2" fmla="*/ 8939212 h 8939212"/>
              <a:gd name="connsiteX3" fmla="*/ 0 w 11533187"/>
              <a:gd name="connsiteY3" fmla="*/ 8939212 h 8939212"/>
              <a:gd name="connsiteX4" fmla="*/ 0 w 11533187"/>
              <a:gd name="connsiteY4" fmla="*/ 0 h 8939212"/>
              <a:gd name="connsiteX0" fmla="*/ 8908026 w 11533187"/>
              <a:gd name="connsiteY0" fmla="*/ 0 h 8939212"/>
              <a:gd name="connsiteX1" fmla="*/ 11533187 w 11533187"/>
              <a:gd name="connsiteY1" fmla="*/ 0 h 8939212"/>
              <a:gd name="connsiteX2" fmla="*/ 11533187 w 11533187"/>
              <a:gd name="connsiteY2" fmla="*/ 8939212 h 8939212"/>
              <a:gd name="connsiteX3" fmla="*/ 0 w 11533187"/>
              <a:gd name="connsiteY3" fmla="*/ 8939212 h 8939212"/>
              <a:gd name="connsiteX4" fmla="*/ 8908026 w 11533187"/>
              <a:gd name="connsiteY4" fmla="*/ 0 h 8939212"/>
              <a:gd name="connsiteX0" fmla="*/ 8790039 w 11415200"/>
              <a:gd name="connsiteY0" fmla="*/ 0 h 8939212"/>
              <a:gd name="connsiteX1" fmla="*/ 11415200 w 11415200"/>
              <a:gd name="connsiteY1" fmla="*/ 0 h 8939212"/>
              <a:gd name="connsiteX2" fmla="*/ 11415200 w 11415200"/>
              <a:gd name="connsiteY2" fmla="*/ 8939212 h 8939212"/>
              <a:gd name="connsiteX3" fmla="*/ 0 w 11415200"/>
              <a:gd name="connsiteY3" fmla="*/ 8939212 h 8939212"/>
              <a:gd name="connsiteX4" fmla="*/ 8790039 w 11415200"/>
              <a:gd name="connsiteY4" fmla="*/ 0 h 89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5200" h="8939212">
                <a:moveTo>
                  <a:pt x="8790039" y="0"/>
                </a:moveTo>
                <a:lnTo>
                  <a:pt x="11415200" y="0"/>
                </a:lnTo>
                <a:lnTo>
                  <a:pt x="11415200" y="8939212"/>
                </a:lnTo>
                <a:lnTo>
                  <a:pt x="0" y="8939212"/>
                </a:lnTo>
                <a:lnTo>
                  <a:pt x="8790039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 algn="r">
              <a:defRPr sz="2400"/>
            </a:lvl1pPr>
          </a:lstStyle>
          <a:p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5F3F9DA-C51C-4D45-918D-75F70620D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493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593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4AE08237-4455-4B1A-BDDA-42E49AF70F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315382"/>
            <a:ext cx="24384000" cy="6400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F7E7A7A-9F50-494B-89D5-CAC3B4092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" y="0"/>
            <a:ext cx="24407446" cy="13716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70D37B-CB32-47D3-BA5B-2FBED5C1E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493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00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EA5A1DA-88CF-438E-88BF-C2D25B53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88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F840DF8-A0C5-4A50-9CA9-23AA148E47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29" y="50003"/>
            <a:ext cx="24221604" cy="136159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F3062-0D2E-4FCE-8D7C-0B7AEB08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286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F840DF8-A0C5-4A50-9CA9-23AA148E47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9" y="15633"/>
            <a:ext cx="24401462" cy="137170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F3062-0D2E-4FCE-8D7C-0B7AEB08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865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A3B3A76-A1F1-44BB-BD89-39C6137184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657748" cy="1386838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B72196D-E5E3-4275-8654-223E3BEA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948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7F1043-EC6C-462C-A431-5B8687DD7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2860" y="3346"/>
            <a:ext cx="24443997" cy="1374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6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7601" y="730251"/>
            <a:ext cx="21046262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7601" y="3651250"/>
            <a:ext cx="21046262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7601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36A4A-E915-4482-B4FA-E9274F68326C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82985" y="12712701"/>
            <a:ext cx="82354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3533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EBB8B-65A8-4222-99B6-9433735EFA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60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5" r:id="rId2"/>
    <p:sldLayoutId id="2147483708" r:id="rId3"/>
    <p:sldLayoutId id="2147483709" r:id="rId4"/>
    <p:sldLayoutId id="2147483674" r:id="rId5"/>
    <p:sldLayoutId id="2147483710" r:id="rId6"/>
    <p:sldLayoutId id="2147483711" r:id="rId7"/>
    <p:sldLayoutId id="2147483704" r:id="rId8"/>
    <p:sldLayoutId id="2147483705" r:id="rId9"/>
    <p:sldLayoutId id="2147483681" r:id="rId10"/>
    <p:sldLayoutId id="2147483682" r:id="rId11"/>
    <p:sldLayoutId id="2147483686" r:id="rId12"/>
    <p:sldLayoutId id="2147483687" r:id="rId13"/>
    <p:sldLayoutId id="2147483712" r:id="rId14"/>
    <p:sldLayoutId id="2147483671" r:id="rId15"/>
    <p:sldLayoutId id="2147483672" r:id="rId16"/>
    <p:sldLayoutId id="2147483713" r:id="rId17"/>
    <p:sldLayoutId id="2147483702" r:id="rId18"/>
    <p:sldLayoutId id="2147483696" r:id="rId19"/>
    <p:sldLayoutId id="2147483697" r:id="rId20"/>
    <p:sldLayoutId id="2147483698" r:id="rId21"/>
    <p:sldLayoutId id="2147483694" r:id="rId22"/>
    <p:sldLayoutId id="2147483699" r:id="rId23"/>
    <p:sldLayoutId id="2147483700" r:id="rId24"/>
    <p:sldLayoutId id="2147483701" r:id="rId25"/>
    <p:sldLayoutId id="2147483673" r:id="rId26"/>
    <p:sldLayoutId id="2147483692" r:id="rId27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1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0.png"/><Relationship Id="rId4" Type="http://schemas.openxmlformats.org/officeDocument/2006/relationships/image" Target="../media/image2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0DA6268-CB8B-424D-A6A0-F6E1D6E8F520}"/>
              </a:ext>
            </a:extLst>
          </p:cNvPr>
          <p:cNvSpPr txBox="1"/>
          <p:nvPr/>
        </p:nvSpPr>
        <p:spPr>
          <a:xfrm>
            <a:off x="1587385" y="12218920"/>
            <a:ext cx="9073281" cy="113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MAIO 2023 | SUART13</a:t>
            </a:r>
            <a:endParaRPr lang="en-US" sz="5400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  <a:p>
            <a:endParaRPr lang="en-US" sz="4800" b="1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DD4091E-869B-4BDF-83FD-C476564869DE}"/>
              </a:ext>
            </a:extLst>
          </p:cNvPr>
          <p:cNvSpPr txBox="1"/>
          <p:nvPr/>
        </p:nvSpPr>
        <p:spPr>
          <a:xfrm>
            <a:off x="1521345" y="5780782"/>
            <a:ext cx="228801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kern="0" dirty="0">
                <a:solidFill>
                  <a:schemeClr val="bg1"/>
                </a:solidFill>
                <a:latin typeface="Tw Cen MT" panose="020B0602020104020603" pitchFamily="34" charset="77"/>
              </a:rPr>
              <a:t>ALINHAMENTO DE CONHECIMENTO EM MODELAGEM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1DEC397-2FE0-4543-92A3-33C0364FF74F}"/>
              </a:ext>
            </a:extLst>
          </p:cNvPr>
          <p:cNvSpPr txBox="1"/>
          <p:nvPr/>
        </p:nvSpPr>
        <p:spPr>
          <a:xfrm>
            <a:off x="1026802" y="9237077"/>
            <a:ext cx="11173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MÓDULO 2 – MODELAGEM DE DADOS LÓGICA E FÍSICA</a:t>
            </a:r>
            <a:endParaRPr lang="en-US" sz="4800" b="1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9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Número de Slide 1">
            <a:extLst>
              <a:ext uri="{FF2B5EF4-FFF2-40B4-BE49-F238E27FC236}">
                <a16:creationId xmlns:a16="http://schemas.microsoft.com/office/drawing/2014/main" id="{9BEB787E-1C02-41E8-B15A-65230ECC706A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1B0FD-F87F-6919-B315-63EC9150584B}"/>
              </a:ext>
            </a:extLst>
          </p:cNvPr>
          <p:cNvSpPr txBox="1">
            <a:spLocks/>
          </p:cNvSpPr>
          <p:nvPr/>
        </p:nvSpPr>
        <p:spPr>
          <a:xfrm>
            <a:off x="349544" y="8504855"/>
            <a:ext cx="7136781" cy="1165003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 err="1">
                <a:latin typeface="Tw Cen MT" panose="020B0602020104020603" pitchFamily="34" charset="77"/>
              </a:rPr>
              <a:t>Modelagem</a:t>
            </a:r>
            <a:r>
              <a:rPr lang="en-US" sz="7200" dirty="0">
                <a:latin typeface="Tw Cen MT" panose="020B0602020104020603" pitchFamily="34" charset="77"/>
              </a:rPr>
              <a:t> de Dados </a:t>
            </a:r>
            <a:r>
              <a:rPr lang="en-US" sz="7200" dirty="0" err="1">
                <a:latin typeface="Tw Cen MT" panose="020B0602020104020603" pitchFamily="34" charset="77"/>
              </a:rPr>
              <a:t>Lógica</a:t>
            </a:r>
            <a:r>
              <a:rPr lang="en-US" sz="7200" dirty="0">
                <a:latin typeface="Tw Cen MT" panose="020B0602020104020603" pitchFamily="34" charset="77"/>
              </a:rPr>
              <a:t> e </a:t>
            </a:r>
            <a:r>
              <a:rPr lang="en-US" sz="7200" dirty="0" err="1">
                <a:latin typeface="Tw Cen MT" panose="020B0602020104020603" pitchFamily="34" charset="77"/>
              </a:rPr>
              <a:t>Física</a:t>
            </a:r>
            <a:endParaRPr lang="en-US" sz="7200" dirty="0">
              <a:latin typeface="Tw Cen MT" panose="020B0602020104020603" pitchFamily="34" charset="77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C38E09B-A1F3-4997-BEA8-C0361509B936}"/>
              </a:ext>
            </a:extLst>
          </p:cNvPr>
          <p:cNvSpPr/>
          <p:nvPr/>
        </p:nvSpPr>
        <p:spPr>
          <a:xfrm>
            <a:off x="8341113" y="2936253"/>
            <a:ext cx="15710806" cy="856817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0B7F3F4-DB82-42CF-8409-0B6AA37FB524}"/>
              </a:ext>
            </a:extLst>
          </p:cNvPr>
          <p:cNvSpPr txBox="1"/>
          <p:nvPr/>
        </p:nvSpPr>
        <p:spPr>
          <a:xfrm>
            <a:off x="9226204" y="4304988"/>
            <a:ext cx="18670771" cy="6436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1.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Diferenças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entre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Modelos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Conceitual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,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Lógico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e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Físico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2.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Princípios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da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Modelagem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3.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Normalização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4.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Atividade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Prática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58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80485" y="3125972"/>
            <a:ext cx="22711144" cy="9973339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52961" y="4835155"/>
            <a:ext cx="21766192" cy="6529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/>
            <a:r>
              <a:rPr lang="pt-BR" dirty="0"/>
              <a:t> O modelo de dados conceitual é utilizado para o entendimento dos requisitos do sistema, pois explora as estruturas e conceitos do negócio. O modelo está muito próximo da linguagem do usuário;</a:t>
            </a:r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No Modelo de dados Conceitual a definição das regras de negócio possibilita identificar as entidades, atributos e relacionamentos.</a:t>
            </a:r>
          </a:p>
          <a:p>
            <a:pPr algn="just"/>
            <a:endParaRPr lang="pt-B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F3CA92-9910-4070-8BAB-A4F6B6225CD7}"/>
              </a:ext>
            </a:extLst>
          </p:cNvPr>
          <p:cNvSpPr txBox="1">
            <a:spLocks/>
          </p:cNvSpPr>
          <p:nvPr/>
        </p:nvSpPr>
        <p:spPr>
          <a:xfrm>
            <a:off x="252049" y="2075752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1. </a:t>
            </a:r>
            <a:r>
              <a:rPr lang="en-US" sz="6600" dirty="0" err="1">
                <a:latin typeface="Tw Cen MT" panose="020B0602020104020603" pitchFamily="34" charset="77"/>
              </a:rPr>
              <a:t>Diferenças</a:t>
            </a:r>
            <a:r>
              <a:rPr lang="en-US" sz="6600" dirty="0">
                <a:latin typeface="Tw Cen MT" panose="020B0602020104020603" pitchFamily="34" charset="77"/>
              </a:rPr>
              <a:t> entre </a:t>
            </a:r>
            <a:r>
              <a:rPr lang="en-US" sz="6600" dirty="0" err="1">
                <a:latin typeface="Tw Cen MT" panose="020B0602020104020603" pitchFamily="34" charset="77"/>
              </a:rPr>
              <a:t>os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modelos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conceitual</a:t>
            </a:r>
            <a:r>
              <a:rPr lang="en-US" sz="6600" dirty="0">
                <a:latin typeface="Tw Cen MT" panose="020B0602020104020603" pitchFamily="34" charset="77"/>
              </a:rPr>
              <a:t>, </a:t>
            </a:r>
            <a:r>
              <a:rPr lang="en-US" sz="6600" dirty="0" err="1">
                <a:latin typeface="Tw Cen MT" panose="020B0602020104020603" pitchFamily="34" charset="77"/>
              </a:rPr>
              <a:t>lógico</a:t>
            </a:r>
            <a:r>
              <a:rPr lang="en-US" sz="6600" dirty="0">
                <a:latin typeface="Tw Cen MT" panose="020B0602020104020603" pitchFamily="34" charset="77"/>
              </a:rPr>
              <a:t> e </a:t>
            </a:r>
            <a:r>
              <a:rPr lang="en-US" sz="6600" dirty="0" err="1">
                <a:latin typeface="Tw Cen MT" panose="020B0602020104020603" pitchFamily="34" charset="77"/>
              </a:rPr>
              <a:t>físico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Modelo</a:t>
            </a:r>
            <a:r>
              <a:rPr lang="en-US" sz="6000" dirty="0">
                <a:latin typeface="Tw Cen MT" panose="020B0602020104020603" pitchFamily="34" charset="77"/>
              </a:rPr>
              <a:t> </a:t>
            </a:r>
            <a:r>
              <a:rPr lang="en-US" sz="6000" dirty="0" err="1">
                <a:latin typeface="Tw Cen MT" panose="020B0602020104020603" pitchFamily="34" charset="77"/>
              </a:rPr>
              <a:t>Conceitual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893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18290" y="3317481"/>
            <a:ext cx="23564881" cy="8633514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26249" y="3891174"/>
            <a:ext cx="21648692" cy="13116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1143000" indent="-11430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dirty="0"/>
              <a:t>O modelo de dados lógico é construído baseado no modelo conceitual contendo mais informações que auxiliará na implementação no Banco de Dados;</a:t>
            </a:r>
          </a:p>
          <a:p>
            <a:pPr marL="1143000" indent="-11430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dirty="0"/>
              <a:t>O modelo lógico descreve os domínios das colunas, segundo a arquitetura escolhida, como por exemplo, o modelo relacional;</a:t>
            </a:r>
          </a:p>
          <a:p>
            <a:pPr marL="1143000" indent="-11430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dirty="0"/>
              <a:t>Nesse modelo, as entidades, os atributos, as chaves primárias e estrangeiras e os seus relacionamentos são descritos.</a:t>
            </a:r>
          </a:p>
          <a:p>
            <a:pPr marL="1143000" indent="-11430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2075752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1. </a:t>
            </a:r>
            <a:r>
              <a:rPr lang="en-US" sz="6600" dirty="0" err="1">
                <a:latin typeface="Tw Cen MT" panose="020B0602020104020603" pitchFamily="34" charset="77"/>
              </a:rPr>
              <a:t>Diferenças</a:t>
            </a:r>
            <a:r>
              <a:rPr lang="en-US" sz="6600" dirty="0">
                <a:latin typeface="Tw Cen MT" panose="020B0602020104020603" pitchFamily="34" charset="77"/>
              </a:rPr>
              <a:t> entre </a:t>
            </a:r>
            <a:r>
              <a:rPr lang="en-US" sz="6600" dirty="0" err="1">
                <a:latin typeface="Tw Cen MT" panose="020B0602020104020603" pitchFamily="34" charset="77"/>
              </a:rPr>
              <a:t>os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modelos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conceitual</a:t>
            </a:r>
            <a:r>
              <a:rPr lang="en-US" sz="6600" dirty="0">
                <a:latin typeface="Tw Cen MT" panose="020B0602020104020603" pitchFamily="34" charset="77"/>
              </a:rPr>
              <a:t>, </a:t>
            </a:r>
            <a:r>
              <a:rPr lang="en-US" sz="6600" dirty="0" err="1">
                <a:latin typeface="Tw Cen MT" panose="020B0602020104020603" pitchFamily="34" charset="77"/>
              </a:rPr>
              <a:t>lógico</a:t>
            </a:r>
            <a:r>
              <a:rPr lang="en-US" sz="6600" dirty="0">
                <a:latin typeface="Tw Cen MT" panose="020B0602020104020603" pitchFamily="34" charset="77"/>
              </a:rPr>
              <a:t> e </a:t>
            </a:r>
            <a:r>
              <a:rPr lang="en-US" sz="6600" dirty="0" err="1">
                <a:latin typeface="Tw Cen MT" panose="020B0602020104020603" pitchFamily="34" charset="77"/>
              </a:rPr>
              <a:t>físico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Modelo</a:t>
            </a:r>
            <a:r>
              <a:rPr lang="en-US" sz="6000" dirty="0">
                <a:latin typeface="Tw Cen MT" panose="020B0602020104020603" pitchFamily="34" charset="77"/>
              </a:rPr>
              <a:t> </a:t>
            </a:r>
            <a:r>
              <a:rPr lang="en-US" sz="6000" dirty="0" err="1">
                <a:latin typeface="Tw Cen MT" panose="020B0602020104020603" pitchFamily="34" charset="77"/>
              </a:rPr>
              <a:t>Lógico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8227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552893" y="3961536"/>
            <a:ext cx="23285302" cy="84572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90445" y="4422802"/>
            <a:ext cx="21755016" cy="11244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1143000" indent="-11430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dirty="0"/>
              <a:t>O modelo físico apresenta como os dados serão armazenados em um SGBD específico;</a:t>
            </a:r>
          </a:p>
          <a:p>
            <a:pPr marL="1143000" indent="-11430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dirty="0"/>
              <a:t>Pode ser usado para descrever as estruturas de dados (DDL) para trabalhar com SGBD relacionais;</a:t>
            </a:r>
          </a:p>
          <a:p>
            <a:pPr marL="1143000" indent="-11430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dirty="0"/>
              <a:t>Nesse modelo, as tabelas, colunas, referências, índices, chave primária e chave estrangeira são implementadas no SGBD;</a:t>
            </a:r>
          </a:p>
          <a:p>
            <a:pPr marL="1143000" indent="-11430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dirty="0"/>
              <a:t>As colunas são criadas de acordo com o tipo de dado específico do SGBD.</a:t>
            </a:r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2075752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1. </a:t>
            </a:r>
            <a:r>
              <a:rPr lang="en-US" sz="6600" dirty="0" err="1">
                <a:latin typeface="Tw Cen MT" panose="020B0602020104020603" pitchFamily="34" charset="77"/>
              </a:rPr>
              <a:t>Diferenças</a:t>
            </a:r>
            <a:r>
              <a:rPr lang="en-US" sz="6600" dirty="0">
                <a:latin typeface="Tw Cen MT" panose="020B0602020104020603" pitchFamily="34" charset="77"/>
              </a:rPr>
              <a:t> entre </a:t>
            </a:r>
            <a:r>
              <a:rPr lang="en-US" sz="6600" dirty="0" err="1">
                <a:latin typeface="Tw Cen MT" panose="020B0602020104020603" pitchFamily="34" charset="77"/>
              </a:rPr>
              <a:t>os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modelos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conceitual</a:t>
            </a:r>
            <a:r>
              <a:rPr lang="en-US" sz="6600" dirty="0">
                <a:latin typeface="Tw Cen MT" panose="020B0602020104020603" pitchFamily="34" charset="77"/>
              </a:rPr>
              <a:t>, </a:t>
            </a:r>
            <a:r>
              <a:rPr lang="en-US" sz="6600" dirty="0" err="1">
                <a:latin typeface="Tw Cen MT" panose="020B0602020104020603" pitchFamily="34" charset="77"/>
              </a:rPr>
              <a:t>lógico</a:t>
            </a:r>
            <a:r>
              <a:rPr lang="en-US" sz="6600" dirty="0">
                <a:latin typeface="Tw Cen MT" panose="020B0602020104020603" pitchFamily="34" charset="77"/>
              </a:rPr>
              <a:t> e </a:t>
            </a:r>
            <a:r>
              <a:rPr lang="en-US" sz="6600" dirty="0" err="1">
                <a:latin typeface="Tw Cen MT" panose="020B0602020104020603" pitchFamily="34" charset="77"/>
              </a:rPr>
              <a:t>físico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Modelo</a:t>
            </a:r>
            <a:r>
              <a:rPr lang="en-US" sz="6000" dirty="0">
                <a:latin typeface="Tw Cen MT" panose="020B0602020104020603" pitchFamily="34" charset="77"/>
              </a:rPr>
              <a:t> </a:t>
            </a:r>
            <a:r>
              <a:rPr lang="en-US" sz="6000" dirty="0" err="1">
                <a:latin typeface="Tw Cen MT" panose="020B0602020104020603" pitchFamily="34" charset="77"/>
              </a:rPr>
              <a:t>Físico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924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872942" y="3026305"/>
            <a:ext cx="23178977" cy="1005152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379640" y="963809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  <a:r>
              <a:rPr lang="en-US" sz="6600" dirty="0" err="1">
                <a:latin typeface="Tw Cen MT" panose="020B0602020104020603" pitchFamily="34" charset="77"/>
              </a:rPr>
              <a:t>Lógico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pt-BR" sz="5400" dirty="0">
                <a:latin typeface="Tw Cen MT" panose="020B0602020104020603" pitchFamily="34" charset="77"/>
              </a:rPr>
              <a:t>Derivação do Modelo de Dados Lógico a partir do Conceitual</a:t>
            </a:r>
            <a:r>
              <a:rPr lang="en-US" sz="54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027A41B-506C-4D34-A280-1053FF22E873}"/>
              </a:ext>
            </a:extLst>
          </p:cNvPr>
          <p:cNvSpPr txBox="1"/>
          <p:nvPr/>
        </p:nvSpPr>
        <p:spPr>
          <a:xfrm>
            <a:off x="1323223" y="4754572"/>
            <a:ext cx="21755016" cy="457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>
              <a:lnSpc>
                <a:spcPct val="100000"/>
              </a:lnSpc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lvl="1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318A9A8-5D17-4894-8AB0-85DAD0F12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844" y="3547715"/>
            <a:ext cx="7228548" cy="843741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AB8B012-2A24-4FF1-975B-E0503AEFB88C}"/>
              </a:ext>
            </a:extLst>
          </p:cNvPr>
          <p:cNvSpPr txBox="1"/>
          <p:nvPr/>
        </p:nvSpPr>
        <p:spPr>
          <a:xfrm>
            <a:off x="9519294" y="4389447"/>
            <a:ext cx="1388270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6000" dirty="0"/>
              <a:t>Verifique as entidades e relacionamentos que foram representados no modelo de dados conceitual;</a:t>
            </a:r>
          </a:p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6000" dirty="0"/>
              <a:t>Revise os requisitos negociais para detalhamento dos objetos</a:t>
            </a:r>
          </a:p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6000" dirty="0"/>
              <a:t>Resolva os relacionamentos n:m.</a:t>
            </a:r>
          </a:p>
        </p:txBody>
      </p:sp>
    </p:spTree>
    <p:extLst>
      <p:ext uri="{BB962C8B-B14F-4D97-AF65-F5344CB8AC3E}">
        <p14:creationId xmlns:p14="http://schemas.microsoft.com/office/powerpoint/2010/main" val="192140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12651" y="2679405"/>
            <a:ext cx="23583014" cy="105687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379640" y="963809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  <a:r>
              <a:rPr lang="en-US" sz="6600" dirty="0" err="1">
                <a:latin typeface="Tw Cen MT" panose="020B0602020104020603" pitchFamily="34" charset="77"/>
              </a:rPr>
              <a:t>Lógico</a:t>
            </a:r>
            <a:endParaRPr lang="en-US" sz="54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pt-BR" sz="5400" dirty="0">
                <a:latin typeface="Tw Cen MT" panose="020B0602020104020603" pitchFamily="34" charset="77"/>
              </a:rPr>
              <a:t>Derivação do Modelo de Dados Lógico a partir do Conceitual</a:t>
            </a:r>
            <a:r>
              <a:rPr lang="en-US" sz="54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027A41B-506C-4D34-A280-1053FF22E873}"/>
              </a:ext>
            </a:extLst>
          </p:cNvPr>
          <p:cNvSpPr txBox="1"/>
          <p:nvPr/>
        </p:nvSpPr>
        <p:spPr>
          <a:xfrm>
            <a:off x="1323223" y="4754572"/>
            <a:ext cx="21755016" cy="457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>
              <a:lnSpc>
                <a:spcPct val="100000"/>
              </a:lnSpc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ADD028D-76FF-4E2E-AB17-30C6F17A2256}"/>
              </a:ext>
            </a:extLst>
          </p:cNvPr>
          <p:cNvSpPr txBox="1"/>
          <p:nvPr/>
        </p:nvSpPr>
        <p:spPr>
          <a:xfrm>
            <a:off x="762411" y="4754572"/>
            <a:ext cx="21755016" cy="7196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1143000" indent="-11430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pt-BR" dirty="0"/>
              <a:t>No modelo de dados lógico, as Relações, Associações e Colunas são detalhadas em relação ao modelo de dados conceitual;</a:t>
            </a:r>
          </a:p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Os relacionamentos n:m são resolvidos com a criação de tabelas associativas;</a:t>
            </a:r>
          </a:p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Os domínios das colunas são especificados.</a:t>
            </a:r>
          </a:p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6000" dirty="0"/>
          </a:p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6000" dirty="0"/>
          </a:p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61014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12651" y="2679405"/>
            <a:ext cx="23583014" cy="105687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379640" y="963809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  <a:r>
              <a:rPr lang="en-US" sz="6600" dirty="0" err="1">
                <a:latin typeface="Tw Cen MT" panose="020B0602020104020603" pitchFamily="34" charset="77"/>
              </a:rPr>
              <a:t>Lógico</a:t>
            </a:r>
            <a:endParaRPr lang="en-US" sz="54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pt-BR" sz="5400" dirty="0">
                <a:latin typeface="Tw Cen MT" panose="020B0602020104020603" pitchFamily="34" charset="77"/>
              </a:rPr>
              <a:t>Derivação do Modelo de Dados Lógico a partir do Conceitual</a:t>
            </a:r>
            <a:r>
              <a:rPr lang="en-US" sz="54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027A41B-506C-4D34-A280-1053FF22E873}"/>
              </a:ext>
            </a:extLst>
          </p:cNvPr>
          <p:cNvSpPr txBox="1"/>
          <p:nvPr/>
        </p:nvSpPr>
        <p:spPr>
          <a:xfrm>
            <a:off x="1323223" y="4754572"/>
            <a:ext cx="21755016" cy="457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>
              <a:lnSpc>
                <a:spcPct val="100000"/>
              </a:lnSpc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lvl="1"/>
            <a:endParaRPr lang="pt-BR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277CCDD-4303-4B40-B832-8C8D2AD26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1380" y="4686562"/>
            <a:ext cx="14095018" cy="806562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1F7C802-D2D6-41FF-99E0-9E8F50B81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69" y="4058078"/>
            <a:ext cx="7228548" cy="8437418"/>
          </a:xfrm>
          <a:prstGeom prst="rect">
            <a:avLst/>
          </a:prstGeom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0625364E-DED6-4419-9E7F-92918727BA68}"/>
              </a:ext>
            </a:extLst>
          </p:cNvPr>
          <p:cNvSpPr/>
          <p:nvPr/>
        </p:nvSpPr>
        <p:spPr>
          <a:xfrm>
            <a:off x="8654902" y="7963786"/>
            <a:ext cx="956478" cy="563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5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166988" y="2881903"/>
            <a:ext cx="23583014" cy="10506228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166988" y="1804739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3.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  <a:r>
              <a:rPr lang="en-US" sz="6600" dirty="0" err="1">
                <a:latin typeface="Tw Cen MT" panose="020B0602020104020603" pitchFamily="34" charset="77"/>
              </a:rPr>
              <a:t>Físico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5400" dirty="0" err="1">
                <a:latin typeface="Tw Cen MT" panose="020B0602020104020603" pitchFamily="34" charset="77"/>
              </a:rPr>
              <a:t>Derivação</a:t>
            </a:r>
            <a:r>
              <a:rPr lang="en-US" sz="5400" dirty="0">
                <a:latin typeface="Tw Cen MT" panose="020B0602020104020603" pitchFamily="34" charset="77"/>
              </a:rPr>
              <a:t> do </a:t>
            </a:r>
            <a:r>
              <a:rPr lang="en-US" sz="5400" dirty="0" err="1">
                <a:latin typeface="Tw Cen MT" panose="020B0602020104020603" pitchFamily="34" charset="77"/>
              </a:rPr>
              <a:t>Modelo</a:t>
            </a:r>
            <a:r>
              <a:rPr lang="en-US" sz="5400" dirty="0">
                <a:latin typeface="Tw Cen MT" panose="020B0602020104020603" pitchFamily="34" charset="77"/>
              </a:rPr>
              <a:t> de Dados </a:t>
            </a:r>
            <a:r>
              <a:rPr lang="en-US" sz="5400" dirty="0" err="1">
                <a:latin typeface="Tw Cen MT" panose="020B0602020104020603" pitchFamily="34" charset="77"/>
              </a:rPr>
              <a:t>Físico</a:t>
            </a:r>
            <a:r>
              <a:rPr lang="en-US" sz="5400" dirty="0">
                <a:latin typeface="Tw Cen MT" panose="020B0602020104020603" pitchFamily="34" charset="77"/>
              </a:rPr>
              <a:t> a </a:t>
            </a:r>
            <a:r>
              <a:rPr lang="en-US" sz="5400" dirty="0" err="1">
                <a:latin typeface="Tw Cen MT" panose="020B0602020104020603" pitchFamily="34" charset="77"/>
              </a:rPr>
              <a:t>partir</a:t>
            </a:r>
            <a:r>
              <a:rPr lang="en-US" sz="5400" dirty="0">
                <a:latin typeface="Tw Cen MT" panose="020B0602020104020603" pitchFamily="34" charset="77"/>
              </a:rPr>
              <a:t> do </a:t>
            </a:r>
            <a:r>
              <a:rPr lang="en-US" sz="5400" dirty="0" err="1">
                <a:latin typeface="Tw Cen MT" panose="020B0602020104020603" pitchFamily="34" charset="77"/>
              </a:rPr>
              <a:t>Lógico</a:t>
            </a:r>
            <a:endParaRPr lang="en-US" sz="54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26B47E-8E40-4C38-A0D7-E318125874F2}"/>
              </a:ext>
            </a:extLst>
          </p:cNvPr>
          <p:cNvSpPr txBox="1"/>
          <p:nvPr/>
        </p:nvSpPr>
        <p:spPr>
          <a:xfrm>
            <a:off x="371881" y="5133726"/>
            <a:ext cx="21680045" cy="383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Detalhe as tabelas, colunas, referências, índices, chaves primárias e estrangeiras no modelo de dados físico;</a:t>
            </a:r>
          </a:p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Verifique os tipos de dados das colunas específicos para o SGBD;</a:t>
            </a:r>
          </a:p>
          <a:p>
            <a:pPr marL="1143000" indent="-11430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Resolva as generalizações e especializações.</a:t>
            </a:r>
          </a:p>
        </p:txBody>
      </p:sp>
    </p:spTree>
    <p:extLst>
      <p:ext uri="{BB962C8B-B14F-4D97-AF65-F5344CB8AC3E}">
        <p14:creationId xmlns:p14="http://schemas.microsoft.com/office/powerpoint/2010/main" val="2266287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166988" y="2881903"/>
            <a:ext cx="23583014" cy="10506228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166988" y="1804739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3.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  <a:r>
              <a:rPr lang="en-US" sz="6600" dirty="0" err="1">
                <a:latin typeface="Tw Cen MT" panose="020B0602020104020603" pitchFamily="34" charset="77"/>
              </a:rPr>
              <a:t>Físico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5400" dirty="0" err="1">
                <a:latin typeface="Tw Cen MT" panose="020B0602020104020603" pitchFamily="34" charset="77"/>
              </a:rPr>
              <a:t>Derivação</a:t>
            </a:r>
            <a:r>
              <a:rPr lang="en-US" sz="5400" dirty="0">
                <a:latin typeface="Tw Cen MT" panose="020B0602020104020603" pitchFamily="34" charset="77"/>
              </a:rPr>
              <a:t> do </a:t>
            </a:r>
            <a:r>
              <a:rPr lang="en-US" sz="5400" dirty="0" err="1">
                <a:latin typeface="Tw Cen MT" panose="020B0602020104020603" pitchFamily="34" charset="77"/>
              </a:rPr>
              <a:t>Modelo</a:t>
            </a:r>
            <a:r>
              <a:rPr lang="en-US" sz="5400" dirty="0">
                <a:latin typeface="Tw Cen MT" panose="020B0602020104020603" pitchFamily="34" charset="77"/>
              </a:rPr>
              <a:t> de Dados </a:t>
            </a:r>
            <a:r>
              <a:rPr lang="en-US" sz="5400" dirty="0" err="1">
                <a:latin typeface="Tw Cen MT" panose="020B0602020104020603" pitchFamily="34" charset="77"/>
              </a:rPr>
              <a:t>Físico</a:t>
            </a:r>
            <a:r>
              <a:rPr lang="en-US" sz="5400" dirty="0">
                <a:latin typeface="Tw Cen MT" panose="020B0602020104020603" pitchFamily="34" charset="77"/>
              </a:rPr>
              <a:t> a </a:t>
            </a:r>
            <a:r>
              <a:rPr lang="en-US" sz="5400" dirty="0" err="1">
                <a:latin typeface="Tw Cen MT" panose="020B0602020104020603" pitchFamily="34" charset="77"/>
              </a:rPr>
              <a:t>partir</a:t>
            </a:r>
            <a:r>
              <a:rPr lang="en-US" sz="5400" dirty="0">
                <a:latin typeface="Tw Cen MT" panose="020B0602020104020603" pitchFamily="34" charset="77"/>
              </a:rPr>
              <a:t> do </a:t>
            </a:r>
            <a:r>
              <a:rPr lang="en-US" sz="5400" dirty="0" err="1">
                <a:latin typeface="Tw Cen MT" panose="020B0602020104020603" pitchFamily="34" charset="77"/>
              </a:rPr>
              <a:t>Lógico</a:t>
            </a:r>
            <a:endParaRPr lang="en-US" sz="54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623E121-4A89-426D-8EB1-A1AEDEF7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8981" y="4660948"/>
            <a:ext cx="11201592" cy="6949805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DF68782E-46B2-4251-9192-949963EA21A1}"/>
              </a:ext>
            </a:extLst>
          </p:cNvPr>
          <p:cNvSpPr/>
          <p:nvPr/>
        </p:nvSpPr>
        <p:spPr>
          <a:xfrm>
            <a:off x="10053775" y="7778038"/>
            <a:ext cx="956478" cy="563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C81B248-4995-4AA6-949D-CAEC92E46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19" y="4660948"/>
            <a:ext cx="8917841" cy="655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4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266294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4. </a:t>
            </a:r>
            <a:r>
              <a:rPr lang="en-US" sz="6600" dirty="0" err="1">
                <a:latin typeface="Tw Cen MT" panose="020B0602020104020603" pitchFamily="34" charset="77"/>
              </a:rPr>
              <a:t>Princípios</a:t>
            </a:r>
            <a:r>
              <a:rPr lang="en-US" sz="6600" dirty="0">
                <a:latin typeface="Tw Cen MT" panose="020B0602020104020603" pitchFamily="34" charset="77"/>
              </a:rPr>
              <a:t> da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FA5DADC-AF0E-4B3E-8DFB-022331F22150}"/>
              </a:ext>
            </a:extLst>
          </p:cNvPr>
          <p:cNvSpPr/>
          <p:nvPr/>
        </p:nvSpPr>
        <p:spPr>
          <a:xfrm>
            <a:off x="659219" y="3381153"/>
            <a:ext cx="22945060" cy="898349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F5B513-A645-4741-A363-9F3FAD34D041}"/>
              </a:ext>
            </a:extLst>
          </p:cNvPr>
          <p:cNvSpPr txBox="1"/>
          <p:nvPr/>
        </p:nvSpPr>
        <p:spPr>
          <a:xfrm>
            <a:off x="1636612" y="3961537"/>
            <a:ext cx="21755016" cy="11885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/>
            <a:r>
              <a:rPr lang="pt-BR" dirty="0"/>
              <a:t>4.1 Relações Redundantes</a:t>
            </a:r>
          </a:p>
          <a:p>
            <a:pPr algn="just"/>
            <a:r>
              <a:rPr lang="pt-BR" dirty="0"/>
              <a:t>4.2 Relações Circulares</a:t>
            </a:r>
          </a:p>
          <a:p>
            <a:pPr algn="just"/>
            <a:r>
              <a:rPr lang="pt-BR" dirty="0"/>
              <a:t>4.3 Relações com Múltiplos Significados</a:t>
            </a:r>
          </a:p>
          <a:p>
            <a:pPr algn="just"/>
            <a:r>
              <a:rPr lang="pt-BR" dirty="0"/>
              <a:t>4.4 Relações m:n</a:t>
            </a:r>
          </a:p>
          <a:p>
            <a:pPr algn="just"/>
            <a:r>
              <a:rPr lang="pt-BR" dirty="0"/>
              <a:t>4.5 Fan </a:t>
            </a:r>
            <a:r>
              <a:rPr lang="pt-BR" dirty="0" err="1"/>
              <a:t>trap</a:t>
            </a:r>
            <a:endParaRPr lang="pt-BR" dirty="0"/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27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4. </a:t>
            </a:r>
            <a:r>
              <a:rPr lang="en-US" sz="6600" dirty="0" err="1">
                <a:latin typeface="Tw Cen MT" panose="020B0602020104020603" pitchFamily="34" charset="77"/>
              </a:rPr>
              <a:t>Princípios</a:t>
            </a:r>
            <a:r>
              <a:rPr lang="en-US" sz="6600" dirty="0">
                <a:latin typeface="Tw Cen MT" panose="020B0602020104020603" pitchFamily="34" charset="77"/>
              </a:rPr>
              <a:t> da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Relações</a:t>
            </a:r>
            <a:r>
              <a:rPr lang="en-US" sz="6000" dirty="0">
                <a:latin typeface="Tw Cen MT" panose="020B0602020104020603" pitchFamily="34" charset="77"/>
              </a:rPr>
              <a:t> </a:t>
            </a:r>
            <a:r>
              <a:rPr lang="en-US" sz="6000" dirty="0" err="1">
                <a:latin typeface="Tw Cen MT" panose="020B0602020104020603" pitchFamily="34" charset="77"/>
              </a:rPr>
              <a:t>Redundantes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pic>
        <p:nvPicPr>
          <p:cNvPr id="36" name="Picture 7">
            <a:extLst>
              <a:ext uri="{FF2B5EF4-FFF2-40B4-BE49-F238E27FC236}">
                <a16:creationId xmlns:a16="http://schemas.microsoft.com/office/drawing/2014/main" id="{55B69F29-9000-4011-BF41-CEFEF29B6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796" y="5218174"/>
            <a:ext cx="13615988" cy="718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7" name="Retângulo 10">
            <a:extLst>
              <a:ext uri="{FF2B5EF4-FFF2-40B4-BE49-F238E27FC236}">
                <a16:creationId xmlns:a16="http://schemas.microsoft.com/office/drawing/2014/main" id="{12FF2A06-FFEE-4525-B31D-BC32A95C3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49" y="2934440"/>
            <a:ext cx="20526375" cy="586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238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 dirty="0"/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pt-BR" altLang="pt-BR" sz="4000" dirty="0"/>
              <a:t>  </a:t>
            </a:r>
            <a:r>
              <a:rPr lang="pt-BR" alt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As relações redundantes devem ser eliminadas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pt-BR" altLang="pt-BR" sz="8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pt-BR" altLang="pt-BR" sz="8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ü"/>
            </a:pPr>
            <a:endParaRPr lang="pt-BR" altLang="pt-BR" sz="3600" dirty="0"/>
          </a:p>
          <a:p>
            <a:pPr lvl="1" eaLnBrk="1" hangingPunct="1">
              <a:lnSpc>
                <a:spcPct val="80000"/>
              </a:lnSpc>
            </a:pPr>
            <a:endParaRPr lang="pt-BR" altLang="pt-BR" sz="3600" dirty="0"/>
          </a:p>
          <a:p>
            <a:pPr eaLnBrk="1" hangingPunct="1"/>
            <a:endParaRPr lang="pt-BR" altLang="pt-BR" sz="4800" b="1" dirty="0"/>
          </a:p>
          <a:p>
            <a:pPr lvl="1" eaLnBrk="1" hangingPunct="1"/>
            <a:endParaRPr lang="pt-BR" altLang="pt-BR" sz="44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38" name="Sinal de Multiplicação 37">
            <a:extLst>
              <a:ext uri="{FF2B5EF4-FFF2-40B4-BE49-F238E27FC236}">
                <a16:creationId xmlns:a16="http://schemas.microsoft.com/office/drawing/2014/main" id="{5B2182DD-C05A-48D9-860B-8C2F2DCBB9D5}"/>
              </a:ext>
            </a:extLst>
          </p:cNvPr>
          <p:cNvSpPr/>
          <p:nvPr/>
        </p:nvSpPr>
        <p:spPr>
          <a:xfrm>
            <a:off x="12543631" y="6560091"/>
            <a:ext cx="1629569" cy="2244289"/>
          </a:xfrm>
          <a:prstGeom prst="mathMultiply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89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13" name="Retângulo 10">
            <a:extLst>
              <a:ext uri="{FF2B5EF4-FFF2-40B4-BE49-F238E27FC236}">
                <a16:creationId xmlns:a16="http://schemas.microsoft.com/office/drawing/2014/main" id="{A2F6101E-6C7B-4A0C-8D4A-EA1A4FC5F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3802063"/>
            <a:ext cx="20526375" cy="586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238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 dirty="0"/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pt-BR" altLang="pt-BR" sz="3600" dirty="0"/>
              <a:t>  </a:t>
            </a:r>
            <a:r>
              <a:rPr lang="pt-BR" alt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ordem de armazenamento da informação fica comprometida.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pt-BR" altLang="pt-BR" sz="8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pt-BR" altLang="pt-BR" sz="8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ü"/>
            </a:pPr>
            <a:endParaRPr lang="pt-BR" altLang="pt-BR" sz="3600" dirty="0"/>
          </a:p>
          <a:p>
            <a:pPr lvl="1" eaLnBrk="1" hangingPunct="1">
              <a:lnSpc>
                <a:spcPct val="80000"/>
              </a:lnSpc>
            </a:pPr>
            <a:endParaRPr lang="pt-BR" altLang="pt-BR" sz="3600" dirty="0"/>
          </a:p>
          <a:p>
            <a:pPr eaLnBrk="1" hangingPunct="1"/>
            <a:endParaRPr lang="pt-BR" altLang="pt-BR" sz="4800" b="1" dirty="0"/>
          </a:p>
          <a:p>
            <a:pPr lvl="1" eaLnBrk="1" hangingPunct="1"/>
            <a:endParaRPr lang="pt-BR" altLang="pt-BR" sz="44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2B301AA5-59F4-4075-85B2-A249ADF12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527" y="5714410"/>
            <a:ext cx="13327063" cy="681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9" name="Sinal de Multiplicação 8">
            <a:extLst>
              <a:ext uri="{FF2B5EF4-FFF2-40B4-BE49-F238E27FC236}">
                <a16:creationId xmlns:a16="http://schemas.microsoft.com/office/drawing/2014/main" id="{ABECF8B1-4EEE-457B-BACA-A4CD67FA749D}"/>
              </a:ext>
            </a:extLst>
          </p:cNvPr>
          <p:cNvSpPr/>
          <p:nvPr/>
        </p:nvSpPr>
        <p:spPr>
          <a:xfrm>
            <a:off x="10653712" y="7049398"/>
            <a:ext cx="1629569" cy="2244289"/>
          </a:xfrm>
          <a:prstGeom prst="mathMultiply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1B4ECA-0BD7-4D44-A0B3-56BDA153B352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4. </a:t>
            </a:r>
            <a:r>
              <a:rPr lang="en-US" sz="6600" dirty="0" err="1">
                <a:latin typeface="Tw Cen MT" panose="020B0602020104020603" pitchFamily="34" charset="77"/>
              </a:rPr>
              <a:t>Princípios</a:t>
            </a:r>
            <a:r>
              <a:rPr lang="en-US" sz="6600" dirty="0">
                <a:latin typeface="Tw Cen MT" panose="020B0602020104020603" pitchFamily="34" charset="77"/>
              </a:rPr>
              <a:t> da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Relações</a:t>
            </a:r>
            <a:r>
              <a:rPr lang="en-US" sz="6000" dirty="0">
                <a:latin typeface="Tw Cen MT" panose="020B0602020104020603" pitchFamily="34" charset="77"/>
              </a:rPr>
              <a:t> Circulares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656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16" name="Retângulo 10">
            <a:extLst>
              <a:ext uri="{FF2B5EF4-FFF2-40B4-BE49-F238E27FC236}">
                <a16:creationId xmlns:a16="http://schemas.microsoft.com/office/drawing/2014/main" id="{BF088281-5B46-4D5B-A8DB-6A61E4C69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8" y="3594992"/>
            <a:ext cx="20115213" cy="5398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238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 dirty="0"/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pt-BR" altLang="pt-BR" sz="3600" dirty="0"/>
              <a:t>  </a:t>
            </a:r>
            <a:r>
              <a:rPr lang="pt-BR" alt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Criação de entidade associativa</a:t>
            </a:r>
          </a:p>
          <a:p>
            <a:pPr marL="471488" lvl="1" indent="0" eaLnBrk="1" hangingPunct="1">
              <a:buClr>
                <a:schemeClr val="tx1"/>
              </a:buClr>
            </a:pPr>
            <a:endParaRPr lang="pt-BR" altLang="pt-BR" sz="4000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pt-BR" altLang="pt-BR" sz="3600" dirty="0"/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ü"/>
            </a:pPr>
            <a:endParaRPr lang="pt-BR" altLang="pt-BR" sz="3600" dirty="0"/>
          </a:p>
          <a:p>
            <a:pPr lvl="1" eaLnBrk="1" hangingPunct="1">
              <a:lnSpc>
                <a:spcPct val="80000"/>
              </a:lnSpc>
            </a:pPr>
            <a:endParaRPr lang="pt-BR" altLang="pt-BR" sz="3600" dirty="0"/>
          </a:p>
          <a:p>
            <a:pPr eaLnBrk="1" hangingPunct="1"/>
            <a:endParaRPr lang="pt-BR" altLang="pt-BR" sz="4800" b="1" dirty="0"/>
          </a:p>
          <a:p>
            <a:pPr lvl="1" eaLnBrk="1" hangingPunct="1"/>
            <a:endParaRPr lang="pt-BR" altLang="pt-BR" sz="44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D20889D1-5584-4BA9-869F-89B1C22CC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7772637"/>
            <a:ext cx="8002588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8" name="Picture 8">
            <a:extLst>
              <a:ext uri="{FF2B5EF4-FFF2-40B4-BE49-F238E27FC236}">
                <a16:creationId xmlns:a16="http://schemas.microsoft.com/office/drawing/2014/main" id="{E26D8614-B8D2-479F-8C90-7D8B51E35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8963" y="7831375"/>
            <a:ext cx="11777662" cy="281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D5866664-9BD8-4CC1-816E-2C209AF03464}"/>
              </a:ext>
            </a:extLst>
          </p:cNvPr>
          <p:cNvSpPr/>
          <p:nvPr/>
        </p:nvSpPr>
        <p:spPr>
          <a:xfrm>
            <a:off x="9650413" y="8564800"/>
            <a:ext cx="1722437" cy="7858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1E9E56-9598-4481-9D4C-B69CC4A8D12C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4. </a:t>
            </a:r>
            <a:r>
              <a:rPr lang="en-US" sz="6600" dirty="0" err="1">
                <a:latin typeface="Tw Cen MT" panose="020B0602020104020603" pitchFamily="34" charset="77"/>
              </a:rPr>
              <a:t>Princípios</a:t>
            </a:r>
            <a:r>
              <a:rPr lang="en-US" sz="6600" dirty="0">
                <a:latin typeface="Tw Cen MT" panose="020B0602020104020603" pitchFamily="34" charset="77"/>
              </a:rPr>
              <a:t> da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Relações</a:t>
            </a:r>
            <a:r>
              <a:rPr lang="en-US" sz="6000" dirty="0">
                <a:latin typeface="Tw Cen MT" panose="020B0602020104020603" pitchFamily="34" charset="77"/>
              </a:rPr>
              <a:t> m:n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748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12" name="Retângulo 10">
            <a:extLst>
              <a:ext uri="{FF2B5EF4-FFF2-40B4-BE49-F238E27FC236}">
                <a16:creationId xmlns:a16="http://schemas.microsoft.com/office/drawing/2014/main" id="{65AF10BB-CFDF-43BD-8889-CEBA5E1D2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9826" y="2554583"/>
            <a:ext cx="23269575" cy="528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200150" indent="-7429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3800" b="1" dirty="0"/>
          </a:p>
          <a:p>
            <a:pPr marL="757238" lvl="1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Armadilhas de projeto podem ocorrer quando um relacionamento não é corretamente identificado. </a:t>
            </a:r>
          </a:p>
          <a:p>
            <a:pPr marL="1728788" lvl="3" indent="-8572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O Fan </a:t>
            </a:r>
            <a:r>
              <a:rPr lang="pt-BR" altLang="pt-BR" sz="6600" baseline="30000" dirty="0" err="1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Trap</a:t>
            </a:r>
            <a:r>
              <a:rPr lang="pt-BR" altLang="pt-BR" sz="66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 pode ocorrer quando uma Entidade possui dois relacionamentos 1:m;</a:t>
            </a:r>
          </a:p>
          <a:p>
            <a:pPr marL="1728788" lvl="3" indent="-8572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Isto pode ocultar um relacionamento não expresso no modelo.</a:t>
            </a:r>
          </a:p>
          <a:p>
            <a:pPr eaLnBrk="1" hangingPunct="1">
              <a:lnSpc>
                <a:spcPct val="15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13" name="Picture 11">
            <a:extLst>
              <a:ext uri="{FF2B5EF4-FFF2-40B4-BE49-F238E27FC236}">
                <a16:creationId xmlns:a16="http://schemas.microsoft.com/office/drawing/2014/main" id="{2E09A316-806D-4B7E-B67F-471804960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84" y="7274557"/>
            <a:ext cx="9871019" cy="201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3632E95C-ECB0-46B5-9FF8-DA22E6A446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5087" y="9482138"/>
          <a:ext cx="7288212" cy="359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14751" imgH="1438613" progId="Visio.Drawing.11">
                  <p:embed/>
                </p:oleObj>
              </mc:Choice>
              <mc:Fallback>
                <p:oleObj name="Visio" r:id="rId3" imgW="2914751" imgH="1438613" progId="Visio.Drawing.11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3632E95C-ECB0-46B5-9FF8-DA22E6A446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087" y="9482138"/>
                        <a:ext cx="7288212" cy="359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6">
            <a:extLst>
              <a:ext uri="{FF2B5EF4-FFF2-40B4-BE49-F238E27FC236}">
                <a16:creationId xmlns:a16="http://schemas.microsoft.com/office/drawing/2014/main" id="{AF878071-BD28-4813-B880-3CB21EB81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3741" y="7220227"/>
            <a:ext cx="10013854" cy="2198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8309F259-B87D-49A2-AF23-3B74EE6003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885189"/>
              </p:ext>
            </p:extLst>
          </p:nvPr>
        </p:nvGraphicFramePr>
        <p:xfrm>
          <a:off x="14609845" y="9366285"/>
          <a:ext cx="7903489" cy="3926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917718" imgH="1449151" progId="Visio.Drawing.11">
                  <p:embed/>
                </p:oleObj>
              </mc:Choice>
              <mc:Fallback>
                <p:oleObj name="Visio" r:id="rId6" imgW="2917718" imgH="1449151" progId="Visio.Drawing.11">
                  <p:embed/>
                  <p:pic>
                    <p:nvPicPr>
                      <p:cNvPr id="21" name="Object 4">
                        <a:extLst>
                          <a:ext uri="{FF2B5EF4-FFF2-40B4-BE49-F238E27FC236}">
                            <a16:creationId xmlns:a16="http://schemas.microsoft.com/office/drawing/2014/main" id="{8309F259-B87D-49A2-AF23-3B74EE6003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9845" y="9366285"/>
                        <a:ext cx="7903489" cy="3926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E4263063-CE3D-4A56-8594-9C2964911015}"/>
              </a:ext>
            </a:extLst>
          </p:cNvPr>
          <p:cNvSpPr/>
          <p:nvPr/>
        </p:nvSpPr>
        <p:spPr>
          <a:xfrm>
            <a:off x="11464961" y="10473368"/>
            <a:ext cx="1829987" cy="104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7D12ADB-6F54-4BBC-936A-843A234E3EB7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4. </a:t>
            </a:r>
            <a:r>
              <a:rPr lang="en-US" sz="6600" dirty="0" err="1">
                <a:latin typeface="Tw Cen MT" panose="020B0602020104020603" pitchFamily="34" charset="77"/>
              </a:rPr>
              <a:t>Princípios</a:t>
            </a:r>
            <a:r>
              <a:rPr lang="en-US" sz="6600" dirty="0">
                <a:latin typeface="Tw Cen MT" panose="020B0602020104020603" pitchFamily="34" charset="77"/>
              </a:rPr>
              <a:t> da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Fan Trap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724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59219" y="3381153"/>
            <a:ext cx="22945060" cy="898349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351355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40E9814-321C-4087-BECA-B73C65D16E65}"/>
              </a:ext>
            </a:extLst>
          </p:cNvPr>
          <p:cNvSpPr txBox="1"/>
          <p:nvPr/>
        </p:nvSpPr>
        <p:spPr>
          <a:xfrm>
            <a:off x="1636612" y="3961537"/>
            <a:ext cx="21755016" cy="10423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/>
            <a:r>
              <a:rPr lang="pt-BR" dirty="0"/>
              <a:t>5.1 O que é normalização?</a:t>
            </a:r>
          </a:p>
          <a:p>
            <a:pPr algn="just"/>
            <a:r>
              <a:rPr lang="pt-BR" dirty="0"/>
              <a:t>5.2 Tipos de Dependências </a:t>
            </a:r>
          </a:p>
          <a:p>
            <a:pPr algn="just"/>
            <a:r>
              <a:rPr lang="pt-BR" dirty="0"/>
              <a:t>5.3 Formas Normais (1FN, 2FN, 3FN, FNBC, 4FN)</a:t>
            </a:r>
          </a:p>
          <a:p>
            <a:pPr algn="just"/>
            <a:r>
              <a:rPr lang="pt-BR" dirty="0"/>
              <a:t>5.4 Aplicação das Formas Normais</a:t>
            </a:r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502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569461"/>
            <a:ext cx="23105878" cy="1050836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Normalização é o processo de associar e </a:t>
            </a:r>
            <a:r>
              <a:rPr lang="pt-BR" altLang="pt-BR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disassociar</a:t>
            </a: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atributos a entidades para que se torne concisa e sem falhas estruturais.</a:t>
            </a:r>
          </a:p>
          <a:p>
            <a:pPr marL="857250" indent="-857250" algn="just" fontAlgn="auto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Reduz a redundâncias de dados;</a:t>
            </a:r>
          </a:p>
          <a:p>
            <a:pPr marL="0" lvl="1" indent="-571500" algn="just" fontAlgn="auto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Ajuda eliminar anomalias de dados </a:t>
            </a:r>
          </a:p>
          <a:p>
            <a:pPr marL="1657350" lvl="5" indent="-857250" algn="just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Atributos Compostos;</a:t>
            </a:r>
          </a:p>
          <a:p>
            <a:pPr marL="1657350" lvl="5" indent="-857250" algn="just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Grupo Repetitivo;</a:t>
            </a:r>
          </a:p>
          <a:p>
            <a:pPr marL="1657350" lvl="5" indent="-857250" algn="just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funcional parcial;</a:t>
            </a:r>
          </a:p>
          <a:p>
            <a:pPr marL="1657350" lvl="5" indent="-857250" algn="just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transitiva.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O que é </a:t>
            </a:r>
            <a:r>
              <a:rPr lang="en-US" sz="6000" dirty="0" err="1">
                <a:latin typeface="Tw Cen MT" panose="020B0602020104020603" pitchFamily="34" charset="77"/>
              </a:rPr>
              <a:t>normalização</a:t>
            </a:r>
            <a:r>
              <a:rPr lang="en-US" sz="6000" dirty="0">
                <a:latin typeface="Tw Cen MT" panose="020B0602020104020603" pitchFamily="34" charset="77"/>
              </a:rPr>
              <a:t>?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40E277-ACBD-4446-B150-360B0DC52D43}"/>
              </a:ext>
            </a:extLst>
          </p:cNvPr>
          <p:cNvGrpSpPr>
            <a:grpSpLocks/>
          </p:cNvGrpSpPr>
          <p:nvPr/>
        </p:nvGrpSpPr>
        <p:grpSpPr bwMode="auto">
          <a:xfrm>
            <a:off x="17632227" y="7324726"/>
            <a:ext cx="6759575" cy="5387975"/>
            <a:chOff x="950" y="844"/>
            <a:chExt cx="2336" cy="1224"/>
          </a:xfrm>
        </p:grpSpPr>
        <p:pic>
          <p:nvPicPr>
            <p:cNvPr id="9" name="Picture 8" descr="AnimatedBellChart2">
              <a:extLst>
                <a:ext uri="{FF2B5EF4-FFF2-40B4-BE49-F238E27FC236}">
                  <a16:creationId xmlns:a16="http://schemas.microsoft.com/office/drawing/2014/main" id="{9513EDA9-07D0-4793-87EE-398B8C4BB750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" y="848"/>
              <a:ext cx="1180" cy="1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9" descr="AnimatedBellChart">
              <a:extLst>
                <a:ext uri="{FF2B5EF4-FFF2-40B4-BE49-F238E27FC236}">
                  <a16:creationId xmlns:a16="http://schemas.microsoft.com/office/drawing/2014/main" id="{45ADEF03-8648-4352-B9E4-D51C2B2031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" y="844"/>
              <a:ext cx="582" cy="1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D30FE703-D788-4153-82F0-BA9C04E9E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20"/>
              <a:ext cx="816" cy="144"/>
            </a:xfrm>
            <a:prstGeom prst="rect">
              <a:avLst/>
            </a:prstGeom>
            <a:solidFill>
              <a:srgbClr val="E8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F82E876C-6AA7-40F0-8183-0308FC266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104"/>
              <a:ext cx="96" cy="816"/>
            </a:xfrm>
            <a:prstGeom prst="rect">
              <a:avLst/>
            </a:prstGeom>
            <a:solidFill>
              <a:srgbClr val="E8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FF9CAB8A-8888-46BA-AF32-BCB9182AE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104"/>
              <a:ext cx="432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093B340C-7647-435E-9B14-4506C1194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008"/>
              <a:ext cx="1008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9CA7D89B-BD35-4BBE-85A2-5022DE9D8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200"/>
              <a:ext cx="288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D17F3FD4-9F52-4C50-860D-30D66D43E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200"/>
              <a:ext cx="19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F13085B2-E757-4247-BA6B-25C3C6117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200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1DDDD1D1-507B-4913-835B-5BAD2C41C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392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12428A3F-AF4A-42C8-956C-7C60E4C90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344"/>
              <a:ext cx="48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86C28E75-06C2-4F61-B9BD-A309D4EA5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296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36E580FC-8275-43EB-BA9A-1FF9D210B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392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7C6C4AF5-2624-4236-977A-99844C6D7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488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72C2CCA4-B686-4AF1-BE7F-3D3214214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440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B6148A4F-793E-4401-A777-B498863AB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1537"/>
              <a:ext cx="14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B675C33B-8D26-462A-849A-018F53E38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680"/>
              <a:ext cx="96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C9A2B635-161B-4A41-B12D-A2262EA10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728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8C8A7032-7FA5-4C97-A223-42E37DCEE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632"/>
              <a:ext cx="33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A7C52F72-1511-4BCA-A1B4-A17878EC7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680"/>
              <a:ext cx="384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47F8D49B-65EA-4649-8805-1E8FCC889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488"/>
              <a:ext cx="96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AD42C032-B963-4666-B888-A23F5051A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88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8815029-47E8-40AE-8B6B-55633B501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104"/>
              <a:ext cx="96" cy="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F5C5B33E-9CEC-4198-9F6E-BCC73CF22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296"/>
              <a:ext cx="48" cy="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32">
              <a:extLst>
                <a:ext uri="{FF2B5EF4-FFF2-40B4-BE49-F238E27FC236}">
                  <a16:creationId xmlns:a16="http://schemas.microsoft.com/office/drawing/2014/main" id="{BF253942-0DEB-4E9E-AC3D-DA080B6D44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008"/>
              <a:ext cx="9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pt-BR" altLang="pt-BR">
                  <a:latin typeface="Times New Roman" panose="02020603050405020304" pitchFamily="18" charset="0"/>
                </a:rPr>
                <a:t>Forma Normal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004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9" y="2634343"/>
            <a:ext cx="23799870" cy="10808608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2" algn="just">
              <a:lnSpc>
                <a:spcPct val="150000"/>
              </a:lnSpc>
              <a:spcAft>
                <a:spcPts val="1800"/>
              </a:spcAft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Tipos de </a:t>
            </a:r>
            <a:r>
              <a:rPr lang="en-US" sz="6000" dirty="0" err="1">
                <a:latin typeface="Tw Cen MT" panose="020B0602020104020603" pitchFamily="34" charset="77"/>
              </a:rPr>
              <a:t>Dependência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B28B751-37D8-4768-B134-04621A2FD97F}"/>
              </a:ext>
            </a:extLst>
          </p:cNvPr>
          <p:cNvSpPr/>
          <p:nvPr/>
        </p:nvSpPr>
        <p:spPr>
          <a:xfrm>
            <a:off x="1053287" y="4753307"/>
            <a:ext cx="24010938" cy="57903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Funcional;</a:t>
            </a: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Funcional Total;</a:t>
            </a:r>
          </a:p>
          <a:p>
            <a:pPr marL="571500" indent="-5715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Funcional Parcial;</a:t>
            </a:r>
          </a:p>
          <a:p>
            <a:pPr marL="571500" indent="-5715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Funcional Transitiva.</a:t>
            </a:r>
          </a:p>
        </p:txBody>
      </p:sp>
    </p:spTree>
    <p:extLst>
      <p:ext uri="{BB962C8B-B14F-4D97-AF65-F5344CB8AC3E}">
        <p14:creationId xmlns:p14="http://schemas.microsoft.com/office/powerpoint/2010/main" val="2925416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569461"/>
            <a:ext cx="23105878" cy="1050836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Tipos de </a:t>
            </a:r>
            <a:r>
              <a:rPr lang="en-US" sz="6000" dirty="0" err="1">
                <a:latin typeface="Tw Cen MT" panose="020B0602020104020603" pitchFamily="34" charset="77"/>
              </a:rPr>
              <a:t>Dependências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35" name="Rectangle 2051">
            <a:extLst>
              <a:ext uri="{FF2B5EF4-FFF2-40B4-BE49-F238E27FC236}">
                <a16:creationId xmlns:a16="http://schemas.microsoft.com/office/drawing/2014/main" id="{C0DEE0EC-02ED-4217-A0A9-E371112A363F}"/>
              </a:ext>
            </a:extLst>
          </p:cNvPr>
          <p:cNvSpPr txBox="1">
            <a:spLocks noChangeArrowheads="1"/>
          </p:cNvSpPr>
          <p:nvPr/>
        </p:nvSpPr>
        <p:spPr>
          <a:xfrm>
            <a:off x="992583" y="3231037"/>
            <a:ext cx="21819800" cy="7915502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Funcional: Conexão forte entre dois atributos.</a:t>
            </a:r>
          </a:p>
          <a:p>
            <a:pPr lvl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 quaisquer linhas de uma tabela tem os mesmos valores para os atributos, então existe uma dependência funcional.</a:t>
            </a:r>
          </a:p>
          <a:p>
            <a:pPr lvl="2">
              <a:lnSpc>
                <a:spcPct val="150000"/>
              </a:lnSpc>
            </a:pPr>
            <a:r>
              <a:rPr lang="pt-BR" altLang="pt-BR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nome Pessoa -&gt; endereço</a:t>
            </a:r>
          </a:p>
          <a:p>
            <a:pPr lvl="2">
              <a:lnSpc>
                <a:spcPct val="150000"/>
              </a:lnSpc>
            </a:pPr>
            <a:r>
              <a:rPr lang="pt-BR" altLang="pt-BR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(Código Aluno, Disciplina, Período) -&gt; Nota</a:t>
            </a:r>
          </a:p>
          <a:p>
            <a:pPr lvl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Determinante: atributo no lado esquerdo de uma dependência.</a:t>
            </a:r>
          </a:p>
          <a:p>
            <a:pPr lvl="2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-&gt; B: A determina funcionalmente B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	ou B é funcionalmente dependente de A.</a:t>
            </a:r>
          </a:p>
        </p:txBody>
      </p:sp>
    </p:spTree>
    <p:extLst>
      <p:ext uri="{BB962C8B-B14F-4D97-AF65-F5344CB8AC3E}">
        <p14:creationId xmlns:p14="http://schemas.microsoft.com/office/powerpoint/2010/main" val="118563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3" y="2998381"/>
            <a:ext cx="23018759" cy="10035096"/>
          </a:xfrm>
          <a:prstGeom prst="roundRect">
            <a:avLst>
              <a:gd name="adj" fmla="val 16667"/>
            </a:avLst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Funcional Total: um atributo não-chave que dependa da chave primária como um todo, e não somente de parte dela;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(Número do pedido´, código do pedido) (PK) -&gt; quantidade do produto (dependente das duas chaves).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7200" dirty="0">
              <a:latin typeface="+mn-lt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Tipos de </a:t>
            </a:r>
            <a:r>
              <a:rPr lang="en-US" sz="6000" dirty="0" err="1">
                <a:latin typeface="Tw Cen MT" panose="020B0602020104020603" pitchFamily="34" charset="77"/>
              </a:rPr>
              <a:t>Dependências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600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3" y="2998381"/>
            <a:ext cx="23018759" cy="10035096"/>
          </a:xfrm>
          <a:prstGeom prst="roundRect">
            <a:avLst>
              <a:gd name="adj" fmla="val 16667"/>
            </a:avLst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Tipos de </a:t>
            </a:r>
            <a:r>
              <a:rPr lang="en-US" sz="6000" dirty="0" err="1">
                <a:latin typeface="Tw Cen MT" panose="020B0602020104020603" pitchFamily="34" charset="77"/>
              </a:rPr>
              <a:t>Dependências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6" name="Rectangle 2051">
            <a:extLst>
              <a:ext uri="{FF2B5EF4-FFF2-40B4-BE49-F238E27FC236}">
                <a16:creationId xmlns:a16="http://schemas.microsoft.com/office/drawing/2014/main" id="{6FF5C4F0-2AB2-466D-AA25-29762BA34BD7}"/>
              </a:ext>
            </a:extLst>
          </p:cNvPr>
          <p:cNvSpPr txBox="1">
            <a:spLocks noChangeArrowheads="1"/>
          </p:cNvSpPr>
          <p:nvPr/>
        </p:nvSpPr>
        <p:spPr>
          <a:xfrm>
            <a:off x="949022" y="4451501"/>
            <a:ext cx="21819800" cy="936926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Funcional Parcial: um atributo não-chave que dependa apenas de uma parte da chave primária composta;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(Número do Aluno, Código da disciplina) (PK) -&gt; nome da disciplina (depende apenas do código da disciplina).</a:t>
            </a:r>
          </a:p>
          <a:p>
            <a:pPr marL="0" indent="0">
              <a:lnSpc>
                <a:spcPct val="150000"/>
              </a:lnSpc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08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3" y="2998381"/>
            <a:ext cx="23018759" cy="10035096"/>
          </a:xfrm>
          <a:prstGeom prst="roundRect">
            <a:avLst>
              <a:gd name="adj" fmla="val 16667"/>
            </a:avLst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Tipos de </a:t>
            </a:r>
            <a:r>
              <a:rPr lang="en-US" sz="6000" dirty="0" err="1">
                <a:latin typeface="Tw Cen MT" panose="020B0602020104020603" pitchFamily="34" charset="77"/>
              </a:rPr>
              <a:t>Dependências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6" name="Rectangle 2051">
            <a:extLst>
              <a:ext uri="{FF2B5EF4-FFF2-40B4-BE49-F238E27FC236}">
                <a16:creationId xmlns:a16="http://schemas.microsoft.com/office/drawing/2014/main" id="{6FF5C4F0-2AB2-466D-AA25-29762BA34BD7}"/>
              </a:ext>
            </a:extLst>
          </p:cNvPr>
          <p:cNvSpPr txBox="1">
            <a:spLocks noChangeArrowheads="1"/>
          </p:cNvSpPr>
          <p:nvPr/>
        </p:nvSpPr>
        <p:spPr>
          <a:xfrm>
            <a:off x="949022" y="4451501"/>
            <a:ext cx="21819800" cy="14118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Funcional Transitiva: um atributo não-chave que não depende diretamente da chave primária da tabela (nem mesmo parcialmente), mas depende de um outro campo não-chave;</a:t>
            </a:r>
          </a:p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</a:t>
            </a:r>
            <a:r>
              <a:rPr lang="pt-BR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Número do Pedido (PK), código do vendedor -&gt; nome do vendedor (depende do código do vendedor que não é chave).</a:t>
            </a:r>
          </a:p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27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3" y="2998381"/>
            <a:ext cx="23018759" cy="10035096"/>
          </a:xfrm>
          <a:prstGeom prst="roundRect">
            <a:avLst>
              <a:gd name="adj" fmla="val 16667"/>
            </a:avLst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Tipos de </a:t>
            </a:r>
            <a:r>
              <a:rPr lang="en-US" sz="6000" dirty="0" err="1">
                <a:latin typeface="Tw Cen MT" panose="020B0602020104020603" pitchFamily="34" charset="77"/>
              </a:rPr>
              <a:t>Dependências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6" name="Rectangle 2051">
            <a:extLst>
              <a:ext uri="{FF2B5EF4-FFF2-40B4-BE49-F238E27FC236}">
                <a16:creationId xmlns:a16="http://schemas.microsoft.com/office/drawing/2014/main" id="{6FF5C4F0-2AB2-466D-AA25-29762BA34BD7}"/>
              </a:ext>
            </a:extLst>
          </p:cNvPr>
          <p:cNvSpPr txBox="1">
            <a:spLocks noChangeArrowheads="1"/>
          </p:cNvSpPr>
          <p:nvPr/>
        </p:nvSpPr>
        <p:spPr>
          <a:xfrm>
            <a:off x="949022" y="4451501"/>
            <a:ext cx="21819800" cy="14118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Funcional Transitiva: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pt-BR" sz="6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Coluna não-chave não depende diretamente da chave primária da tabela (nem mesmo parcialmente), mas depende de um outro campo não-chave;</a:t>
            </a:r>
          </a:p>
          <a:p>
            <a:pPr marL="914400" lvl="1" indent="0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pt-BR" sz="6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</a:t>
            </a:r>
            <a:r>
              <a:rPr lang="pt-BR" sz="64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sz="6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Número do Pedido (PK), código do vendedor -&gt; nome do vendedor (depende do código do vendedor que não é chave).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pt-BR" sz="6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Ciclos fechados nos relacionamentos entre duas ou mais tabelas podem apresentar redundância de chave e inconsistências na informação;</a:t>
            </a:r>
          </a:p>
          <a:p>
            <a:pPr marL="914400" lvl="1" indent="0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pt-BR" sz="64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sz="6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Organograma envolvendo Departamento, Divisão e Seção. </a:t>
            </a:r>
          </a:p>
          <a:p>
            <a:pPr marL="914400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pt-BR" sz="6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endParaRPr lang="pt-BR" sz="6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3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3" y="2998381"/>
            <a:ext cx="23018759" cy="10035096"/>
          </a:xfrm>
          <a:prstGeom prst="roundRect">
            <a:avLst>
              <a:gd name="adj" fmla="val 16667"/>
            </a:avLst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349543" y="158653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Restrição</a:t>
            </a:r>
            <a:r>
              <a:rPr lang="en-US" sz="6000" dirty="0">
                <a:latin typeface="Tw Cen MT" panose="020B0602020104020603" pitchFamily="34" charset="77"/>
              </a:rPr>
              <a:t> de </a:t>
            </a:r>
            <a:r>
              <a:rPr lang="en-US" sz="6000" dirty="0" err="1">
                <a:latin typeface="Tw Cen MT" panose="020B0602020104020603" pitchFamily="34" charset="77"/>
              </a:rPr>
              <a:t>Integridade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6" name="Rectangle 2051">
            <a:extLst>
              <a:ext uri="{FF2B5EF4-FFF2-40B4-BE49-F238E27FC236}">
                <a16:creationId xmlns:a16="http://schemas.microsoft.com/office/drawing/2014/main" id="{6FF5C4F0-2AB2-466D-AA25-29762BA34BD7}"/>
              </a:ext>
            </a:extLst>
          </p:cNvPr>
          <p:cNvSpPr txBox="1">
            <a:spLocks noChangeArrowheads="1"/>
          </p:cNvSpPr>
          <p:nvPr/>
        </p:nvSpPr>
        <p:spPr>
          <a:xfrm>
            <a:off x="949022" y="4618076"/>
            <a:ext cx="21819800" cy="7302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Integridade Entidade – As linhas em uma tabela devem ser unicamente referenciadas pela chave primária (não nula);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Integridade referencial – As chaves estrangeiras de uma tabela deve existir como chave primária das tabelas relacionadas.</a:t>
            </a:r>
          </a:p>
        </p:txBody>
      </p:sp>
    </p:spTree>
    <p:extLst>
      <p:ext uri="{BB962C8B-B14F-4D97-AF65-F5344CB8AC3E}">
        <p14:creationId xmlns:p14="http://schemas.microsoft.com/office/powerpoint/2010/main" val="181110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510362" y="3466214"/>
            <a:ext cx="22945059" cy="952677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1FN   - Primeira Forma Normal  </a:t>
            </a:r>
          </a:p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2FN   - Segunda Forma normal  </a:t>
            </a:r>
          </a:p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3FN   - Terceira Forma Normal  </a:t>
            </a:r>
          </a:p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BCNF - Forma Normal </a:t>
            </a:r>
            <a:r>
              <a:rPr lang="pt-BR" altLang="pt-BR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Boyce-Codd</a:t>
            </a: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4FN  -  Quarta Forma Normal</a:t>
            </a:r>
          </a:p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Formas</a:t>
            </a:r>
            <a:r>
              <a:rPr lang="en-US" sz="6000" dirty="0">
                <a:latin typeface="Tw Cen MT" panose="020B0602020104020603" pitchFamily="34" charset="77"/>
              </a:rPr>
              <a:t> </a:t>
            </a:r>
            <a:r>
              <a:rPr lang="en-US" sz="6000" dirty="0" err="1">
                <a:latin typeface="Tw Cen MT" panose="020B0602020104020603" pitchFamily="34" charset="77"/>
              </a:rPr>
              <a:t>Normais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D6D92C5-D54C-17C1-CE4D-02349B9E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610" y="3711576"/>
            <a:ext cx="10563872" cy="905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2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94579" y="2798161"/>
            <a:ext cx="23282735" cy="10472037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2092236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1 FN – </a:t>
            </a:r>
            <a:r>
              <a:rPr lang="en-US" sz="6000" dirty="0" err="1">
                <a:latin typeface="Tw Cen MT" panose="020B0602020104020603" pitchFamily="34" charset="77"/>
              </a:rPr>
              <a:t>Organização</a:t>
            </a:r>
            <a:r>
              <a:rPr lang="en-US" sz="6000" dirty="0">
                <a:latin typeface="Tw Cen MT" panose="020B0602020104020603" pitchFamily="34" charset="77"/>
              </a:rPr>
              <a:t> dos Dados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pic>
        <p:nvPicPr>
          <p:cNvPr id="95" name="Imagem 87">
            <a:extLst>
              <a:ext uri="{FF2B5EF4-FFF2-40B4-BE49-F238E27FC236}">
                <a16:creationId xmlns:a16="http://schemas.microsoft.com/office/drawing/2014/main" id="{832AABF2-237C-4FBC-A705-D1B988E92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357" y="4641147"/>
            <a:ext cx="20088748" cy="319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" name="CaixaDeTexto 96">
            <a:extLst>
              <a:ext uri="{FF2B5EF4-FFF2-40B4-BE49-F238E27FC236}">
                <a16:creationId xmlns:a16="http://schemas.microsoft.com/office/drawing/2014/main" id="{33861F3A-6A82-4DC5-8A7F-DDB894A81528}"/>
              </a:ext>
            </a:extLst>
          </p:cNvPr>
          <p:cNvSpPr txBox="1"/>
          <p:nvPr/>
        </p:nvSpPr>
        <p:spPr>
          <a:xfrm>
            <a:off x="1103739" y="3614399"/>
            <a:ext cx="2175501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1143000" indent="-1143000" algn="just">
              <a:buFont typeface="Wingdings" panose="05000000000000000000" pitchFamily="2" charset="2"/>
              <a:buChar char="ü"/>
            </a:pPr>
            <a:r>
              <a:rPr lang="pt-BR" dirty="0"/>
              <a:t>Tabela de Empregados da Empresa XPTO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542647-EF86-E346-E611-C3948ACDA39B}"/>
              </a:ext>
            </a:extLst>
          </p:cNvPr>
          <p:cNvSpPr txBox="1"/>
          <p:nvPr/>
        </p:nvSpPr>
        <p:spPr>
          <a:xfrm>
            <a:off x="824148" y="8191885"/>
            <a:ext cx="207812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eaLnBrk="1" hangingPunct="1">
              <a:buFont typeface="Arial" panose="020B0604020202020204" pitchFamily="34" charset="0"/>
              <a:buChar char="•"/>
            </a:pPr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Ocorrências da Tabela geram inconsistências de dados  </a:t>
            </a:r>
          </a:p>
          <a:p>
            <a:pPr marL="685800" indent="-685800" eaLnBrk="1" hangingPunct="1">
              <a:buFont typeface="Arial" panose="020B0604020202020204" pitchFamily="34" charset="0"/>
              <a:buChar char="•"/>
            </a:pPr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Tabela acima permite anomalias de dados  </a:t>
            </a:r>
          </a:p>
          <a:p>
            <a:pPr lvl="1" eaLnBrk="1" hangingPunct="1"/>
            <a:r>
              <a:rPr lang="pt-BR" altLang="pt-BR" sz="54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Atualização</a:t>
            </a:r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</a:t>
            </a:r>
          </a:p>
          <a:p>
            <a:pPr lvl="2" eaLnBrk="1" hangingPunct="1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Alteração do nome da função.</a:t>
            </a:r>
          </a:p>
          <a:p>
            <a:pPr lvl="1" eaLnBrk="1" hangingPunct="1"/>
            <a:r>
              <a:rPr lang="pt-BR" altLang="pt-BR" sz="54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Inserção</a:t>
            </a:r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</a:t>
            </a:r>
          </a:p>
          <a:p>
            <a:pPr lvl="2" eaLnBrk="1" hangingPunct="1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Empregado novo exige um projeto.</a:t>
            </a:r>
          </a:p>
          <a:p>
            <a:pPr lvl="1" eaLnBrk="1" hangingPunct="1"/>
            <a:r>
              <a:rPr lang="pt-BR" altLang="pt-BR" sz="54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Exclusão</a:t>
            </a:r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</a:t>
            </a:r>
          </a:p>
          <a:p>
            <a:pPr lvl="2" eaLnBrk="1" hangingPunct="1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Na exclusão de um empregado, outros dados vitais são perdidos.  </a:t>
            </a:r>
          </a:p>
        </p:txBody>
      </p:sp>
    </p:spTree>
    <p:extLst>
      <p:ext uri="{BB962C8B-B14F-4D97-AF65-F5344CB8AC3E}">
        <p14:creationId xmlns:p14="http://schemas.microsoft.com/office/powerpoint/2010/main" val="397832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9454722" y="14304190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2092236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1a Forma Normal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85A1233-95D2-493D-97B9-70D089D65C5B}"/>
              </a:ext>
            </a:extLst>
          </p:cNvPr>
          <p:cNvSpPr/>
          <p:nvPr/>
        </p:nvSpPr>
        <p:spPr>
          <a:xfrm>
            <a:off x="1283657" y="5393552"/>
            <a:ext cx="20115213" cy="13223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sz="4000" b="1" dirty="0">
              <a:latin typeface="+mn-lt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solidFill>
                <a:schemeClr val="accent1">
                  <a:lumMod val="50000"/>
                </a:schemeClr>
              </a:solidFill>
              <a:latin typeface="+mn-lt"/>
              <a:cs typeface="Calibri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099747C-2BD2-4CBC-83B6-37B30E3D69BF}"/>
              </a:ext>
            </a:extLst>
          </p:cNvPr>
          <p:cNvSpPr/>
          <p:nvPr/>
        </p:nvSpPr>
        <p:spPr>
          <a:xfrm>
            <a:off x="559363" y="2798161"/>
            <a:ext cx="23282735" cy="10472037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94890A8-369F-47FE-A5D3-97C6ADD20BA0}"/>
              </a:ext>
            </a:extLst>
          </p:cNvPr>
          <p:cNvSpPr txBox="1"/>
          <p:nvPr/>
        </p:nvSpPr>
        <p:spPr>
          <a:xfrm>
            <a:off x="1283657" y="3454033"/>
            <a:ext cx="1943345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Uma tabela está na primeira forma normal quando: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possui grupos de colunas repetidas;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Possui valores atômicos;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Todas as colunas são dependentes da chave primária.</a:t>
            </a:r>
          </a:p>
          <a:p>
            <a:pPr marL="857250" indent="-857250" algn="l">
              <a:buFont typeface="Wingdings" panose="05000000000000000000" pitchFamily="2" charset="2"/>
              <a:buChar char="ü"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E38545A-790D-4B68-8956-2B25A6D0F4B3}"/>
              </a:ext>
            </a:extLst>
          </p:cNvPr>
          <p:cNvSpPr/>
          <p:nvPr/>
        </p:nvSpPr>
        <p:spPr>
          <a:xfrm>
            <a:off x="730767" y="5375457"/>
            <a:ext cx="20115213" cy="13223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sz="4000" b="1" dirty="0">
              <a:latin typeface="+mn-lt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solidFill>
                <a:schemeClr val="accent1">
                  <a:lumMod val="50000"/>
                </a:schemeClr>
              </a:solidFill>
              <a:latin typeface="+mn-lt"/>
              <a:cs typeface="Calibri"/>
            </a:endParaRPr>
          </a:p>
        </p:txBody>
      </p:sp>
      <p:sp>
        <p:nvSpPr>
          <p:cNvPr id="19" name="AutoShape 153">
            <a:extLst>
              <a:ext uri="{FF2B5EF4-FFF2-40B4-BE49-F238E27FC236}">
                <a16:creationId xmlns:a16="http://schemas.microsoft.com/office/drawing/2014/main" id="{A56E0068-E5DE-4FC2-92F2-1F1252217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2130" y="9825219"/>
            <a:ext cx="496887" cy="1189038"/>
          </a:xfrm>
          <a:prstGeom prst="upArrow">
            <a:avLst>
              <a:gd name="adj1" fmla="val 50000"/>
              <a:gd name="adj2" fmla="val 59824"/>
            </a:avLst>
          </a:prstGeom>
          <a:solidFill>
            <a:srgbClr val="FEE7E2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2400" b="1">
              <a:latin typeface="Tahoma" panose="020B0604030504040204" pitchFamily="34" charset="0"/>
            </a:endParaRPr>
          </a:p>
        </p:txBody>
      </p:sp>
      <p:sp>
        <p:nvSpPr>
          <p:cNvPr id="20" name="AutoShape 153">
            <a:extLst>
              <a:ext uri="{FF2B5EF4-FFF2-40B4-BE49-F238E27FC236}">
                <a16:creationId xmlns:a16="http://schemas.microsoft.com/office/drawing/2014/main" id="{46FBA3E5-B604-4F4B-8688-02FA43AE7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95992" y="9825219"/>
            <a:ext cx="496888" cy="1189038"/>
          </a:xfrm>
          <a:prstGeom prst="upArrow">
            <a:avLst>
              <a:gd name="adj1" fmla="val 50000"/>
              <a:gd name="adj2" fmla="val 59824"/>
            </a:avLst>
          </a:prstGeom>
          <a:solidFill>
            <a:srgbClr val="FEE7E2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2400" b="1">
              <a:latin typeface="Tahoma" panose="020B0604030504040204" pitchFamily="34" charset="0"/>
            </a:endParaRPr>
          </a:p>
        </p:txBody>
      </p:sp>
      <p:sp>
        <p:nvSpPr>
          <p:cNvPr id="21" name="Text Box 158">
            <a:extLst>
              <a:ext uri="{FF2B5EF4-FFF2-40B4-BE49-F238E27FC236}">
                <a16:creationId xmlns:a16="http://schemas.microsoft.com/office/drawing/2014/main" id="{529383DE-D08E-4B43-A29D-3DEE63947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2130" y="11261907"/>
            <a:ext cx="2125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hlink"/>
                </a:solidFill>
                <a:latin typeface="Tahoma" panose="020B0604030504040204" pitchFamily="34" charset="0"/>
              </a:rPr>
              <a:t>Grupo repetido</a:t>
            </a:r>
          </a:p>
        </p:txBody>
      </p:sp>
      <p:sp>
        <p:nvSpPr>
          <p:cNvPr id="22" name="AutoShape 153">
            <a:extLst>
              <a:ext uri="{FF2B5EF4-FFF2-40B4-BE49-F238E27FC236}">
                <a16:creationId xmlns:a16="http://schemas.microsoft.com/office/drawing/2014/main" id="{1AB7DF53-AE85-43A7-9604-6A9363CFE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955" y="9958569"/>
            <a:ext cx="496887" cy="1189038"/>
          </a:xfrm>
          <a:prstGeom prst="upArrow">
            <a:avLst>
              <a:gd name="adj1" fmla="val 50000"/>
              <a:gd name="adj2" fmla="val 59824"/>
            </a:avLst>
          </a:prstGeom>
          <a:solidFill>
            <a:srgbClr val="FEE7E2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2400" b="1">
              <a:latin typeface="Tahoma" panose="020B0604030504040204" pitchFamily="34" charset="0"/>
            </a:endParaRPr>
          </a:p>
        </p:txBody>
      </p:sp>
      <p:sp>
        <p:nvSpPr>
          <p:cNvPr id="23" name="AutoShape 153">
            <a:extLst>
              <a:ext uri="{FF2B5EF4-FFF2-40B4-BE49-F238E27FC236}">
                <a16:creationId xmlns:a16="http://schemas.microsoft.com/office/drawing/2014/main" id="{C0CFA334-73E9-4FA5-A803-A9B533EE5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830" y="9980794"/>
            <a:ext cx="496887" cy="1189038"/>
          </a:xfrm>
          <a:prstGeom prst="upArrow">
            <a:avLst>
              <a:gd name="adj1" fmla="val 50000"/>
              <a:gd name="adj2" fmla="val 59824"/>
            </a:avLst>
          </a:prstGeom>
          <a:solidFill>
            <a:srgbClr val="FEE7E2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2400" b="1">
              <a:latin typeface="Tahoma" panose="020B0604030504040204" pitchFamily="34" charset="0"/>
            </a:endParaRPr>
          </a:p>
        </p:txBody>
      </p:sp>
      <p:sp>
        <p:nvSpPr>
          <p:cNvPr id="24" name="AutoShape 153">
            <a:extLst>
              <a:ext uri="{FF2B5EF4-FFF2-40B4-BE49-F238E27FC236}">
                <a16:creationId xmlns:a16="http://schemas.microsoft.com/office/drawing/2014/main" id="{C3C57DD3-581C-4D36-853B-37A2574F3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8917" y="9844269"/>
            <a:ext cx="496888" cy="1189038"/>
          </a:xfrm>
          <a:prstGeom prst="upArrow">
            <a:avLst>
              <a:gd name="adj1" fmla="val 50000"/>
              <a:gd name="adj2" fmla="val 59824"/>
            </a:avLst>
          </a:prstGeom>
          <a:solidFill>
            <a:srgbClr val="FEE7E2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2400" b="1">
              <a:latin typeface="Tahoma" panose="020B0604030504040204" pitchFamily="34" charset="0"/>
            </a:endParaRPr>
          </a:p>
        </p:txBody>
      </p:sp>
      <p:sp>
        <p:nvSpPr>
          <p:cNvPr id="25" name="Text Box 158">
            <a:extLst>
              <a:ext uri="{FF2B5EF4-FFF2-40B4-BE49-F238E27FC236}">
                <a16:creationId xmlns:a16="http://schemas.microsoft.com/office/drawing/2014/main" id="{EF5486E2-ED57-4721-84D4-835E327EA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6942" y="11306357"/>
            <a:ext cx="2109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hlink"/>
                </a:solidFill>
                <a:latin typeface="Tahoma" panose="020B0604030504040204" pitchFamily="34" charset="0"/>
              </a:rPr>
              <a:t>Atributo Chave</a:t>
            </a:r>
          </a:p>
        </p:txBody>
      </p:sp>
      <p:sp>
        <p:nvSpPr>
          <p:cNvPr id="26" name="Text Box 158">
            <a:extLst>
              <a:ext uri="{FF2B5EF4-FFF2-40B4-BE49-F238E27FC236}">
                <a16:creationId xmlns:a16="http://schemas.microsoft.com/office/drawing/2014/main" id="{8F05C937-A124-474B-A85B-3759FD9AE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5142" y="11277782"/>
            <a:ext cx="2109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hlink"/>
                </a:solidFill>
                <a:latin typeface="Tahoma" panose="020B0604030504040204" pitchFamily="34" charset="0"/>
              </a:rPr>
              <a:t>Atributo Chave</a:t>
            </a:r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6EDEB6AF-9883-41CC-B028-FEF694F30B0F}"/>
              </a:ext>
            </a:extLst>
          </p:cNvPr>
          <p:cNvCxnSpPr>
            <a:cxnSpLocks/>
          </p:cNvCxnSpPr>
          <p:nvPr/>
        </p:nvCxnSpPr>
        <p:spPr>
          <a:xfrm>
            <a:off x="2357955" y="9634719"/>
            <a:ext cx="0" cy="28432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2DE75090-75A0-47D6-B113-40C36BE214FB}"/>
              </a:ext>
            </a:extLst>
          </p:cNvPr>
          <p:cNvCxnSpPr>
            <a:cxnSpLocks/>
          </p:cNvCxnSpPr>
          <p:nvPr/>
        </p:nvCxnSpPr>
        <p:spPr>
          <a:xfrm flipV="1">
            <a:off x="7495105" y="9825219"/>
            <a:ext cx="0" cy="26606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E590FC9F-5B5B-4B0F-9823-E4AE3D81982B}"/>
              </a:ext>
            </a:extLst>
          </p:cNvPr>
          <p:cNvCxnSpPr>
            <a:cxnSpLocks/>
          </p:cNvCxnSpPr>
          <p:nvPr/>
        </p:nvCxnSpPr>
        <p:spPr>
          <a:xfrm>
            <a:off x="2297630" y="12477932"/>
            <a:ext cx="5197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108188EF-E71E-4735-9D33-8B7E0B93571B}"/>
              </a:ext>
            </a:extLst>
          </p:cNvPr>
          <p:cNvCxnSpPr>
            <a:cxnSpLocks/>
          </p:cNvCxnSpPr>
          <p:nvPr/>
        </p:nvCxnSpPr>
        <p:spPr>
          <a:xfrm>
            <a:off x="5979042" y="9642657"/>
            <a:ext cx="0" cy="2843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CB8E3D89-FC95-4F57-BC8F-10477C7F608C}"/>
              </a:ext>
            </a:extLst>
          </p:cNvPr>
          <p:cNvCxnSpPr>
            <a:cxnSpLocks/>
          </p:cNvCxnSpPr>
          <p:nvPr/>
        </p:nvCxnSpPr>
        <p:spPr>
          <a:xfrm>
            <a:off x="9916042" y="9747432"/>
            <a:ext cx="0" cy="2843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54916091-D1FA-4FD2-8D83-A1A232E98060}"/>
              </a:ext>
            </a:extLst>
          </p:cNvPr>
          <p:cNvCxnSpPr>
            <a:cxnSpLocks/>
          </p:cNvCxnSpPr>
          <p:nvPr/>
        </p:nvCxnSpPr>
        <p:spPr>
          <a:xfrm flipV="1">
            <a:off x="11648005" y="9747432"/>
            <a:ext cx="0" cy="28432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B7B007BF-CC14-41D2-AC4D-103178D74019}"/>
              </a:ext>
            </a:extLst>
          </p:cNvPr>
          <p:cNvCxnSpPr>
            <a:cxnSpLocks/>
          </p:cNvCxnSpPr>
          <p:nvPr/>
        </p:nvCxnSpPr>
        <p:spPr>
          <a:xfrm flipV="1">
            <a:off x="12602092" y="9817282"/>
            <a:ext cx="0" cy="26685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65749A5F-C29A-4920-B3CC-74BD7CE6DB80}"/>
              </a:ext>
            </a:extLst>
          </p:cNvPr>
          <p:cNvCxnSpPr>
            <a:cxnSpLocks/>
          </p:cNvCxnSpPr>
          <p:nvPr/>
        </p:nvCxnSpPr>
        <p:spPr>
          <a:xfrm flipV="1">
            <a:off x="15580242" y="9747432"/>
            <a:ext cx="0" cy="28432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808671BC-FE44-446F-951D-E2589881E187}"/>
              </a:ext>
            </a:extLst>
          </p:cNvPr>
          <p:cNvCxnSpPr>
            <a:cxnSpLocks/>
          </p:cNvCxnSpPr>
          <p:nvPr/>
        </p:nvCxnSpPr>
        <p:spPr>
          <a:xfrm flipV="1">
            <a:off x="17202667" y="9747432"/>
            <a:ext cx="0" cy="28432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7F48123F-F226-46A7-9F57-F903F27062BD}"/>
              </a:ext>
            </a:extLst>
          </p:cNvPr>
          <p:cNvCxnSpPr>
            <a:cxnSpLocks/>
          </p:cNvCxnSpPr>
          <p:nvPr/>
        </p:nvCxnSpPr>
        <p:spPr>
          <a:xfrm flipV="1">
            <a:off x="19145767" y="9817282"/>
            <a:ext cx="0" cy="26606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1E5D459A-6628-4128-ABB4-19D3181AE402}"/>
              </a:ext>
            </a:extLst>
          </p:cNvPr>
          <p:cNvCxnSpPr>
            <a:cxnSpLocks/>
          </p:cNvCxnSpPr>
          <p:nvPr/>
        </p:nvCxnSpPr>
        <p:spPr>
          <a:xfrm flipV="1">
            <a:off x="20845980" y="9747432"/>
            <a:ext cx="0" cy="28432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8899E2DC-B3D5-446F-8FAF-18BADBF58010}"/>
              </a:ext>
            </a:extLst>
          </p:cNvPr>
          <p:cNvCxnSpPr>
            <a:cxnSpLocks/>
          </p:cNvCxnSpPr>
          <p:nvPr/>
        </p:nvCxnSpPr>
        <p:spPr>
          <a:xfrm>
            <a:off x="9895405" y="12590644"/>
            <a:ext cx="10950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190FD2EF-8346-4DA5-8D65-4D37D80AF1E2}"/>
              </a:ext>
            </a:extLst>
          </p:cNvPr>
          <p:cNvCxnSpPr>
            <a:cxnSpLocks/>
          </p:cNvCxnSpPr>
          <p:nvPr/>
        </p:nvCxnSpPr>
        <p:spPr>
          <a:xfrm>
            <a:off x="17629705" y="9747432"/>
            <a:ext cx="0" cy="896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172C4FD2-5770-4243-B335-0E004318A542}"/>
              </a:ext>
            </a:extLst>
          </p:cNvPr>
          <p:cNvCxnSpPr>
            <a:cxnSpLocks/>
          </p:cNvCxnSpPr>
          <p:nvPr/>
        </p:nvCxnSpPr>
        <p:spPr>
          <a:xfrm>
            <a:off x="17629705" y="10636432"/>
            <a:ext cx="952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1804230B-7E0D-414F-85E4-7E3E43889323}"/>
              </a:ext>
            </a:extLst>
          </p:cNvPr>
          <p:cNvCxnSpPr>
            <a:cxnSpLocks/>
          </p:cNvCxnSpPr>
          <p:nvPr/>
        </p:nvCxnSpPr>
        <p:spPr>
          <a:xfrm flipH="1" flipV="1">
            <a:off x="18582205" y="9747432"/>
            <a:ext cx="7937" cy="8890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Text Box 158">
            <a:extLst>
              <a:ext uri="{FF2B5EF4-FFF2-40B4-BE49-F238E27FC236}">
                <a16:creationId xmlns:a16="http://schemas.microsoft.com/office/drawing/2014/main" id="{19889420-1920-4623-8CCF-D50914828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2980" y="12706532"/>
            <a:ext cx="2801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Dependência Parcial</a:t>
            </a:r>
          </a:p>
        </p:txBody>
      </p:sp>
      <p:sp>
        <p:nvSpPr>
          <p:cNvPr id="51" name="Text Box 158">
            <a:extLst>
              <a:ext uri="{FF2B5EF4-FFF2-40B4-BE49-F238E27FC236}">
                <a16:creationId xmlns:a16="http://schemas.microsoft.com/office/drawing/2014/main" id="{D53BF8DE-683A-4090-BDA1-0F8B173A1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5861" y="12730396"/>
            <a:ext cx="2803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Dependência Parcial</a:t>
            </a:r>
          </a:p>
        </p:txBody>
      </p:sp>
      <p:sp>
        <p:nvSpPr>
          <p:cNvPr id="52" name="Text Box 158">
            <a:extLst>
              <a:ext uri="{FF2B5EF4-FFF2-40B4-BE49-F238E27FC236}">
                <a16:creationId xmlns:a16="http://schemas.microsoft.com/office/drawing/2014/main" id="{1EAB4A8C-9D70-4497-8776-7EB225198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9017" y="10798357"/>
            <a:ext cx="18510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Dependência</a:t>
            </a:r>
          </a:p>
          <a:p>
            <a:pPr eaLnBrk="1" hangingPunct="1"/>
            <a:r>
              <a:rPr lang="pt-BR" altLang="pt-BR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Transitiva</a:t>
            </a:r>
          </a:p>
        </p:txBody>
      </p:sp>
      <p:pic>
        <p:nvPicPr>
          <p:cNvPr id="53" name="Imagem 87">
            <a:extLst>
              <a:ext uri="{FF2B5EF4-FFF2-40B4-BE49-F238E27FC236}">
                <a16:creationId xmlns:a16="http://schemas.microsoft.com/office/drawing/2014/main" id="{8C850858-9183-4AF6-B3C0-0CABB770E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080" y="7729719"/>
            <a:ext cx="19121437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654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  <p:bldP spid="22" grpId="0" animBg="1"/>
      <p:bldP spid="23" grpId="0" animBg="1"/>
      <p:bldP spid="24" grpId="0" animBg="1"/>
      <p:bldP spid="25" grpId="0"/>
      <p:bldP spid="26" grpId="0"/>
      <p:bldP spid="50" grpId="0"/>
      <p:bldP spid="51" grpId="0"/>
      <p:bldP spid="5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9454722" y="14304190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2092236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1a Forma Normal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85A1233-95D2-493D-97B9-70D089D65C5B}"/>
              </a:ext>
            </a:extLst>
          </p:cNvPr>
          <p:cNvSpPr/>
          <p:nvPr/>
        </p:nvSpPr>
        <p:spPr>
          <a:xfrm>
            <a:off x="1283657" y="5393552"/>
            <a:ext cx="20115213" cy="13223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sz="4000" b="1" dirty="0">
              <a:latin typeface="+mn-lt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solidFill>
                <a:schemeClr val="accent1">
                  <a:lumMod val="50000"/>
                </a:schemeClr>
              </a:solidFill>
              <a:latin typeface="+mn-lt"/>
              <a:cs typeface="Calibri"/>
            </a:endParaRPr>
          </a:p>
        </p:txBody>
      </p:sp>
      <p:sp>
        <p:nvSpPr>
          <p:cNvPr id="74" name="Retângulo 1">
            <a:extLst>
              <a:ext uri="{FF2B5EF4-FFF2-40B4-BE49-F238E27FC236}">
                <a16:creationId xmlns:a16="http://schemas.microsoft.com/office/drawing/2014/main" id="{06DF0345-8EC0-4D94-97AE-06F521B82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79" y="3399886"/>
            <a:ext cx="22945059" cy="438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Identificar todas as colunas chaves na Tabela</a:t>
            </a:r>
          </a:p>
          <a:p>
            <a:pPr marL="457200" lvl="1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Identificar as dependências existentes</a:t>
            </a:r>
          </a:p>
          <a:p>
            <a:pPr marL="1485900" lvl="2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Verificar a dependência de cada coluna em relação à chave primária da Tabela </a:t>
            </a:r>
          </a:p>
          <a:p>
            <a:pPr marL="457200"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Retirar todos os grupos de colunas repetidos</a:t>
            </a:r>
          </a:p>
          <a:p>
            <a:pPr marL="457200"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Retirar as colunas com valores não atômicos (colunas compostas)</a:t>
            </a:r>
          </a:p>
        </p:txBody>
      </p:sp>
      <p:pic>
        <p:nvPicPr>
          <p:cNvPr id="112" name="Imagem 3">
            <a:extLst>
              <a:ext uri="{FF2B5EF4-FFF2-40B4-BE49-F238E27FC236}">
                <a16:creationId xmlns:a16="http://schemas.microsoft.com/office/drawing/2014/main" id="{C1E0C222-C0AA-4C50-BAE4-655BA5CC3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577" y="8411671"/>
            <a:ext cx="4795838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" name="Imagem 7">
            <a:extLst>
              <a:ext uri="{FF2B5EF4-FFF2-40B4-BE49-F238E27FC236}">
                <a16:creationId xmlns:a16="http://schemas.microsoft.com/office/drawing/2014/main" id="{5C883831-4A74-44F5-9E2B-131C98B0F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5336" y="8119957"/>
            <a:ext cx="11004550" cy="487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DF289840-EA86-4977-A081-593021B862EC}"/>
              </a:ext>
            </a:extLst>
          </p:cNvPr>
          <p:cNvSpPr/>
          <p:nvPr/>
        </p:nvSpPr>
        <p:spPr>
          <a:xfrm>
            <a:off x="8020594" y="9904095"/>
            <a:ext cx="1750423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Text Box 158">
            <a:extLst>
              <a:ext uri="{FF2B5EF4-FFF2-40B4-BE49-F238E27FC236}">
                <a16:creationId xmlns:a16="http://schemas.microsoft.com/office/drawing/2014/main" id="{858CD00B-BAC6-4BF7-854D-30ED8C045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4090" y="9089514"/>
            <a:ext cx="2223429" cy="95410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Normalização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1FN</a:t>
            </a:r>
          </a:p>
        </p:txBody>
      </p:sp>
    </p:spTree>
    <p:extLst>
      <p:ext uri="{BB962C8B-B14F-4D97-AF65-F5344CB8AC3E}">
        <p14:creationId xmlns:p14="http://schemas.microsoft.com/office/powerpoint/2010/main" val="217548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2a Forma Normal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0AC0802-5A1B-49D6-BAC5-7596F58A9F6B}"/>
              </a:ext>
            </a:extLst>
          </p:cNvPr>
          <p:cNvSpPr/>
          <p:nvPr/>
        </p:nvSpPr>
        <p:spPr>
          <a:xfrm>
            <a:off x="728201" y="3539078"/>
            <a:ext cx="22945059" cy="952677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</a:p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DE0543-FC34-48C9-987B-3202AD5E77CA}"/>
              </a:ext>
            </a:extLst>
          </p:cNvPr>
          <p:cNvSpPr txBox="1"/>
          <p:nvPr/>
        </p:nvSpPr>
        <p:spPr>
          <a:xfrm>
            <a:off x="1397794" y="4101348"/>
            <a:ext cx="22275466" cy="5533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Uma tabela está na segunda forma normal quando: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Está na 1FN;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possui dependência funcional parcial quando:</a:t>
            </a:r>
          </a:p>
          <a:p>
            <a:pPr marL="1771650" lvl="2" indent="-8572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possui nenhuma coluna dependente parcialmente da chave primária Tabela;</a:t>
            </a:r>
          </a:p>
          <a:p>
            <a:pPr marL="1771650" lvl="2" indent="-8572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 a tabela possuir apenas uma coluna na chave primária ela já estará na 2FN.</a:t>
            </a:r>
          </a:p>
          <a:p>
            <a:pPr lvl="2">
              <a:lnSpc>
                <a:spcPct val="150000"/>
              </a:lnSpc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2DFF32-2353-4FE6-9157-A96217DDAB17}"/>
              </a:ext>
            </a:extLst>
          </p:cNvPr>
          <p:cNvSpPr txBox="1"/>
          <p:nvPr/>
        </p:nvSpPr>
        <p:spPr>
          <a:xfrm>
            <a:off x="2412532" y="9133684"/>
            <a:ext cx="19576395" cy="276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OBSERVAÇÂO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Pode existir dependência transitiva:</a:t>
            </a:r>
          </a:p>
          <a:p>
            <a:pPr marL="1771650" lvl="2" indent="-8572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Colunas podem ser funcionalmente dependentes de colunas não chave. </a:t>
            </a:r>
          </a:p>
        </p:txBody>
      </p:sp>
    </p:spTree>
    <p:extLst>
      <p:ext uri="{BB962C8B-B14F-4D97-AF65-F5344CB8AC3E}">
        <p14:creationId xmlns:p14="http://schemas.microsoft.com/office/powerpoint/2010/main" val="352126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320705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2a Forma Normal - </a:t>
            </a:r>
            <a:r>
              <a:rPr lang="en-US" sz="6000" dirty="0" err="1">
                <a:latin typeface="Tw Cen MT" panose="020B0602020104020603" pitchFamily="34" charset="77"/>
              </a:rPr>
              <a:t>Conversão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0AC0802-5A1B-49D6-BAC5-7596F58A9F6B}"/>
              </a:ext>
            </a:extLst>
          </p:cNvPr>
          <p:cNvSpPr/>
          <p:nvPr/>
        </p:nvSpPr>
        <p:spPr>
          <a:xfrm>
            <a:off x="320705" y="3440516"/>
            <a:ext cx="22945059" cy="952677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</a:p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DE0543-FC34-48C9-987B-3202AD5E77CA}"/>
              </a:ext>
            </a:extLst>
          </p:cNvPr>
          <p:cNvSpPr txBox="1"/>
          <p:nvPr/>
        </p:nvSpPr>
        <p:spPr>
          <a:xfrm>
            <a:off x="963028" y="4021038"/>
            <a:ext cx="21997195" cy="2189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Identifique a(s) coluna(s) que dependam parcialmente da chave primária;</a:t>
            </a:r>
          </a:p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Crie uma tabela nova com a coluna chave e as suas colunas dependentes.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E59017-EF39-4F1A-92ED-D8FDF6731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116" y="7809503"/>
            <a:ext cx="10010775" cy="2009775"/>
          </a:xfrm>
          <a:prstGeom prst="rect">
            <a:avLst/>
          </a:prstGeom>
        </p:spPr>
      </p:pic>
      <p:sp>
        <p:nvSpPr>
          <p:cNvPr id="7" name="Text Box 158">
            <a:extLst>
              <a:ext uri="{FF2B5EF4-FFF2-40B4-BE49-F238E27FC236}">
                <a16:creationId xmlns:a16="http://schemas.microsoft.com/office/drawing/2014/main" id="{4B42A3AA-B08F-4126-85ED-5A1723786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1112" y="6874204"/>
            <a:ext cx="2151062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EMPREGADO</a:t>
            </a:r>
          </a:p>
        </p:txBody>
      </p:sp>
      <p:sp>
        <p:nvSpPr>
          <p:cNvPr id="17" name="AutoShape 153">
            <a:extLst>
              <a:ext uri="{FF2B5EF4-FFF2-40B4-BE49-F238E27FC236}">
                <a16:creationId xmlns:a16="http://schemas.microsoft.com/office/drawing/2014/main" id="{71A779D0-2E60-41AF-80CC-F6F8135B0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409" y="9916259"/>
            <a:ext cx="496887" cy="1189038"/>
          </a:xfrm>
          <a:prstGeom prst="upArrow">
            <a:avLst>
              <a:gd name="adj1" fmla="val 50000"/>
              <a:gd name="adj2" fmla="val 59824"/>
            </a:avLst>
          </a:prstGeom>
          <a:solidFill>
            <a:srgbClr val="FEE7E2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2400" b="1">
              <a:latin typeface="Tahoma" panose="020B0604030504040204" pitchFamily="34" charset="0"/>
            </a:endParaRPr>
          </a:p>
        </p:txBody>
      </p:sp>
      <p:sp>
        <p:nvSpPr>
          <p:cNvPr id="18" name="AutoShape 153">
            <a:extLst>
              <a:ext uri="{FF2B5EF4-FFF2-40B4-BE49-F238E27FC236}">
                <a16:creationId xmlns:a16="http://schemas.microsoft.com/office/drawing/2014/main" id="{8E202F85-6EDA-4627-B283-28F0CF4F1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284" y="9938484"/>
            <a:ext cx="496887" cy="1189038"/>
          </a:xfrm>
          <a:prstGeom prst="upArrow">
            <a:avLst>
              <a:gd name="adj1" fmla="val 50000"/>
              <a:gd name="adj2" fmla="val 59824"/>
            </a:avLst>
          </a:prstGeom>
          <a:solidFill>
            <a:srgbClr val="FEE7E2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2400" b="1">
              <a:latin typeface="Tahoma" panose="020B0604030504040204" pitchFamily="34" charset="0"/>
            </a:endParaRPr>
          </a:p>
        </p:txBody>
      </p:sp>
      <p:sp>
        <p:nvSpPr>
          <p:cNvPr id="19" name="Text Box 158">
            <a:extLst>
              <a:ext uri="{FF2B5EF4-FFF2-40B4-BE49-F238E27FC236}">
                <a16:creationId xmlns:a16="http://schemas.microsoft.com/office/drawing/2014/main" id="{0E3AAE97-5D11-4FED-A766-185159D50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396" y="11264047"/>
            <a:ext cx="22012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Colunas Chaves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FCCDF2AC-D149-4B0D-8779-D5E810EF0C9A}"/>
              </a:ext>
            </a:extLst>
          </p:cNvPr>
          <p:cNvCxnSpPr>
            <a:cxnSpLocks/>
          </p:cNvCxnSpPr>
          <p:nvPr/>
        </p:nvCxnSpPr>
        <p:spPr>
          <a:xfrm flipH="1" flipV="1">
            <a:off x="8494559" y="9782909"/>
            <a:ext cx="17615" cy="9807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FCB90311-AF30-4678-8CB2-6BCCB6619E37}"/>
              </a:ext>
            </a:extLst>
          </p:cNvPr>
          <p:cNvCxnSpPr>
            <a:cxnSpLocks/>
          </p:cNvCxnSpPr>
          <p:nvPr/>
        </p:nvCxnSpPr>
        <p:spPr>
          <a:xfrm>
            <a:off x="6996111" y="9819278"/>
            <a:ext cx="0" cy="944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58">
            <a:extLst>
              <a:ext uri="{FF2B5EF4-FFF2-40B4-BE49-F238E27FC236}">
                <a16:creationId xmlns:a16="http://schemas.microsoft.com/office/drawing/2014/main" id="{DDFCB2F8-58F4-4776-BC0F-B843C733B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4136" y="11241887"/>
            <a:ext cx="2801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Dependência Parcial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6D468AAA-B08E-4492-B21D-E0DC7A845602}"/>
              </a:ext>
            </a:extLst>
          </p:cNvPr>
          <p:cNvCxnSpPr>
            <a:cxnSpLocks/>
          </p:cNvCxnSpPr>
          <p:nvPr/>
        </p:nvCxnSpPr>
        <p:spPr>
          <a:xfrm>
            <a:off x="6996111" y="10763614"/>
            <a:ext cx="1516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158">
            <a:extLst>
              <a:ext uri="{FF2B5EF4-FFF2-40B4-BE49-F238E27FC236}">
                <a16:creationId xmlns:a16="http://schemas.microsoft.com/office/drawing/2014/main" id="{1335EBFC-AE4F-4B35-8C99-DB27FCAB1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3364" y="6965711"/>
            <a:ext cx="1517650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PROJETO</a:t>
            </a:r>
          </a:p>
        </p:txBody>
      </p:sp>
      <p:pic>
        <p:nvPicPr>
          <p:cNvPr id="28" name="Imagem 38">
            <a:extLst>
              <a:ext uri="{FF2B5EF4-FFF2-40B4-BE49-F238E27FC236}">
                <a16:creationId xmlns:a16="http://schemas.microsoft.com/office/drawing/2014/main" id="{E23D775A-2010-496B-986F-C4665E067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2957" y="8014486"/>
            <a:ext cx="7977266" cy="1574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0958B0DD-DB62-40E0-B87D-30315F0BDD26}"/>
              </a:ext>
            </a:extLst>
          </p:cNvPr>
          <p:cNvSpPr/>
          <p:nvPr/>
        </p:nvSpPr>
        <p:spPr>
          <a:xfrm>
            <a:off x="13232534" y="8529794"/>
            <a:ext cx="1750423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7BF1765-600B-4CDC-A20F-E018BB378255}"/>
              </a:ext>
            </a:extLst>
          </p:cNvPr>
          <p:cNvCxnSpPr>
            <a:cxnSpLocks/>
          </p:cNvCxnSpPr>
          <p:nvPr/>
        </p:nvCxnSpPr>
        <p:spPr>
          <a:xfrm>
            <a:off x="2981077" y="7809503"/>
            <a:ext cx="0" cy="19734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36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 animBg="1"/>
      <p:bldP spid="18" grpId="0" animBg="1"/>
      <p:bldP spid="19" grpId="0"/>
      <p:bldP spid="23" grpId="0"/>
      <p:bldP spid="27" grpId="0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2a Forma Normal – </a:t>
            </a:r>
            <a:r>
              <a:rPr lang="en-US" sz="6000" dirty="0" err="1">
                <a:latin typeface="Tw Cen MT" panose="020B0602020104020603" pitchFamily="34" charset="77"/>
              </a:rPr>
              <a:t>Resultado</a:t>
            </a:r>
            <a:r>
              <a:rPr lang="en-US" sz="6000" dirty="0">
                <a:latin typeface="Tw Cen MT" panose="020B0602020104020603" pitchFamily="34" charset="77"/>
              </a:rPr>
              <a:t> da </a:t>
            </a:r>
            <a:r>
              <a:rPr lang="en-US" sz="6000" dirty="0" err="1">
                <a:latin typeface="Tw Cen MT" panose="020B0602020104020603" pitchFamily="34" charset="77"/>
              </a:rPr>
              <a:t>Conversão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pic>
        <p:nvPicPr>
          <p:cNvPr id="18" name="Imagem 7">
            <a:extLst>
              <a:ext uri="{FF2B5EF4-FFF2-40B4-BE49-F238E27FC236}">
                <a16:creationId xmlns:a16="http://schemas.microsoft.com/office/drawing/2014/main" id="{ACC76FC2-0759-4249-84ED-529967C02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32" y="2877236"/>
            <a:ext cx="11004550" cy="487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D3AAC0F-FC7C-4970-9261-70F03D1ECD14}"/>
              </a:ext>
            </a:extLst>
          </p:cNvPr>
          <p:cNvSpPr/>
          <p:nvPr/>
        </p:nvSpPr>
        <p:spPr>
          <a:xfrm>
            <a:off x="294580" y="2749234"/>
            <a:ext cx="5165950" cy="3034878"/>
          </a:xfrm>
          <a:prstGeom prst="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">
            <a:extLst>
              <a:ext uri="{FF2B5EF4-FFF2-40B4-BE49-F238E27FC236}">
                <a16:creationId xmlns:a16="http://schemas.microsoft.com/office/drawing/2014/main" id="{A51364A6-F76A-4FF0-B520-81B023EC1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222" y="8470214"/>
            <a:ext cx="160274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eta: Curva para a Direita 10">
            <a:extLst>
              <a:ext uri="{FF2B5EF4-FFF2-40B4-BE49-F238E27FC236}">
                <a16:creationId xmlns:a16="http://schemas.microsoft.com/office/drawing/2014/main" id="{C3137858-0AC4-495A-9E26-1C2222B2BE8A}"/>
              </a:ext>
            </a:extLst>
          </p:cNvPr>
          <p:cNvSpPr/>
          <p:nvPr/>
        </p:nvSpPr>
        <p:spPr>
          <a:xfrm>
            <a:off x="1124841" y="7197220"/>
            <a:ext cx="3086100" cy="487203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83D0AD4-BBFC-4B10-B602-4D66CD8E69E7}"/>
              </a:ext>
            </a:extLst>
          </p:cNvPr>
          <p:cNvSpPr/>
          <p:nvPr/>
        </p:nvSpPr>
        <p:spPr>
          <a:xfrm>
            <a:off x="6937140" y="8989961"/>
            <a:ext cx="7793605" cy="3697605"/>
          </a:xfrm>
          <a:prstGeom prst="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 Box 158">
            <a:extLst>
              <a:ext uri="{FF2B5EF4-FFF2-40B4-BE49-F238E27FC236}">
                <a16:creationId xmlns:a16="http://schemas.microsoft.com/office/drawing/2014/main" id="{6A874874-B8A7-4497-90C2-DD6BBE557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7100" y="8807322"/>
            <a:ext cx="2223429" cy="95410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Normalização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2FN</a:t>
            </a:r>
          </a:p>
        </p:txBody>
      </p:sp>
    </p:spTree>
    <p:extLst>
      <p:ext uri="{BB962C8B-B14F-4D97-AF65-F5344CB8AC3E}">
        <p14:creationId xmlns:p14="http://schemas.microsoft.com/office/powerpoint/2010/main" val="337504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21" grpId="0" animBg="1"/>
      <p:bldP spid="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3a Forma Normal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0AC0802-5A1B-49D6-BAC5-7596F58A9F6B}"/>
              </a:ext>
            </a:extLst>
          </p:cNvPr>
          <p:cNvSpPr/>
          <p:nvPr/>
        </p:nvSpPr>
        <p:spPr>
          <a:xfrm>
            <a:off x="294579" y="3466214"/>
            <a:ext cx="22945059" cy="952677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</a:p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5" name="Retângulo 2">
            <a:extLst>
              <a:ext uri="{FF2B5EF4-FFF2-40B4-BE49-F238E27FC236}">
                <a16:creationId xmlns:a16="http://schemas.microsoft.com/office/drawing/2014/main" id="{C9BB5D85-33DF-4DB1-BD80-61971D6C2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825" y="3634573"/>
            <a:ext cx="15191627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Uma tabela está na terceira forma normal quando: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Tabela está na 2FN;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possui dependências transitivas.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4E2FAF-1ACC-4786-B570-5490FA2D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756" y="7793743"/>
            <a:ext cx="6425729" cy="1938992"/>
          </a:xfrm>
          <a:prstGeom prst="rect">
            <a:avLst/>
          </a:prstGeom>
        </p:spPr>
      </p:pic>
      <p:sp>
        <p:nvSpPr>
          <p:cNvPr id="17" name="Text Box 158">
            <a:extLst>
              <a:ext uri="{FF2B5EF4-FFF2-40B4-BE49-F238E27FC236}">
                <a16:creationId xmlns:a16="http://schemas.microsoft.com/office/drawing/2014/main" id="{5DBC0A40-E1D3-4D0A-9C4C-931A0BBA3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419" y="6835547"/>
            <a:ext cx="2151062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EMPREGADO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69DB271-B792-4138-8048-B486EBF633C0}"/>
              </a:ext>
            </a:extLst>
          </p:cNvPr>
          <p:cNvCxnSpPr>
            <a:cxnSpLocks/>
          </p:cNvCxnSpPr>
          <p:nvPr/>
        </p:nvCxnSpPr>
        <p:spPr>
          <a:xfrm>
            <a:off x="7910694" y="9732735"/>
            <a:ext cx="0" cy="8953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1AF6CDC4-77C5-40B8-9720-7CB25B359329}"/>
              </a:ext>
            </a:extLst>
          </p:cNvPr>
          <p:cNvCxnSpPr>
            <a:cxnSpLocks/>
          </p:cNvCxnSpPr>
          <p:nvPr/>
        </p:nvCxnSpPr>
        <p:spPr>
          <a:xfrm flipH="1" flipV="1">
            <a:off x="8863194" y="9732735"/>
            <a:ext cx="6350" cy="8874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 Box 158">
            <a:extLst>
              <a:ext uri="{FF2B5EF4-FFF2-40B4-BE49-F238E27FC236}">
                <a16:creationId xmlns:a16="http://schemas.microsoft.com/office/drawing/2014/main" id="{6778EFBC-201A-45B4-94EA-DD10719DF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419" y="10782072"/>
            <a:ext cx="18510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Dependência</a:t>
            </a:r>
          </a:p>
          <a:p>
            <a:pPr eaLnBrk="1" hangingPunct="1"/>
            <a:r>
              <a:rPr lang="pt-BR" altLang="pt-BR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Transitiva</a:t>
            </a:r>
          </a:p>
        </p:txBody>
      </p:sp>
      <p:pic>
        <p:nvPicPr>
          <p:cNvPr id="21" name="Imagem 37">
            <a:extLst>
              <a:ext uri="{FF2B5EF4-FFF2-40B4-BE49-F238E27FC236}">
                <a16:creationId xmlns:a16="http://schemas.microsoft.com/office/drawing/2014/main" id="{BCE026A1-3768-46BD-925F-3C09A5384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844" y="7613422"/>
            <a:ext cx="8221662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6EAFA681-350D-404C-9247-F150970509AD}"/>
              </a:ext>
            </a:extLst>
          </p:cNvPr>
          <p:cNvCxnSpPr>
            <a:cxnSpLocks/>
          </p:cNvCxnSpPr>
          <p:nvPr/>
        </p:nvCxnSpPr>
        <p:spPr>
          <a:xfrm>
            <a:off x="7910694" y="10628085"/>
            <a:ext cx="952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58">
            <a:extLst>
              <a:ext uri="{FF2B5EF4-FFF2-40B4-BE49-F238E27FC236}">
                <a16:creationId xmlns:a16="http://schemas.microsoft.com/office/drawing/2014/main" id="{A35CD850-A11E-4766-982C-D8846D2AF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3452" y="6995502"/>
            <a:ext cx="1466940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FUNÇÃO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84E5D20D-2657-49A2-9D09-07EA0635CC41}"/>
              </a:ext>
            </a:extLst>
          </p:cNvPr>
          <p:cNvSpPr/>
          <p:nvPr/>
        </p:nvSpPr>
        <p:spPr>
          <a:xfrm>
            <a:off x="11312434" y="8412480"/>
            <a:ext cx="1619795" cy="7837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Text Box 158">
            <a:extLst>
              <a:ext uri="{FF2B5EF4-FFF2-40B4-BE49-F238E27FC236}">
                <a16:creationId xmlns:a16="http://schemas.microsoft.com/office/drawing/2014/main" id="{3E564E50-7C85-4DB2-A1FE-D9509B2FF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3888" y="7518722"/>
            <a:ext cx="2223429" cy="95410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Normalização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3FN</a:t>
            </a:r>
          </a:p>
        </p:txBody>
      </p:sp>
    </p:spTree>
    <p:extLst>
      <p:ext uri="{BB962C8B-B14F-4D97-AF65-F5344CB8AC3E}">
        <p14:creationId xmlns:p14="http://schemas.microsoft.com/office/powerpoint/2010/main" val="273003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3" grpId="0"/>
      <p:bldP spid="7" grpId="0" animBg="1"/>
      <p:bldP spid="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3a Forma Normal – </a:t>
            </a:r>
            <a:r>
              <a:rPr lang="en-US" sz="6000" dirty="0" err="1">
                <a:latin typeface="Tw Cen MT" panose="020B0602020104020603" pitchFamily="34" charset="77"/>
              </a:rPr>
              <a:t>Resultado</a:t>
            </a:r>
            <a:r>
              <a:rPr lang="en-US" sz="6000" dirty="0">
                <a:latin typeface="Tw Cen MT" panose="020B0602020104020603" pitchFamily="34" charset="77"/>
              </a:rPr>
              <a:t> da </a:t>
            </a:r>
            <a:r>
              <a:rPr lang="en-US" sz="6000" dirty="0" err="1">
                <a:latin typeface="Tw Cen MT" panose="020B0602020104020603" pitchFamily="34" charset="77"/>
              </a:rPr>
              <a:t>Conversão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pic>
        <p:nvPicPr>
          <p:cNvPr id="5" name="Imagem 1">
            <a:extLst>
              <a:ext uri="{FF2B5EF4-FFF2-40B4-BE49-F238E27FC236}">
                <a16:creationId xmlns:a16="http://schemas.microsoft.com/office/drawing/2014/main" id="{05CA545A-2758-4A11-9D9A-986FA4F00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86" y="3396690"/>
            <a:ext cx="13577519" cy="4013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1">
            <a:extLst>
              <a:ext uri="{FF2B5EF4-FFF2-40B4-BE49-F238E27FC236}">
                <a16:creationId xmlns:a16="http://schemas.microsoft.com/office/drawing/2014/main" id="{F7EE8BF4-E427-49FA-8556-11B559828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530" y="7433043"/>
            <a:ext cx="14094210" cy="614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2">
            <a:extLst>
              <a:ext uri="{FF2B5EF4-FFF2-40B4-BE49-F238E27FC236}">
                <a16:creationId xmlns:a16="http://schemas.microsoft.com/office/drawing/2014/main" id="{AA94E04B-D4D2-4FE3-A3AE-EA78496ED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79" y="2759866"/>
            <a:ext cx="17086263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Crie tabela(s) para eliminar as dependências funcionais transitivas </a:t>
            </a:r>
          </a:p>
          <a:p>
            <a:pPr lvl="1" eaLnBrk="1" hangingPunct="1">
              <a:lnSpc>
                <a:spcPct val="90000"/>
              </a:lnSpc>
            </a:pPr>
            <a:endParaRPr lang="pt-BR" altLang="pt-BR" sz="2000" dirty="0">
              <a:latin typeface="Times New Roman" panose="02020603050405020304" pitchFamily="18" charset="0"/>
            </a:endParaRPr>
          </a:p>
        </p:txBody>
      </p:sp>
      <p:sp>
        <p:nvSpPr>
          <p:cNvPr id="8" name="Seta: Curva para a Direita 7">
            <a:extLst>
              <a:ext uri="{FF2B5EF4-FFF2-40B4-BE49-F238E27FC236}">
                <a16:creationId xmlns:a16="http://schemas.microsoft.com/office/drawing/2014/main" id="{D1396CA0-1456-4D52-9ECB-D0DDF5EE7F14}"/>
              </a:ext>
            </a:extLst>
          </p:cNvPr>
          <p:cNvSpPr/>
          <p:nvPr/>
        </p:nvSpPr>
        <p:spPr>
          <a:xfrm>
            <a:off x="4187017" y="7883291"/>
            <a:ext cx="3086100" cy="487203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Text Box 158">
            <a:extLst>
              <a:ext uri="{FF2B5EF4-FFF2-40B4-BE49-F238E27FC236}">
                <a16:creationId xmlns:a16="http://schemas.microsoft.com/office/drawing/2014/main" id="{12BEC4B9-4D53-41D4-A88C-754998E4E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276" y="9493393"/>
            <a:ext cx="2223429" cy="95410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Normalização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3FN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CBA3FC5-C067-49B7-BA77-F5A43FD0C523}"/>
              </a:ext>
            </a:extLst>
          </p:cNvPr>
          <p:cNvSpPr/>
          <p:nvPr/>
        </p:nvSpPr>
        <p:spPr>
          <a:xfrm>
            <a:off x="6698512" y="3567570"/>
            <a:ext cx="3785190" cy="1812504"/>
          </a:xfrm>
          <a:prstGeom prst="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3D232CD-C763-460D-847B-31159C012FB6}"/>
              </a:ext>
            </a:extLst>
          </p:cNvPr>
          <p:cNvSpPr/>
          <p:nvPr/>
        </p:nvSpPr>
        <p:spPr>
          <a:xfrm>
            <a:off x="16824252" y="7163616"/>
            <a:ext cx="3785190" cy="1812504"/>
          </a:xfrm>
          <a:prstGeom prst="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06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Forma Normal Boyce-Codd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0AC0802-5A1B-49D6-BAC5-7596F58A9F6B}"/>
              </a:ext>
            </a:extLst>
          </p:cNvPr>
          <p:cNvSpPr/>
          <p:nvPr/>
        </p:nvSpPr>
        <p:spPr>
          <a:xfrm>
            <a:off x="489098" y="3776360"/>
            <a:ext cx="22945059" cy="952677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</a:p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FE502D3-DC5A-4D0B-904E-849F4810D31E}"/>
              </a:ext>
            </a:extLst>
          </p:cNvPr>
          <p:cNvSpPr/>
          <p:nvPr/>
        </p:nvSpPr>
        <p:spPr>
          <a:xfrm>
            <a:off x="967306" y="4121424"/>
            <a:ext cx="21761450" cy="30302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Todo determinante na tabela é uma chave candidata:  </a:t>
            </a:r>
          </a:p>
          <a:p>
            <a:pPr marL="1314450" lvl="1" indent="-8572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Determinante é a coluna cujo valor determina outros valores na tabela; </a:t>
            </a:r>
          </a:p>
          <a:p>
            <a:pPr marL="1314450" lvl="1" indent="-8572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Uma Tabela 3NF com uma chave candidata já está na BCNF.  </a:t>
            </a:r>
          </a:p>
        </p:txBody>
      </p:sp>
      <p:pic>
        <p:nvPicPr>
          <p:cNvPr id="6" name="Imagem 1">
            <a:extLst>
              <a:ext uri="{FF2B5EF4-FFF2-40B4-BE49-F238E27FC236}">
                <a16:creationId xmlns:a16="http://schemas.microsoft.com/office/drawing/2014/main" id="{551762B3-8E27-43BE-A9FB-E4748417C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6854" y="8024444"/>
            <a:ext cx="50800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58">
            <a:extLst>
              <a:ext uri="{FF2B5EF4-FFF2-40B4-BE49-F238E27FC236}">
                <a16:creationId xmlns:a16="http://schemas.microsoft.com/office/drawing/2014/main" id="{3E06D291-9C2D-4B95-B7D5-652D14D07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8141" y="8556256"/>
            <a:ext cx="1516063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PROJETO</a:t>
            </a:r>
          </a:p>
        </p:txBody>
      </p:sp>
      <p:pic>
        <p:nvPicPr>
          <p:cNvPr id="8" name="Imagem 21">
            <a:extLst>
              <a:ext uri="{FF2B5EF4-FFF2-40B4-BE49-F238E27FC236}">
                <a16:creationId xmlns:a16="http://schemas.microsoft.com/office/drawing/2014/main" id="{B07636D1-55B4-4D75-BC18-7DB2DA3C9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209" y="9230944"/>
            <a:ext cx="8035925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58">
            <a:extLst>
              <a:ext uri="{FF2B5EF4-FFF2-40B4-BE49-F238E27FC236}">
                <a16:creationId xmlns:a16="http://schemas.microsoft.com/office/drawing/2014/main" id="{424775A5-A30B-43EF-8079-F8D6C3BFF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1041" y="7181481"/>
            <a:ext cx="1516063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PROJETO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4E40E57B-6209-438B-BA17-E7F676FB76EB}"/>
              </a:ext>
            </a:extLst>
          </p:cNvPr>
          <p:cNvSpPr/>
          <p:nvPr/>
        </p:nvSpPr>
        <p:spPr>
          <a:xfrm>
            <a:off x="10981291" y="9500819"/>
            <a:ext cx="2382838" cy="10461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pic>
        <p:nvPicPr>
          <p:cNvPr id="13" name="Imagem 3">
            <a:extLst>
              <a:ext uri="{FF2B5EF4-FFF2-40B4-BE49-F238E27FC236}">
                <a16:creationId xmlns:a16="http://schemas.microsoft.com/office/drawing/2014/main" id="{902599E3-D793-46CF-8E1C-B3B7BC9BE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3316" y="11134356"/>
            <a:ext cx="6394450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158">
            <a:extLst>
              <a:ext uri="{FF2B5EF4-FFF2-40B4-BE49-F238E27FC236}">
                <a16:creationId xmlns:a16="http://schemas.microsoft.com/office/drawing/2014/main" id="{37782BC6-F866-4CCF-BA4B-01E581FA1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1041" y="10481894"/>
            <a:ext cx="2671763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DEPARTAMENTO</a:t>
            </a:r>
          </a:p>
        </p:txBody>
      </p:sp>
      <p:sp>
        <p:nvSpPr>
          <p:cNvPr id="15" name="Text Box 158">
            <a:extLst>
              <a:ext uri="{FF2B5EF4-FFF2-40B4-BE49-F238E27FC236}">
                <a16:creationId xmlns:a16="http://schemas.microsoft.com/office/drawing/2014/main" id="{93A2B494-FA3B-46B0-B0EE-7D5F113A3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3976" y="8919831"/>
            <a:ext cx="3715301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Normalização na BCNF</a:t>
            </a:r>
          </a:p>
        </p:txBody>
      </p:sp>
    </p:spTree>
    <p:extLst>
      <p:ext uri="{BB962C8B-B14F-4D97-AF65-F5344CB8AC3E}">
        <p14:creationId xmlns:p14="http://schemas.microsoft.com/office/powerpoint/2010/main" val="126897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 animBg="1"/>
      <p:bldP spid="14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Forma Normal Boyce-Codd - </a:t>
            </a:r>
            <a:r>
              <a:rPr lang="en-US" sz="6000" dirty="0" err="1">
                <a:latin typeface="Tw Cen MT" panose="020B0602020104020603" pitchFamily="34" charset="77"/>
              </a:rPr>
              <a:t>Conversão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pic>
        <p:nvPicPr>
          <p:cNvPr id="5" name="Imagem 1">
            <a:extLst>
              <a:ext uri="{FF2B5EF4-FFF2-40B4-BE49-F238E27FC236}">
                <a16:creationId xmlns:a16="http://schemas.microsoft.com/office/drawing/2014/main" id="{81FC9A60-C3B0-4968-B091-612DE455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9998" y="7982763"/>
            <a:ext cx="12740683" cy="5551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1">
            <a:extLst>
              <a:ext uri="{FF2B5EF4-FFF2-40B4-BE49-F238E27FC236}">
                <a16:creationId xmlns:a16="http://schemas.microsoft.com/office/drawing/2014/main" id="{FC024D45-26EC-423B-AAF2-B5726047D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82" y="2699409"/>
            <a:ext cx="12740682" cy="5552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620ACCE-2DCE-4BC8-8AB9-08130D585332}"/>
              </a:ext>
            </a:extLst>
          </p:cNvPr>
          <p:cNvSpPr/>
          <p:nvPr/>
        </p:nvSpPr>
        <p:spPr>
          <a:xfrm>
            <a:off x="210782" y="4569158"/>
            <a:ext cx="3785190" cy="1812504"/>
          </a:xfrm>
          <a:prstGeom prst="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85EE52D-4CBA-4E78-8D01-7BA142D14690}"/>
              </a:ext>
            </a:extLst>
          </p:cNvPr>
          <p:cNvSpPr/>
          <p:nvPr/>
        </p:nvSpPr>
        <p:spPr>
          <a:xfrm>
            <a:off x="11449998" y="8251412"/>
            <a:ext cx="3785190" cy="1241981"/>
          </a:xfrm>
          <a:prstGeom prst="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Curva para a Direita 8">
            <a:extLst>
              <a:ext uri="{FF2B5EF4-FFF2-40B4-BE49-F238E27FC236}">
                <a16:creationId xmlns:a16="http://schemas.microsoft.com/office/drawing/2014/main" id="{49E2D998-491F-4299-ACB1-273E5CA85D97}"/>
              </a:ext>
            </a:extLst>
          </p:cNvPr>
          <p:cNvSpPr/>
          <p:nvPr/>
        </p:nvSpPr>
        <p:spPr>
          <a:xfrm>
            <a:off x="4187017" y="7883291"/>
            <a:ext cx="3086100" cy="487203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Text Box 158">
            <a:extLst>
              <a:ext uri="{FF2B5EF4-FFF2-40B4-BE49-F238E27FC236}">
                <a16:creationId xmlns:a16="http://schemas.microsoft.com/office/drawing/2014/main" id="{B5EDE79D-8496-45BA-A9E2-5B0F1A497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276" y="9493393"/>
            <a:ext cx="2223429" cy="95410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Normalização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2800" dirty="0">
                <a:latin typeface="+mn-lt"/>
              </a:rPr>
              <a:t>BCNF</a:t>
            </a:r>
          </a:p>
        </p:txBody>
      </p:sp>
    </p:spTree>
    <p:extLst>
      <p:ext uri="{BB962C8B-B14F-4D97-AF65-F5344CB8AC3E}">
        <p14:creationId xmlns:p14="http://schemas.microsoft.com/office/powerpoint/2010/main" val="252032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4a Forma Normal</a:t>
            </a: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0AC0802-5A1B-49D6-BAC5-7596F58A9F6B}"/>
              </a:ext>
            </a:extLst>
          </p:cNvPr>
          <p:cNvSpPr/>
          <p:nvPr/>
        </p:nvSpPr>
        <p:spPr>
          <a:xfrm>
            <a:off x="728201" y="3584975"/>
            <a:ext cx="22945059" cy="952677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</a:p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9768C4-1A0B-2B19-4CDD-C0C748E98749}"/>
              </a:ext>
            </a:extLst>
          </p:cNvPr>
          <p:cNvSpPr txBox="1"/>
          <p:nvPr/>
        </p:nvSpPr>
        <p:spPr>
          <a:xfrm>
            <a:off x="2030689" y="4239544"/>
            <a:ext cx="19128101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 eaLnBrk="1" hangingPunct="1">
              <a:buFont typeface="Wingdings" panose="05000000000000000000" pitchFamily="2" charset="2"/>
              <a:buChar char="ü"/>
            </a:pP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Dependências Multivaloradas (MVD)</a:t>
            </a:r>
          </a:p>
          <a:p>
            <a:pPr eaLnBrk="1" hangingPunct="1">
              <a:buFontTx/>
              <a:buNone/>
            </a:pP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		</a:t>
            </a:r>
          </a:p>
          <a:p>
            <a:pPr eaLnBrk="1" hangingPunct="1">
              <a:buFontTx/>
              <a:buNone/>
            </a:pP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 </a:t>
            </a:r>
          </a:p>
          <a:p>
            <a:pPr eaLnBrk="1" hangingPunct="1">
              <a:buFontTx/>
              <a:buNone/>
            </a:pPr>
            <a:endParaRPr lang="pt-BR" altLang="en-GB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buFontTx/>
              <a:buNone/>
            </a:pPr>
            <a:endParaRPr lang="pt-BR" altLang="en-GB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buFontTx/>
              <a:buNone/>
            </a:pPr>
            <a:endParaRPr lang="pt-BR" altLang="en-GB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buFontTx/>
              <a:buNone/>
            </a:pP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Empregado —&gt;&gt; Habilidade		Empregado —&gt;&gt; Língua</a:t>
            </a:r>
          </a:p>
          <a:p>
            <a:pPr eaLnBrk="1" hangingPunct="1">
              <a:buFontTx/>
              <a:buNone/>
            </a:pPr>
            <a:endParaRPr lang="pt-BR" altLang="en-GB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eaLnBrk="1" hangingPunct="1">
              <a:buFont typeface="Arial" panose="020B0604020202020204" pitchFamily="34" charset="0"/>
              <a:buChar char="•"/>
            </a:pP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Uma tabela não pode conter </a:t>
            </a:r>
            <a:r>
              <a:rPr lang="pt-BR" altLang="en-GB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MVDs</a:t>
            </a: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independentes;</a:t>
            </a:r>
          </a:p>
          <a:p>
            <a:pPr marL="857250" indent="-857250" eaLnBrk="1" hangingPunct="1">
              <a:buFont typeface="Arial" panose="020B0604020202020204" pitchFamily="34" charset="0"/>
              <a:buChar char="•"/>
            </a:pP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MVD A —&gt;&gt; B é trivial se: </a:t>
            </a:r>
          </a:p>
          <a:p>
            <a:pPr marL="1314450" lvl="1" indent="-857250">
              <a:buFont typeface="Wingdings" panose="05000000000000000000" pitchFamily="2" charset="2"/>
              <a:buChar char="§"/>
            </a:pP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B é um subconjunto de A ou </a:t>
            </a:r>
          </a:p>
          <a:p>
            <a:pPr marL="1314450" lvl="1" indent="-857250">
              <a:buFont typeface="Wingdings" panose="05000000000000000000" pitchFamily="2" charset="2"/>
              <a:buChar char="§"/>
            </a:pP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a união de A e B é a relação; caso contrário é não-trivial.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66FC7CD7-1C52-1C06-9118-B1D87F272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773" y="5375311"/>
            <a:ext cx="7424646" cy="224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9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9457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5. </a:t>
            </a:r>
            <a:r>
              <a:rPr lang="en-US" sz="6600" dirty="0" err="1">
                <a:latin typeface="Tw Cen MT" panose="020B0602020104020603" pitchFamily="34" charset="77"/>
              </a:rPr>
              <a:t>Normalização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4a Forma Normal - </a:t>
            </a:r>
            <a:r>
              <a:rPr lang="en-US" sz="6000" dirty="0" err="1">
                <a:latin typeface="Tw Cen MT" panose="020B0602020104020603" pitchFamily="34" charset="77"/>
              </a:rPr>
              <a:t>Conversão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0AC0802-5A1B-49D6-BAC5-7596F58A9F6B}"/>
              </a:ext>
            </a:extLst>
          </p:cNvPr>
          <p:cNvSpPr/>
          <p:nvPr/>
        </p:nvSpPr>
        <p:spPr>
          <a:xfrm>
            <a:off x="728201" y="3606240"/>
            <a:ext cx="22945059" cy="952677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1" hangingPunct="1">
              <a:lnSpc>
                <a:spcPct val="150000"/>
              </a:lnSpc>
            </a:pPr>
            <a:r>
              <a:rPr lang="pt-BR" altLang="pt-BR" sz="72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</a:p>
          <a:p>
            <a:pPr indent="-571500" algn="just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9768C4-1A0B-2B19-4CDD-C0C748E98749}"/>
              </a:ext>
            </a:extLst>
          </p:cNvPr>
          <p:cNvSpPr txBox="1"/>
          <p:nvPr/>
        </p:nvSpPr>
        <p:spPr>
          <a:xfrm>
            <a:off x="2030689" y="4239544"/>
            <a:ext cx="1912810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endParaRPr lang="pt-BR" altLang="en-GB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relação está na 4FN se está na BCNF e não contém MVD não trivial;</a:t>
            </a:r>
          </a:p>
          <a:p>
            <a:endParaRPr lang="pt-BR" altLang="en-GB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altLang="en-GB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Isto significa decompor a relação em:</a:t>
            </a:r>
          </a:p>
          <a:p>
            <a:endParaRPr lang="pt-BR" altLang="en-GB" sz="66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r>
              <a:rPr lang="pt-BR" altLang="en-GB" sz="66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</a:t>
            </a:r>
            <a:endParaRPr lang="pt-BR" altLang="en-GB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02E4BBA-0623-6722-50C4-EDCF5FE27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590" y="7296164"/>
            <a:ext cx="5058805" cy="173166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ECEA14C-7464-0FB9-D42A-822855DD7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7509" y="10357330"/>
            <a:ext cx="3842966" cy="196515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C228986-74BB-85D3-AF35-CDFC38ABD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059" y="8369626"/>
            <a:ext cx="6771492" cy="2046214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2DD0C30E-59B3-8653-A9D7-ED62132C7BC7}"/>
              </a:ext>
            </a:extLst>
          </p:cNvPr>
          <p:cNvSpPr/>
          <p:nvPr/>
        </p:nvSpPr>
        <p:spPr>
          <a:xfrm>
            <a:off x="11754921" y="8738623"/>
            <a:ext cx="1750423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08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9" y="3274828"/>
            <a:ext cx="23139580" cy="1016812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FAB442-C5AB-4808-8A75-65F00EF1404A}"/>
              </a:ext>
            </a:extLst>
          </p:cNvPr>
          <p:cNvSpPr txBox="1">
            <a:spLocks/>
          </p:cNvSpPr>
          <p:nvPr/>
        </p:nvSpPr>
        <p:spPr>
          <a:xfrm>
            <a:off x="252049" y="1351355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6. </a:t>
            </a:r>
            <a:r>
              <a:rPr lang="en-US" sz="6600" dirty="0" err="1">
                <a:latin typeface="Tw Cen MT" panose="020B0602020104020603" pitchFamily="34" charset="77"/>
              </a:rPr>
              <a:t>Atividade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Prática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8206B9-F414-4B11-92CF-2E3202E6619A}"/>
              </a:ext>
            </a:extLst>
          </p:cNvPr>
          <p:cNvSpPr txBox="1"/>
          <p:nvPr/>
        </p:nvSpPr>
        <p:spPr>
          <a:xfrm>
            <a:off x="817912" y="4183376"/>
            <a:ext cx="22105347" cy="9217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Caixa deseja criar um programa de Ação Social chamado </a:t>
            </a:r>
            <a:r>
              <a:rPr lang="pt-BR" sz="44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DoaR</a:t>
            </a:r>
            <a:r>
              <a:rPr lang="pt-BR" sz="4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. Esse programa contará com empresas parceiras para fornecer alimentos não perecíveis às instituições beneficentes.  </a:t>
            </a:r>
          </a:p>
          <a:p>
            <a:pPr marL="571500" indent="-571500" algn="just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Após o cadastro do doador, será criada uma conta de crédito de pontuação que poderá ser convertida em benefícios tarifários em suas aplicações financeiras. O doador deverá informar os alimentos disponíveis para a doação e a suas quantidades. </a:t>
            </a:r>
          </a:p>
          <a:p>
            <a:pPr marL="571500" indent="-571500" algn="just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sistema fará o “match” entre os doadores com os receptores a partir da localização das empresas em relação ao receptor. As empresas doadoras serão apresentadas de forma ordenada em relação a proximidade ao receptor. A entrega ou retirada dos alimentos será combinada entre as partes envolvidas após a solicitação dos alimentos. </a:t>
            </a:r>
          </a:p>
          <a:p>
            <a:pPr marL="571500" indent="-571500" algn="just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receptor escolherá um ou mais alimentos que necessita, informando a quantidade de cada um. Essa solicitação será encaminhada à empresa selecionada pelo receptor, se configurando como um pedido. A empresa doadora avaliará o pedido e poderá aceitar ou recusar (a empresa deverá colocar uma justificativa). Quando o pedido for aceito (match), será associada à conta de crédito da empresa a quantidade de pontos totais referente ao pedido.</a:t>
            </a:r>
          </a:p>
          <a:p>
            <a:pPr marL="571500" indent="-571500" algn="just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As empresas doadoras acumularão pontos ao longo do tempo e poderão solicitar a sua conversão em benefícios.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3EC045-0017-47D4-AA79-14ED6218C450}"/>
              </a:ext>
            </a:extLst>
          </p:cNvPr>
          <p:cNvSpPr txBox="1"/>
          <p:nvPr/>
        </p:nvSpPr>
        <p:spPr>
          <a:xfrm>
            <a:off x="1009834" y="3250087"/>
            <a:ext cx="2175501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1143000" indent="-1143000" algn="just">
              <a:buFont typeface="Wingdings" panose="05000000000000000000" pitchFamily="2" charset="2"/>
              <a:buChar char="ü"/>
            </a:pPr>
            <a:r>
              <a:rPr lang="pt-BR" sz="7200" dirty="0"/>
              <a:t>Aplicar até a  BCFN no Modelo de Dados Físico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046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BFAD22F-3A13-4F16-94D2-B685C3DD1F83}"/>
              </a:ext>
            </a:extLst>
          </p:cNvPr>
          <p:cNvSpPr txBox="1"/>
          <p:nvPr/>
        </p:nvSpPr>
        <p:spPr>
          <a:xfrm>
            <a:off x="1780419" y="3745192"/>
            <a:ext cx="22621044" cy="622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COUGO, Paulo. Modelagem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Conceitual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e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Projeto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de Banco de Dados.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Editora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Campus, 1997.</a:t>
            </a:r>
          </a:p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HEUSER, Carlos Alberto.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Projeto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de Banco de Dados.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Editora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Sagra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Luzzato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, 4o ed, 1998.</a:t>
            </a:r>
          </a:p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KENT, William. A simple guide to five normal forms in Relational Database Theory. Computing Practices, v. 26, n. 2,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feb.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1983.</a:t>
            </a:r>
          </a:p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MARQUES, Eduardo.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Normalização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de Bases de Dados.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CXJJOW+AmericanTypewriter-Bold"/>
              </a:rPr>
              <a:t> </a:t>
            </a:r>
            <a:r>
              <a:rPr 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</a:rPr>
              <a:t>Departamento de Ciência de Computadores Faculdade de Ciências da Universidade do Porto.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925FD5-E27F-4934-83F5-E2F9CF3DE261}"/>
              </a:ext>
            </a:extLst>
          </p:cNvPr>
          <p:cNvSpPr txBox="1">
            <a:spLocks/>
          </p:cNvSpPr>
          <p:nvPr/>
        </p:nvSpPr>
        <p:spPr>
          <a:xfrm>
            <a:off x="2356971" y="825727"/>
            <a:ext cx="10652508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11500" dirty="0" err="1">
                <a:latin typeface="Tw Cen MT" panose="020B0602020104020603" pitchFamily="34" charset="77"/>
              </a:rPr>
              <a:t>Referências</a:t>
            </a:r>
            <a:endParaRPr lang="en-US" sz="11500" dirty="0">
              <a:latin typeface="Tw Cen MT" panose="020B0602020104020603" pitchFamily="34" charset="77"/>
            </a:endParaRP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6140F495-DFA0-44D4-8DB0-CAFD6EFC1778}"/>
              </a:ext>
            </a:extLst>
          </p:cNvPr>
          <p:cNvSpPr/>
          <p:nvPr/>
        </p:nvSpPr>
        <p:spPr>
          <a:xfrm rot="10800000" flipH="1" flipV="1">
            <a:off x="1762611" y="539977"/>
            <a:ext cx="594360" cy="5715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960120 w 1828800"/>
              <a:gd name="connsiteY2" fmla="*/ 86868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960120" y="86868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F39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1">
            <a:extLst>
              <a:ext uri="{FF2B5EF4-FFF2-40B4-BE49-F238E27FC236}">
                <a16:creationId xmlns:a16="http://schemas.microsoft.com/office/drawing/2014/main" id="{42811F47-B96A-9771-9D47-579E4A38159F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chemeClr val="bg1"/>
                </a:solidFill>
                <a:latin typeface="Tw Cen MT" panose="020B0602020104020603" pitchFamily="34" charset="77"/>
              </a:rPr>
              <a:pPr algn="r"/>
              <a:t>39</a:t>
            </a:fld>
            <a:endParaRPr lang="pt-BR" sz="2400" b="1" dirty="0"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9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7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77fd98c-c5fb-469f-a158-fce67a587d84" xsi:nil="true"/>
    <lcf76f155ced4ddcb4097134ff3c332f xmlns="bf4fc3f6-0c1b-47c4-8bf5-df647c636b8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A941604F0C5344F889EBBA1629AC9A1" ma:contentTypeVersion="16" ma:contentTypeDescription="Crie um novo documento." ma:contentTypeScope="" ma:versionID="23f35a93249b12374fed1ab184d4f870">
  <xsd:schema xmlns:xsd="http://www.w3.org/2001/XMLSchema" xmlns:xs="http://www.w3.org/2001/XMLSchema" xmlns:p="http://schemas.microsoft.com/office/2006/metadata/properties" xmlns:ns1="http://schemas.microsoft.com/sharepoint/v3" xmlns:ns2="bf4fc3f6-0c1b-47c4-8bf5-df647c636b89" xmlns:ns3="f77fd98c-c5fb-469f-a158-fce67a587d84" targetNamespace="http://schemas.microsoft.com/office/2006/metadata/properties" ma:root="true" ma:fieldsID="4bc8c65c11f015b83445705dcdf87ed7" ns1:_="" ns2:_="" ns3:_="">
    <xsd:import namespace="http://schemas.microsoft.com/sharepoint/v3"/>
    <xsd:import namespace="bf4fc3f6-0c1b-47c4-8bf5-df647c636b89"/>
    <xsd:import namespace="f77fd98c-c5fb-469f-a158-fce67a587d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4fc3f6-0c1b-47c4-8bf5-df647c636b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4faff722-0fb5-4c44-9338-8716c18793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7fd98c-c5fb-469f-a158-fce67a587d8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a85e1ae-6a74-4b38-bf72-19f904de8927}" ma:internalName="TaxCatchAll" ma:showField="CatchAllData" ma:web="f77fd98c-c5fb-469f-a158-fce67a587d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96E293-07A6-484F-9CBC-8DA2FADFA4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2706EA-CCDB-4FE1-B6C1-916ABD3FE7D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ba8c0245-d078-4141-9bf7-4ae90b7d83b9"/>
    <ds:schemaRef ds:uri="38c6ac97-d8d1-48aa-bd5b-1146f9c5bcc7"/>
    <ds:schemaRef ds:uri="225b382f-f8f1-42be-8a6d-2107438eb1aa"/>
    <ds:schemaRef ds:uri="eb890c79-d082-486e-aff5-151cd25642f8"/>
  </ds:schemaRefs>
</ds:datastoreItem>
</file>

<file path=customXml/itemProps3.xml><?xml version="1.0" encoding="utf-8"?>
<ds:datastoreItem xmlns:ds="http://schemas.openxmlformats.org/officeDocument/2006/customXml" ds:itemID="{92E10C4B-E0F5-4991-A226-B3CBAE021A7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5326</TotalTime>
  <Words>1979</Words>
  <Application>Microsoft Office PowerPoint</Application>
  <PresentationFormat>Personalizar</PresentationFormat>
  <Paragraphs>355</Paragraphs>
  <Slides>40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50" baseType="lpstr">
      <vt:lpstr>Arial</vt:lpstr>
      <vt:lpstr>Calibri</vt:lpstr>
      <vt:lpstr>Calibri Light</vt:lpstr>
      <vt:lpstr>CXJJOW+AmericanTypewriter-Bold</vt:lpstr>
      <vt:lpstr>Tahoma</vt:lpstr>
      <vt:lpstr>Times New Roman</vt:lpstr>
      <vt:lpstr>Tw Cen MT</vt:lpstr>
      <vt:lpstr>Wingdings</vt:lpstr>
      <vt:lpstr>Tema do Office</vt:lpstr>
      <vt:lpstr>Visio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Miranda Cruz</dc:creator>
  <cp:lastModifiedBy>Tatiana Stofella Sodre Rossini</cp:lastModifiedBy>
  <cp:revision>369</cp:revision>
  <dcterms:created xsi:type="dcterms:W3CDTF">2021-03-24T14:10:38Z</dcterms:created>
  <dcterms:modified xsi:type="dcterms:W3CDTF">2023-08-21T19:22:41Z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0x010100DA941604F0C5344F889EBBA1629AC9A1</vt:lpwstr>
  </property>
  <property fmtid="{D5CDD505-2E9C-101B-9397-08002B2CF9AE}" pid="3" name="MediaServiceImageTags">
    <vt:lpwstr/>
  </property>
  <property fmtid="{D5CDD505-2E9C-101B-9397-08002B2CF9AE}" pid="4" name="MSIP_Label_fde7aacd-7cc4-4c31-9e6f-7ef306428f09_Enabled">
    <vt:lpwstr>true</vt:lpwstr>
  </property>
  <property fmtid="{D5CDD505-2E9C-101B-9397-08002B2CF9AE}" pid="5" name="MSIP_Label_fde7aacd-7cc4-4c31-9e6f-7ef306428f09_SetDate">
    <vt:lpwstr>2023-05-31T13:48:36Z</vt:lpwstr>
  </property>
  <property fmtid="{D5CDD505-2E9C-101B-9397-08002B2CF9AE}" pid="6" name="MSIP_Label_fde7aacd-7cc4-4c31-9e6f-7ef306428f09_Method">
    <vt:lpwstr>Privileged</vt:lpwstr>
  </property>
  <property fmtid="{D5CDD505-2E9C-101B-9397-08002B2CF9AE}" pid="7" name="MSIP_Label_fde7aacd-7cc4-4c31-9e6f-7ef306428f09_Name">
    <vt:lpwstr>_PUBLICO</vt:lpwstr>
  </property>
  <property fmtid="{D5CDD505-2E9C-101B-9397-08002B2CF9AE}" pid="8" name="MSIP_Label_fde7aacd-7cc4-4c31-9e6f-7ef306428f09_SiteId">
    <vt:lpwstr>ab9bba98-684a-43fb-add8-9c2bebede229</vt:lpwstr>
  </property>
  <property fmtid="{D5CDD505-2E9C-101B-9397-08002B2CF9AE}" pid="9" name="MSIP_Label_fde7aacd-7cc4-4c31-9e6f-7ef306428f09_ActionId">
    <vt:lpwstr>2348412a-e0a8-4cc3-a230-3b788a908930</vt:lpwstr>
  </property>
  <property fmtid="{D5CDD505-2E9C-101B-9397-08002B2CF9AE}" pid="10" name="MSIP_Label_fde7aacd-7cc4-4c31-9e6f-7ef306428f09_ContentBits">
    <vt:lpwstr>1</vt:lpwstr>
  </property>
</Properties>
</file>