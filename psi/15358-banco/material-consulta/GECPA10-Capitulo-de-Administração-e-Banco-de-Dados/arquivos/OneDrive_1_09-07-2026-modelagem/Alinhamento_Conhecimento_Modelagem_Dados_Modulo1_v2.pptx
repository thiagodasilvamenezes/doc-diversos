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0"/>
  </p:notesMasterIdLst>
  <p:sldIdLst>
    <p:sldId id="256" r:id="rId5"/>
    <p:sldId id="269" r:id="rId6"/>
    <p:sldId id="358" r:id="rId7"/>
    <p:sldId id="360" r:id="rId8"/>
    <p:sldId id="359" r:id="rId9"/>
    <p:sldId id="361" r:id="rId10"/>
    <p:sldId id="362" r:id="rId11"/>
    <p:sldId id="364" r:id="rId12"/>
    <p:sldId id="365" r:id="rId13"/>
    <p:sldId id="367" r:id="rId14"/>
    <p:sldId id="381" r:id="rId15"/>
    <p:sldId id="368" r:id="rId16"/>
    <p:sldId id="363" r:id="rId17"/>
    <p:sldId id="468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405" r:id="rId28"/>
    <p:sldId id="379" r:id="rId29"/>
    <p:sldId id="466" r:id="rId30"/>
    <p:sldId id="382" r:id="rId31"/>
    <p:sldId id="383" r:id="rId32"/>
    <p:sldId id="467" r:id="rId33"/>
    <p:sldId id="387" r:id="rId34"/>
    <p:sldId id="384" r:id="rId35"/>
    <p:sldId id="385" r:id="rId36"/>
    <p:sldId id="386" r:id="rId37"/>
    <p:sldId id="388" r:id="rId38"/>
    <p:sldId id="389" r:id="rId39"/>
    <p:sldId id="390" r:id="rId40"/>
    <p:sldId id="391" r:id="rId41"/>
    <p:sldId id="392" r:id="rId42"/>
    <p:sldId id="393" r:id="rId43"/>
    <p:sldId id="394" r:id="rId44"/>
    <p:sldId id="395" r:id="rId45"/>
    <p:sldId id="396" r:id="rId46"/>
    <p:sldId id="397" r:id="rId47"/>
    <p:sldId id="398" r:id="rId48"/>
    <p:sldId id="399" r:id="rId49"/>
    <p:sldId id="400" r:id="rId50"/>
    <p:sldId id="401" r:id="rId51"/>
    <p:sldId id="402" r:id="rId52"/>
    <p:sldId id="406" r:id="rId53"/>
    <p:sldId id="407" r:id="rId54"/>
    <p:sldId id="408" r:id="rId55"/>
    <p:sldId id="409" r:id="rId56"/>
    <p:sldId id="410" r:id="rId57"/>
    <p:sldId id="411" r:id="rId58"/>
    <p:sldId id="412" r:id="rId59"/>
    <p:sldId id="413" r:id="rId60"/>
    <p:sldId id="414" r:id="rId61"/>
    <p:sldId id="415" r:id="rId62"/>
    <p:sldId id="416" r:id="rId63"/>
    <p:sldId id="465" r:id="rId64"/>
    <p:sldId id="417" r:id="rId65"/>
    <p:sldId id="403" r:id="rId66"/>
    <p:sldId id="419" r:id="rId67"/>
    <p:sldId id="290" r:id="rId68"/>
    <p:sldId id="278" r:id="rId69"/>
  </p:sldIdLst>
  <p:sldSz cx="2440146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4B0"/>
    <a:srgbClr val="80A6C7"/>
    <a:srgbClr val="005CA9"/>
    <a:srgbClr val="00B5E5"/>
    <a:srgbClr val="54BBAB"/>
    <a:srgbClr val="D0E0E3"/>
    <a:srgbClr val="F39200"/>
    <a:srgbClr val="A6B9C2"/>
    <a:srgbClr val="80A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51" autoAdjust="0"/>
    <p:restoredTop sz="94660"/>
  </p:normalViewPr>
  <p:slideViewPr>
    <p:cSldViewPr snapToGrid="0">
      <p:cViewPr varScale="1">
        <p:scale>
          <a:sx n="44" d="100"/>
          <a:sy n="44" d="100"/>
        </p:scale>
        <p:origin x="3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9DCD9-A2C4-46FA-AE68-9B87F0F9C80F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32FFA-7D3E-4D52-B730-07D087FA3A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3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1pPr>
    <a:lvl2pPr marL="914811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2pPr>
    <a:lvl3pPr marL="1829623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3pPr>
    <a:lvl4pPr marL="2744434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4pPr>
    <a:lvl5pPr marL="3659246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5pPr>
    <a:lvl6pPr marL="4574057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6pPr>
    <a:lvl7pPr marL="5488869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7pPr>
    <a:lvl8pPr marL="6403680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8pPr>
    <a:lvl9pPr marL="7318492" algn="l" defTabSz="1829623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DA8F9A7-C5FA-4A61-8E3F-A7A7B01255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612"/>
            <a:ext cx="24401462" cy="1371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79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60"/>
            <a:ext cx="24401462" cy="253917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6963AC1-1D44-4DC4-B0D4-323B6DE85F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6420" y="5193"/>
            <a:ext cx="2511397" cy="280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8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60"/>
            <a:ext cx="24401462" cy="2537853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342A9502-7092-3666-2996-E143956BB0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6420" y="5193"/>
            <a:ext cx="2511397" cy="280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40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7" y="660"/>
            <a:ext cx="24388767" cy="2537853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3FB3C01-75D0-CF13-B8DD-D35F329894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56420" y="5193"/>
            <a:ext cx="2511397" cy="280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1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8" y="11179355"/>
            <a:ext cx="24388767" cy="253785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6F00D67-C207-53B8-F63D-16BD667160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28" y="10879501"/>
            <a:ext cx="2511397" cy="2801777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34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8" y="11180015"/>
            <a:ext cx="24388767" cy="25365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94B833-8411-F8C0-2717-72C337940E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28" y="10879501"/>
            <a:ext cx="2511397" cy="2801777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2574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AA6363-729E-478B-8718-70DC47935F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48" y="11179355"/>
            <a:ext cx="24388767" cy="253785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0121B80-92DA-ADF3-04C1-BD9576BD6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28" y="10879501"/>
            <a:ext cx="2511397" cy="2801777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4976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23D758F-6212-4DCE-B98C-5F9E7F535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24401463" cy="1094292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C35074B-7650-415D-9FF2-950A2C3B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03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6DA843B-FA98-4943-B264-124A01E7E3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621707"/>
            <a:ext cx="24401463" cy="1094292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C6355D2-56A6-4180-A696-38D4FBB9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34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B4A8950-93FA-498F-9EDA-9E2183B0AC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5" y="0"/>
            <a:ext cx="8138106" cy="1372432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DC8921E-936F-028C-AC58-8496013A7C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476" y="4873"/>
            <a:ext cx="2356483" cy="2628951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2389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C4D70FF-CEBF-4F5C-BB84-607848F67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02986" y="0"/>
            <a:ext cx="8133169" cy="13716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11B1A55-F3C8-B7A3-9269-EA95B7CD20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95436" y="4873"/>
            <a:ext cx="2356483" cy="2628951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3430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D55D59-0147-49E5-9BE3-930CFC39D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2396" y="0"/>
            <a:ext cx="1103877" cy="13716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9892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D55D59-0147-49E5-9BE3-930CFC39D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2396" y="3"/>
            <a:ext cx="1103877" cy="1371599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646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D55D59-0147-49E5-9BE3-930CFC39D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8740" y="3"/>
            <a:ext cx="1091189" cy="1371599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36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DAF63FB-4D16-44BD-AA7F-CCF8617E13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211" y="0"/>
            <a:ext cx="1103877" cy="137160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A16187-02E0-430F-A19C-18569A45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28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1666C79-47D9-4118-9078-C4B01D82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593" y="3"/>
            <a:ext cx="1103877" cy="137159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3FC4-EF8D-4893-9422-5A1510C3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238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1666C79-47D9-4118-9078-C4B01D82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0031" y="3"/>
            <a:ext cx="1091189" cy="137159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3FC4-EF8D-4893-9422-5A1510C3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9133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BDCC96C-705A-45A8-8590-B3B925CA7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4" y="1"/>
            <a:ext cx="24441486" cy="13746746"/>
          </a:xfrm>
          <a:prstGeom prst="rect">
            <a:avLst/>
          </a:prstGeom>
        </p:spPr>
      </p:pic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3C5CE4CA-976E-453F-AE6C-6B6C27DD96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824" y="643707"/>
            <a:ext cx="9273282" cy="125595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>
              <a:defRPr sz="3600"/>
            </a:lvl1pPr>
          </a:lstStyle>
          <a:p>
            <a:endParaRPr lang="pt-B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BCACC6F-9D8A-416F-9C22-4FFA4BE7C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493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146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15048E0-D0F0-4546-899C-F7D728CA87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2302" y="-56317"/>
            <a:ext cx="24607193" cy="13839945"/>
          </a:xfrm>
          <a:prstGeom prst="rect">
            <a:avLst/>
          </a:prstGeom>
        </p:spPr>
      </p:pic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4FD83E0A-9CFA-43AF-BEDC-F96F0BE841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4694" y="-2106934"/>
            <a:ext cx="27546300" cy="19994563"/>
          </a:xfrm>
          <a:custGeom>
            <a:avLst/>
            <a:gdLst>
              <a:gd name="connsiteX0" fmla="*/ 0 w 8039100"/>
              <a:gd name="connsiteY0" fmla="*/ 0 h 3725863"/>
              <a:gd name="connsiteX1" fmla="*/ 8039100 w 8039100"/>
              <a:gd name="connsiteY1" fmla="*/ 0 h 3725863"/>
              <a:gd name="connsiteX2" fmla="*/ 8039100 w 8039100"/>
              <a:gd name="connsiteY2" fmla="*/ 3725863 h 3725863"/>
              <a:gd name="connsiteX3" fmla="*/ 0 w 8039100"/>
              <a:gd name="connsiteY3" fmla="*/ 3725863 h 3725863"/>
              <a:gd name="connsiteX4" fmla="*/ 0 w 8039100"/>
              <a:gd name="connsiteY4" fmla="*/ 0 h 3725863"/>
              <a:gd name="connsiteX0" fmla="*/ 0 w 16649700"/>
              <a:gd name="connsiteY0" fmla="*/ 16268700 h 19994563"/>
              <a:gd name="connsiteX1" fmla="*/ 16649700 w 16649700"/>
              <a:gd name="connsiteY1" fmla="*/ 0 h 19994563"/>
              <a:gd name="connsiteX2" fmla="*/ 8039100 w 16649700"/>
              <a:gd name="connsiteY2" fmla="*/ 19994563 h 19994563"/>
              <a:gd name="connsiteX3" fmla="*/ 0 w 16649700"/>
              <a:gd name="connsiteY3" fmla="*/ 19994563 h 19994563"/>
              <a:gd name="connsiteX4" fmla="*/ 0 w 16649700"/>
              <a:gd name="connsiteY4" fmla="*/ 16268700 h 19994563"/>
              <a:gd name="connsiteX0" fmla="*/ 0 w 16649700"/>
              <a:gd name="connsiteY0" fmla="*/ 16268700 h 19994563"/>
              <a:gd name="connsiteX1" fmla="*/ 16649700 w 16649700"/>
              <a:gd name="connsiteY1" fmla="*/ 0 h 19994563"/>
              <a:gd name="connsiteX2" fmla="*/ 8039100 w 16649700"/>
              <a:gd name="connsiteY2" fmla="*/ 19994563 h 19994563"/>
              <a:gd name="connsiteX3" fmla="*/ 8077200 w 16649700"/>
              <a:gd name="connsiteY3" fmla="*/ 19919950 h 19994563"/>
              <a:gd name="connsiteX4" fmla="*/ 0 w 16649700"/>
              <a:gd name="connsiteY4" fmla="*/ 19994563 h 19994563"/>
              <a:gd name="connsiteX5" fmla="*/ 0 w 16649700"/>
              <a:gd name="connsiteY5" fmla="*/ 16268700 h 19994563"/>
              <a:gd name="connsiteX0" fmla="*/ 0 w 16649700"/>
              <a:gd name="connsiteY0" fmla="*/ 16268700 h 20872450"/>
              <a:gd name="connsiteX1" fmla="*/ 16649700 w 16649700"/>
              <a:gd name="connsiteY1" fmla="*/ 0 h 20872450"/>
              <a:gd name="connsiteX2" fmla="*/ 8039100 w 16649700"/>
              <a:gd name="connsiteY2" fmla="*/ 19994563 h 20872450"/>
              <a:gd name="connsiteX3" fmla="*/ 5981700 w 16649700"/>
              <a:gd name="connsiteY3" fmla="*/ 20872450 h 20872450"/>
              <a:gd name="connsiteX4" fmla="*/ 0 w 16649700"/>
              <a:gd name="connsiteY4" fmla="*/ 19994563 h 20872450"/>
              <a:gd name="connsiteX5" fmla="*/ 0 w 16649700"/>
              <a:gd name="connsiteY5" fmla="*/ 16268700 h 20872450"/>
              <a:gd name="connsiteX0" fmla="*/ 0 w 27546300"/>
              <a:gd name="connsiteY0" fmla="*/ 16268700 h 20872450"/>
              <a:gd name="connsiteX1" fmla="*/ 16649700 w 27546300"/>
              <a:gd name="connsiteY1" fmla="*/ 0 h 20872450"/>
              <a:gd name="connsiteX2" fmla="*/ 27546300 w 27546300"/>
              <a:gd name="connsiteY2" fmla="*/ 182564 h 20872450"/>
              <a:gd name="connsiteX3" fmla="*/ 5981700 w 27546300"/>
              <a:gd name="connsiteY3" fmla="*/ 20872450 h 20872450"/>
              <a:gd name="connsiteX4" fmla="*/ 0 w 27546300"/>
              <a:gd name="connsiteY4" fmla="*/ 19994563 h 20872450"/>
              <a:gd name="connsiteX5" fmla="*/ 0 w 27546300"/>
              <a:gd name="connsiteY5" fmla="*/ 16268700 h 20872450"/>
              <a:gd name="connsiteX0" fmla="*/ 0 w 27546300"/>
              <a:gd name="connsiteY0" fmla="*/ 16268700 h 20872450"/>
              <a:gd name="connsiteX1" fmla="*/ 16649700 w 27546300"/>
              <a:gd name="connsiteY1" fmla="*/ 0 h 20872450"/>
              <a:gd name="connsiteX2" fmla="*/ 27546300 w 27546300"/>
              <a:gd name="connsiteY2" fmla="*/ 182564 h 20872450"/>
              <a:gd name="connsiteX3" fmla="*/ 27279600 w 27546300"/>
              <a:gd name="connsiteY3" fmla="*/ 488949 h 20872450"/>
              <a:gd name="connsiteX4" fmla="*/ 5981700 w 27546300"/>
              <a:gd name="connsiteY4" fmla="*/ 20872450 h 20872450"/>
              <a:gd name="connsiteX5" fmla="*/ 0 w 27546300"/>
              <a:gd name="connsiteY5" fmla="*/ 19994563 h 20872450"/>
              <a:gd name="connsiteX6" fmla="*/ 0 w 27546300"/>
              <a:gd name="connsiteY6" fmla="*/ 16268700 h 20872450"/>
              <a:gd name="connsiteX0" fmla="*/ 0 w 27546300"/>
              <a:gd name="connsiteY0" fmla="*/ 16268700 h 20872450"/>
              <a:gd name="connsiteX1" fmla="*/ 16649700 w 27546300"/>
              <a:gd name="connsiteY1" fmla="*/ 0 h 20872450"/>
              <a:gd name="connsiteX2" fmla="*/ 27546300 w 27546300"/>
              <a:gd name="connsiteY2" fmla="*/ 182564 h 20872450"/>
              <a:gd name="connsiteX3" fmla="*/ 27393900 w 27546300"/>
              <a:gd name="connsiteY3" fmla="*/ 603249 h 20872450"/>
              <a:gd name="connsiteX4" fmla="*/ 5981700 w 27546300"/>
              <a:gd name="connsiteY4" fmla="*/ 20872450 h 20872450"/>
              <a:gd name="connsiteX5" fmla="*/ 0 w 27546300"/>
              <a:gd name="connsiteY5" fmla="*/ 19994563 h 20872450"/>
              <a:gd name="connsiteX6" fmla="*/ 0 w 27546300"/>
              <a:gd name="connsiteY6" fmla="*/ 16268700 h 20872450"/>
              <a:gd name="connsiteX0" fmla="*/ 0 w 27546300"/>
              <a:gd name="connsiteY0" fmla="*/ 16268700 h 19994563"/>
              <a:gd name="connsiteX1" fmla="*/ 16649700 w 27546300"/>
              <a:gd name="connsiteY1" fmla="*/ 0 h 19994563"/>
              <a:gd name="connsiteX2" fmla="*/ 27546300 w 27546300"/>
              <a:gd name="connsiteY2" fmla="*/ 182564 h 19994563"/>
              <a:gd name="connsiteX3" fmla="*/ 27393900 w 27546300"/>
              <a:gd name="connsiteY3" fmla="*/ 603249 h 19994563"/>
              <a:gd name="connsiteX4" fmla="*/ 8153400 w 27546300"/>
              <a:gd name="connsiteY4" fmla="*/ 19805650 h 19994563"/>
              <a:gd name="connsiteX5" fmla="*/ 0 w 27546300"/>
              <a:gd name="connsiteY5" fmla="*/ 19994563 h 19994563"/>
              <a:gd name="connsiteX6" fmla="*/ 0 w 27546300"/>
              <a:gd name="connsiteY6" fmla="*/ 16268700 h 1999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546300" h="19994563">
                <a:moveTo>
                  <a:pt x="0" y="16268700"/>
                </a:moveTo>
                <a:lnTo>
                  <a:pt x="16649700" y="0"/>
                </a:lnTo>
                <a:lnTo>
                  <a:pt x="27546300" y="182564"/>
                </a:lnTo>
                <a:lnTo>
                  <a:pt x="27393900" y="603249"/>
                </a:lnTo>
                <a:lnTo>
                  <a:pt x="8153400" y="19805650"/>
                </a:lnTo>
                <a:lnTo>
                  <a:pt x="0" y="19994563"/>
                </a:lnTo>
                <a:lnTo>
                  <a:pt x="0" y="162687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2800"/>
            </a:lvl1pPr>
          </a:lstStyle>
          <a:p>
            <a:endParaRPr lang="pt-BR"/>
          </a:p>
        </p:txBody>
      </p:sp>
      <p:sp>
        <p:nvSpPr>
          <p:cNvPr id="19" name="Espaço Reservado para Imagem 18">
            <a:extLst>
              <a:ext uri="{FF2B5EF4-FFF2-40B4-BE49-F238E27FC236}">
                <a16:creationId xmlns:a16="http://schemas.microsoft.com/office/drawing/2014/main" id="{BEE315DE-E585-4187-A9BB-37960816D5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595941" y="-4495801"/>
            <a:ext cx="21321712" cy="21911469"/>
          </a:xfrm>
          <a:custGeom>
            <a:avLst/>
            <a:gdLst>
              <a:gd name="connsiteX0" fmla="*/ 0 w 21169313"/>
              <a:gd name="connsiteY0" fmla="*/ 0 h 22220238"/>
              <a:gd name="connsiteX1" fmla="*/ 21169313 w 21169313"/>
              <a:gd name="connsiteY1" fmla="*/ 0 h 22220238"/>
              <a:gd name="connsiteX2" fmla="*/ 21169313 w 21169313"/>
              <a:gd name="connsiteY2" fmla="*/ 22220238 h 22220238"/>
              <a:gd name="connsiteX3" fmla="*/ 0 w 21169313"/>
              <a:gd name="connsiteY3" fmla="*/ 22220238 h 22220238"/>
              <a:gd name="connsiteX4" fmla="*/ 0 w 21169313"/>
              <a:gd name="connsiteY4" fmla="*/ 0 h 22220238"/>
              <a:gd name="connsiteX0" fmla="*/ 0 w 21169313"/>
              <a:gd name="connsiteY0" fmla="*/ 0 h 22220238"/>
              <a:gd name="connsiteX1" fmla="*/ 21169313 w 21169313"/>
              <a:gd name="connsiteY1" fmla="*/ 0 h 22220238"/>
              <a:gd name="connsiteX2" fmla="*/ 8672512 w 21169313"/>
              <a:gd name="connsiteY2" fmla="*/ 16962438 h 22220238"/>
              <a:gd name="connsiteX3" fmla="*/ 0 w 21169313"/>
              <a:gd name="connsiteY3" fmla="*/ 22220238 h 22220238"/>
              <a:gd name="connsiteX4" fmla="*/ 0 w 21169313"/>
              <a:gd name="connsiteY4" fmla="*/ 0 h 22220238"/>
              <a:gd name="connsiteX0" fmla="*/ 0 w 21169313"/>
              <a:gd name="connsiteY0" fmla="*/ 0 h 22220238"/>
              <a:gd name="connsiteX1" fmla="*/ 21169313 w 21169313"/>
              <a:gd name="connsiteY1" fmla="*/ 0 h 22220238"/>
              <a:gd name="connsiteX2" fmla="*/ 0 w 21169313"/>
              <a:gd name="connsiteY2" fmla="*/ 22220238 h 22220238"/>
              <a:gd name="connsiteX3" fmla="*/ 0 w 21169313"/>
              <a:gd name="connsiteY3" fmla="*/ 0 h 22220238"/>
              <a:gd name="connsiteX0" fmla="*/ 0 w 21169313"/>
              <a:gd name="connsiteY0" fmla="*/ 0 h 21115338"/>
              <a:gd name="connsiteX1" fmla="*/ 21169313 w 21169313"/>
              <a:gd name="connsiteY1" fmla="*/ 0 h 21115338"/>
              <a:gd name="connsiteX2" fmla="*/ 38100 w 21169313"/>
              <a:gd name="connsiteY2" fmla="*/ 21115338 h 21115338"/>
              <a:gd name="connsiteX3" fmla="*/ 0 w 21169313"/>
              <a:gd name="connsiteY3" fmla="*/ 0 h 21115338"/>
              <a:gd name="connsiteX0" fmla="*/ 0 w 21359812"/>
              <a:gd name="connsiteY0" fmla="*/ 0 h 21115338"/>
              <a:gd name="connsiteX1" fmla="*/ 21359812 w 21359812"/>
              <a:gd name="connsiteY1" fmla="*/ 0 h 21115338"/>
              <a:gd name="connsiteX2" fmla="*/ 38100 w 21359812"/>
              <a:gd name="connsiteY2" fmla="*/ 21115338 h 21115338"/>
              <a:gd name="connsiteX3" fmla="*/ 0 w 21359812"/>
              <a:gd name="connsiteY3" fmla="*/ 0 h 21115338"/>
              <a:gd name="connsiteX0" fmla="*/ 0 w 21321712"/>
              <a:gd name="connsiteY0" fmla="*/ 8839200 h 21115338"/>
              <a:gd name="connsiteX1" fmla="*/ 21321712 w 21321712"/>
              <a:gd name="connsiteY1" fmla="*/ 0 h 21115338"/>
              <a:gd name="connsiteX2" fmla="*/ 0 w 21321712"/>
              <a:gd name="connsiteY2" fmla="*/ 21115338 h 21115338"/>
              <a:gd name="connsiteX3" fmla="*/ 0 w 21321712"/>
              <a:gd name="connsiteY3" fmla="*/ 8839200 h 21115338"/>
              <a:gd name="connsiteX0" fmla="*/ 76200 w 21321712"/>
              <a:gd name="connsiteY0" fmla="*/ 11125200 h 21115338"/>
              <a:gd name="connsiteX1" fmla="*/ 21321712 w 21321712"/>
              <a:gd name="connsiteY1" fmla="*/ 0 h 21115338"/>
              <a:gd name="connsiteX2" fmla="*/ 0 w 21321712"/>
              <a:gd name="connsiteY2" fmla="*/ 21115338 h 21115338"/>
              <a:gd name="connsiteX3" fmla="*/ 76200 w 21321712"/>
              <a:gd name="connsiteY3" fmla="*/ 11125200 h 21115338"/>
              <a:gd name="connsiteX0" fmla="*/ 0 w 21359812"/>
              <a:gd name="connsiteY0" fmla="*/ 10248900 h 21115338"/>
              <a:gd name="connsiteX1" fmla="*/ 21359812 w 21359812"/>
              <a:gd name="connsiteY1" fmla="*/ 0 h 21115338"/>
              <a:gd name="connsiteX2" fmla="*/ 38100 w 21359812"/>
              <a:gd name="connsiteY2" fmla="*/ 21115338 h 21115338"/>
              <a:gd name="connsiteX3" fmla="*/ 0 w 21359812"/>
              <a:gd name="connsiteY3" fmla="*/ 10248900 h 21115338"/>
              <a:gd name="connsiteX0" fmla="*/ 0 w 21359812"/>
              <a:gd name="connsiteY0" fmla="*/ 10248900 h 21115338"/>
              <a:gd name="connsiteX1" fmla="*/ 15121441 w 21359812"/>
              <a:gd name="connsiteY1" fmla="*/ 2937669 h 21115338"/>
              <a:gd name="connsiteX2" fmla="*/ 21359812 w 21359812"/>
              <a:gd name="connsiteY2" fmla="*/ 0 h 21115338"/>
              <a:gd name="connsiteX3" fmla="*/ 38100 w 21359812"/>
              <a:gd name="connsiteY3" fmla="*/ 21115338 h 21115338"/>
              <a:gd name="connsiteX4" fmla="*/ 0 w 21359812"/>
              <a:gd name="connsiteY4" fmla="*/ 10248900 h 21115338"/>
              <a:gd name="connsiteX0" fmla="*/ 0 w 21359812"/>
              <a:gd name="connsiteY0" fmla="*/ 10248900 h 21115338"/>
              <a:gd name="connsiteX1" fmla="*/ 7387141 w 21359812"/>
              <a:gd name="connsiteY1" fmla="*/ 3699669 h 21115338"/>
              <a:gd name="connsiteX2" fmla="*/ 21359812 w 21359812"/>
              <a:gd name="connsiteY2" fmla="*/ 0 h 21115338"/>
              <a:gd name="connsiteX3" fmla="*/ 38100 w 21359812"/>
              <a:gd name="connsiteY3" fmla="*/ 21115338 h 21115338"/>
              <a:gd name="connsiteX4" fmla="*/ 0 w 21359812"/>
              <a:gd name="connsiteY4" fmla="*/ 10248900 h 21115338"/>
              <a:gd name="connsiteX0" fmla="*/ 190500 w 21321712"/>
              <a:gd name="connsiteY0" fmla="*/ 10668000 h 21115338"/>
              <a:gd name="connsiteX1" fmla="*/ 7349041 w 21321712"/>
              <a:gd name="connsiteY1" fmla="*/ 3699669 h 21115338"/>
              <a:gd name="connsiteX2" fmla="*/ 21321712 w 21321712"/>
              <a:gd name="connsiteY2" fmla="*/ 0 h 21115338"/>
              <a:gd name="connsiteX3" fmla="*/ 0 w 21321712"/>
              <a:gd name="connsiteY3" fmla="*/ 21115338 h 21115338"/>
              <a:gd name="connsiteX4" fmla="*/ 190500 w 21321712"/>
              <a:gd name="connsiteY4" fmla="*/ 10668000 h 21115338"/>
              <a:gd name="connsiteX0" fmla="*/ 266700 w 21321712"/>
              <a:gd name="connsiteY0" fmla="*/ 10934700 h 21115338"/>
              <a:gd name="connsiteX1" fmla="*/ 7349041 w 21321712"/>
              <a:gd name="connsiteY1" fmla="*/ 3699669 h 21115338"/>
              <a:gd name="connsiteX2" fmla="*/ 21321712 w 21321712"/>
              <a:gd name="connsiteY2" fmla="*/ 0 h 21115338"/>
              <a:gd name="connsiteX3" fmla="*/ 0 w 21321712"/>
              <a:gd name="connsiteY3" fmla="*/ 21115338 h 21115338"/>
              <a:gd name="connsiteX4" fmla="*/ 266700 w 21321712"/>
              <a:gd name="connsiteY4" fmla="*/ 10934700 h 21115338"/>
              <a:gd name="connsiteX0" fmla="*/ 152400 w 21321712"/>
              <a:gd name="connsiteY0" fmla="*/ 10896600 h 21115338"/>
              <a:gd name="connsiteX1" fmla="*/ 7349041 w 21321712"/>
              <a:gd name="connsiteY1" fmla="*/ 3699669 h 21115338"/>
              <a:gd name="connsiteX2" fmla="*/ 21321712 w 21321712"/>
              <a:gd name="connsiteY2" fmla="*/ 0 h 21115338"/>
              <a:gd name="connsiteX3" fmla="*/ 0 w 21321712"/>
              <a:gd name="connsiteY3" fmla="*/ 21115338 h 21115338"/>
              <a:gd name="connsiteX4" fmla="*/ 152400 w 21321712"/>
              <a:gd name="connsiteY4" fmla="*/ 10896600 h 21115338"/>
              <a:gd name="connsiteX0" fmla="*/ 152400 w 21321712"/>
              <a:gd name="connsiteY0" fmla="*/ 11692731 h 21911469"/>
              <a:gd name="connsiteX1" fmla="*/ 11921041 w 21321712"/>
              <a:gd name="connsiteY1" fmla="*/ 0 h 21911469"/>
              <a:gd name="connsiteX2" fmla="*/ 21321712 w 21321712"/>
              <a:gd name="connsiteY2" fmla="*/ 796131 h 21911469"/>
              <a:gd name="connsiteX3" fmla="*/ 0 w 21321712"/>
              <a:gd name="connsiteY3" fmla="*/ 21911469 h 21911469"/>
              <a:gd name="connsiteX4" fmla="*/ 152400 w 21321712"/>
              <a:gd name="connsiteY4" fmla="*/ 11692731 h 2191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21712" h="21911469">
                <a:moveTo>
                  <a:pt x="152400" y="11692731"/>
                </a:moveTo>
                <a:lnTo>
                  <a:pt x="11921041" y="0"/>
                </a:lnTo>
                <a:lnTo>
                  <a:pt x="21321712" y="796131"/>
                </a:lnTo>
                <a:lnTo>
                  <a:pt x="0" y="21911469"/>
                </a:lnTo>
                <a:lnTo>
                  <a:pt x="152400" y="1169273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0" indent="0" algn="r">
              <a:buNone/>
              <a:defRPr sz="2800"/>
            </a:lvl1pPr>
          </a:lstStyle>
          <a:p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11260E-4A17-4F89-B695-2A34EE542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0D87D64-7413-71A6-C472-57282FAFC3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603" y="51130"/>
            <a:ext cx="2070181" cy="2309545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6042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88402655-7AAE-421B-A5E4-65934B29A1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2861" y="-3454"/>
            <a:ext cx="24424324" cy="13737093"/>
          </a:xfrm>
          <a:prstGeom prst="rect">
            <a:avLst/>
          </a:prstGeom>
        </p:spPr>
      </p:pic>
      <p:sp>
        <p:nvSpPr>
          <p:cNvPr id="23" name="Espaço Reservado para Imagem 22">
            <a:extLst>
              <a:ext uri="{FF2B5EF4-FFF2-40B4-BE49-F238E27FC236}">
                <a16:creationId xmlns:a16="http://schemas.microsoft.com/office/drawing/2014/main" id="{9CC42A6A-2533-4502-BA3F-41A1B3A06C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255143" y="-813031"/>
            <a:ext cx="10066338" cy="6646863"/>
          </a:xfrm>
          <a:custGeom>
            <a:avLst/>
            <a:gdLst>
              <a:gd name="connsiteX0" fmla="*/ 0 w 9723438"/>
              <a:gd name="connsiteY0" fmla="*/ 0 h 6684963"/>
              <a:gd name="connsiteX1" fmla="*/ 9723438 w 9723438"/>
              <a:gd name="connsiteY1" fmla="*/ 0 h 6684963"/>
              <a:gd name="connsiteX2" fmla="*/ 9723438 w 9723438"/>
              <a:gd name="connsiteY2" fmla="*/ 6684963 h 6684963"/>
              <a:gd name="connsiteX3" fmla="*/ 0 w 9723438"/>
              <a:gd name="connsiteY3" fmla="*/ 6684963 h 6684963"/>
              <a:gd name="connsiteX4" fmla="*/ 0 w 9723438"/>
              <a:gd name="connsiteY4" fmla="*/ 0 h 6684963"/>
              <a:gd name="connsiteX0" fmla="*/ 0 w 9723438"/>
              <a:gd name="connsiteY0" fmla="*/ 0 h 6684963"/>
              <a:gd name="connsiteX1" fmla="*/ 9723438 w 9723438"/>
              <a:gd name="connsiteY1" fmla="*/ 0 h 6684963"/>
              <a:gd name="connsiteX2" fmla="*/ 9723438 w 9723438"/>
              <a:gd name="connsiteY2" fmla="*/ 6684963 h 6684963"/>
              <a:gd name="connsiteX3" fmla="*/ 3352800 w 9723438"/>
              <a:gd name="connsiteY3" fmla="*/ 6608763 h 6684963"/>
              <a:gd name="connsiteX4" fmla="*/ 0 w 9723438"/>
              <a:gd name="connsiteY4" fmla="*/ 0 h 6684963"/>
              <a:gd name="connsiteX0" fmla="*/ 0 w 9723438"/>
              <a:gd name="connsiteY0" fmla="*/ 0 h 6608763"/>
              <a:gd name="connsiteX1" fmla="*/ 9723438 w 9723438"/>
              <a:gd name="connsiteY1" fmla="*/ 0 h 6608763"/>
              <a:gd name="connsiteX2" fmla="*/ 3352800 w 9723438"/>
              <a:gd name="connsiteY2" fmla="*/ 6608763 h 6608763"/>
              <a:gd name="connsiteX3" fmla="*/ 0 w 9723438"/>
              <a:gd name="connsiteY3" fmla="*/ 0 h 6608763"/>
              <a:gd name="connsiteX0" fmla="*/ 0 w 10066338"/>
              <a:gd name="connsiteY0" fmla="*/ 38100 h 6646863"/>
              <a:gd name="connsiteX1" fmla="*/ 10066338 w 10066338"/>
              <a:gd name="connsiteY1" fmla="*/ 0 h 6646863"/>
              <a:gd name="connsiteX2" fmla="*/ 3352800 w 10066338"/>
              <a:gd name="connsiteY2" fmla="*/ 6646863 h 6646863"/>
              <a:gd name="connsiteX3" fmla="*/ 0 w 10066338"/>
              <a:gd name="connsiteY3" fmla="*/ 38100 h 664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66338" h="6646863">
                <a:moveTo>
                  <a:pt x="0" y="38100"/>
                </a:moveTo>
                <a:lnTo>
                  <a:pt x="10066338" y="0"/>
                </a:lnTo>
                <a:lnTo>
                  <a:pt x="3352800" y="6646863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r">
              <a:defRPr sz="2800"/>
            </a:lvl1pPr>
          </a:lstStyle>
          <a:p>
            <a:endParaRPr lang="pt-BR"/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CDDE4D4-7F04-4689-BB49-30B8FC8D2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74970" y="-824093"/>
            <a:ext cx="7699375" cy="6657925"/>
          </a:xfrm>
          <a:custGeom>
            <a:avLst/>
            <a:gdLst>
              <a:gd name="connsiteX0" fmla="*/ 0 w 7699375"/>
              <a:gd name="connsiteY0" fmla="*/ 0 h 6646863"/>
              <a:gd name="connsiteX1" fmla="*/ 7699375 w 7699375"/>
              <a:gd name="connsiteY1" fmla="*/ 0 h 6646863"/>
              <a:gd name="connsiteX2" fmla="*/ 7699375 w 7699375"/>
              <a:gd name="connsiteY2" fmla="*/ 6646863 h 6646863"/>
              <a:gd name="connsiteX3" fmla="*/ 0 w 7699375"/>
              <a:gd name="connsiteY3" fmla="*/ 6646863 h 6646863"/>
              <a:gd name="connsiteX4" fmla="*/ 0 w 7699375"/>
              <a:gd name="connsiteY4" fmla="*/ 0 h 6646863"/>
              <a:gd name="connsiteX0" fmla="*/ 6629400 w 7699375"/>
              <a:gd name="connsiteY0" fmla="*/ 342900 h 6646863"/>
              <a:gd name="connsiteX1" fmla="*/ 7699375 w 7699375"/>
              <a:gd name="connsiteY1" fmla="*/ 0 h 6646863"/>
              <a:gd name="connsiteX2" fmla="*/ 7699375 w 7699375"/>
              <a:gd name="connsiteY2" fmla="*/ 6646863 h 6646863"/>
              <a:gd name="connsiteX3" fmla="*/ 0 w 7699375"/>
              <a:gd name="connsiteY3" fmla="*/ 6646863 h 6646863"/>
              <a:gd name="connsiteX4" fmla="*/ 6629400 w 7699375"/>
              <a:gd name="connsiteY4" fmla="*/ 342900 h 6646863"/>
              <a:gd name="connsiteX0" fmla="*/ 6835877 w 7699375"/>
              <a:gd name="connsiteY0" fmla="*/ 0 h 6657925"/>
              <a:gd name="connsiteX1" fmla="*/ 7699375 w 7699375"/>
              <a:gd name="connsiteY1" fmla="*/ 11062 h 6657925"/>
              <a:gd name="connsiteX2" fmla="*/ 7699375 w 7699375"/>
              <a:gd name="connsiteY2" fmla="*/ 6657925 h 6657925"/>
              <a:gd name="connsiteX3" fmla="*/ 0 w 7699375"/>
              <a:gd name="connsiteY3" fmla="*/ 6657925 h 6657925"/>
              <a:gd name="connsiteX4" fmla="*/ 6835877 w 7699375"/>
              <a:gd name="connsiteY4" fmla="*/ 0 h 6657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9375" h="6657925">
                <a:moveTo>
                  <a:pt x="6835877" y="0"/>
                </a:moveTo>
                <a:lnTo>
                  <a:pt x="7699375" y="11062"/>
                </a:lnTo>
                <a:lnTo>
                  <a:pt x="7699375" y="6657925"/>
                </a:lnTo>
                <a:lnTo>
                  <a:pt x="0" y="6657925"/>
                </a:lnTo>
                <a:lnTo>
                  <a:pt x="683587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r">
              <a:defRPr sz="2800"/>
            </a:lvl1pPr>
          </a:lstStyle>
          <a:p>
            <a:endParaRPr lang="pt-BR"/>
          </a:p>
        </p:txBody>
      </p:sp>
      <p:sp>
        <p:nvSpPr>
          <p:cNvPr id="27" name="Espaço Reservado para Imagem 26">
            <a:extLst>
              <a:ext uri="{FF2B5EF4-FFF2-40B4-BE49-F238E27FC236}">
                <a16:creationId xmlns:a16="http://schemas.microsoft.com/office/drawing/2014/main" id="{6C48D7CB-1A03-4AC3-AB0A-746926E96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58178" y="5844894"/>
            <a:ext cx="16477431" cy="8951912"/>
          </a:xfrm>
          <a:custGeom>
            <a:avLst/>
            <a:gdLst>
              <a:gd name="connsiteX0" fmla="*/ 0 w 16300450"/>
              <a:gd name="connsiteY0" fmla="*/ 0 h 8951912"/>
              <a:gd name="connsiteX1" fmla="*/ 16300450 w 16300450"/>
              <a:gd name="connsiteY1" fmla="*/ 0 h 8951912"/>
              <a:gd name="connsiteX2" fmla="*/ 16300450 w 16300450"/>
              <a:gd name="connsiteY2" fmla="*/ 8951912 h 8951912"/>
              <a:gd name="connsiteX3" fmla="*/ 0 w 16300450"/>
              <a:gd name="connsiteY3" fmla="*/ 8951912 h 8951912"/>
              <a:gd name="connsiteX4" fmla="*/ 0 w 16300450"/>
              <a:gd name="connsiteY4" fmla="*/ 0 h 8951912"/>
              <a:gd name="connsiteX0" fmla="*/ 8790038 w 16300450"/>
              <a:gd name="connsiteY0" fmla="*/ 29496 h 8951912"/>
              <a:gd name="connsiteX1" fmla="*/ 16300450 w 16300450"/>
              <a:gd name="connsiteY1" fmla="*/ 0 h 8951912"/>
              <a:gd name="connsiteX2" fmla="*/ 16300450 w 16300450"/>
              <a:gd name="connsiteY2" fmla="*/ 8951912 h 8951912"/>
              <a:gd name="connsiteX3" fmla="*/ 0 w 16300450"/>
              <a:gd name="connsiteY3" fmla="*/ 8951912 h 8951912"/>
              <a:gd name="connsiteX4" fmla="*/ 8790038 w 16300450"/>
              <a:gd name="connsiteY4" fmla="*/ 29496 h 8951912"/>
              <a:gd name="connsiteX0" fmla="*/ 8967019 w 16477431"/>
              <a:gd name="connsiteY0" fmla="*/ 29496 h 8951912"/>
              <a:gd name="connsiteX1" fmla="*/ 16477431 w 16477431"/>
              <a:gd name="connsiteY1" fmla="*/ 0 h 8951912"/>
              <a:gd name="connsiteX2" fmla="*/ 16477431 w 16477431"/>
              <a:gd name="connsiteY2" fmla="*/ 8951912 h 8951912"/>
              <a:gd name="connsiteX3" fmla="*/ 0 w 16477431"/>
              <a:gd name="connsiteY3" fmla="*/ 8951912 h 8951912"/>
              <a:gd name="connsiteX4" fmla="*/ 8967019 w 16477431"/>
              <a:gd name="connsiteY4" fmla="*/ 29496 h 8951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77431" h="8951912">
                <a:moveTo>
                  <a:pt x="8967019" y="29496"/>
                </a:moveTo>
                <a:lnTo>
                  <a:pt x="16477431" y="0"/>
                </a:lnTo>
                <a:lnTo>
                  <a:pt x="16477431" y="8951912"/>
                </a:lnTo>
                <a:lnTo>
                  <a:pt x="0" y="8951912"/>
                </a:lnTo>
                <a:lnTo>
                  <a:pt x="8967019" y="294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 algn="r">
              <a:defRPr sz="2800"/>
            </a:lvl1pPr>
          </a:lstStyle>
          <a:p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C65151-9208-4251-BEBD-CC1609B35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CA9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A907EC3-44C3-0CDC-D883-A36693ACDF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603" y="51130"/>
            <a:ext cx="2070181" cy="2309545"/>
          </a:xfrm>
          <a:prstGeom prst="rect">
            <a:avLst/>
          </a:prstGeom>
          <a:effectLst>
            <a:outerShdw blurRad="187327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5805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0A07EDB-F017-4DCD-B587-5728ABAD6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BCC3A81-745E-471B-8DD1-75F922706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41541" y="2364106"/>
            <a:ext cx="10279062" cy="8939212"/>
          </a:xfrm>
          <a:custGeom>
            <a:avLst/>
            <a:gdLst>
              <a:gd name="connsiteX0" fmla="*/ 0 w 10279062"/>
              <a:gd name="connsiteY0" fmla="*/ 0 h 8939212"/>
              <a:gd name="connsiteX1" fmla="*/ 10279062 w 10279062"/>
              <a:gd name="connsiteY1" fmla="*/ 0 h 8939212"/>
              <a:gd name="connsiteX2" fmla="*/ 10279062 w 10279062"/>
              <a:gd name="connsiteY2" fmla="*/ 8939212 h 8939212"/>
              <a:gd name="connsiteX3" fmla="*/ 0 w 10279062"/>
              <a:gd name="connsiteY3" fmla="*/ 8939212 h 8939212"/>
              <a:gd name="connsiteX4" fmla="*/ 0 w 10279062"/>
              <a:gd name="connsiteY4" fmla="*/ 0 h 8939212"/>
              <a:gd name="connsiteX0" fmla="*/ 0 w 10279062"/>
              <a:gd name="connsiteY0" fmla="*/ 0 h 8939212"/>
              <a:gd name="connsiteX1" fmla="*/ 10279062 w 10279062"/>
              <a:gd name="connsiteY1" fmla="*/ 0 h 8939212"/>
              <a:gd name="connsiteX2" fmla="*/ 1312043 w 10279062"/>
              <a:gd name="connsiteY2" fmla="*/ 8939212 h 8939212"/>
              <a:gd name="connsiteX3" fmla="*/ 0 w 10279062"/>
              <a:gd name="connsiteY3" fmla="*/ 8939212 h 8939212"/>
              <a:gd name="connsiteX4" fmla="*/ 0 w 10279062"/>
              <a:gd name="connsiteY4" fmla="*/ 0 h 89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9062" h="8939212">
                <a:moveTo>
                  <a:pt x="0" y="0"/>
                </a:moveTo>
                <a:lnTo>
                  <a:pt x="10279062" y="0"/>
                </a:lnTo>
                <a:lnTo>
                  <a:pt x="1312043" y="8939212"/>
                </a:lnTo>
                <a:lnTo>
                  <a:pt x="0" y="89392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algn="r">
              <a:defRPr sz="2400"/>
            </a:lvl1pPr>
          </a:lstStyle>
          <a:p>
            <a:endParaRPr lang="pt-BR"/>
          </a:p>
        </p:txBody>
      </p:sp>
      <p:sp>
        <p:nvSpPr>
          <p:cNvPr id="27" name="Espaço Reservado para Imagem 26">
            <a:extLst>
              <a:ext uri="{FF2B5EF4-FFF2-40B4-BE49-F238E27FC236}">
                <a16:creationId xmlns:a16="http://schemas.microsoft.com/office/drawing/2014/main" id="{4CC6587F-9BE7-4671-AAC5-042F44A741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93957" y="2202717"/>
            <a:ext cx="15505112" cy="9051925"/>
          </a:xfrm>
          <a:custGeom>
            <a:avLst/>
            <a:gdLst>
              <a:gd name="connsiteX0" fmla="*/ 0 w 15505112"/>
              <a:gd name="connsiteY0" fmla="*/ 0 h 9051925"/>
              <a:gd name="connsiteX1" fmla="*/ 15505112 w 15505112"/>
              <a:gd name="connsiteY1" fmla="*/ 0 h 9051925"/>
              <a:gd name="connsiteX2" fmla="*/ 15505112 w 15505112"/>
              <a:gd name="connsiteY2" fmla="*/ 9051925 h 9051925"/>
              <a:gd name="connsiteX3" fmla="*/ 0 w 15505112"/>
              <a:gd name="connsiteY3" fmla="*/ 9051925 h 9051925"/>
              <a:gd name="connsiteX4" fmla="*/ 0 w 15505112"/>
              <a:gd name="connsiteY4" fmla="*/ 0 h 9051925"/>
              <a:gd name="connsiteX0" fmla="*/ 8967019 w 15505112"/>
              <a:gd name="connsiteY0" fmla="*/ 58993 h 9051925"/>
              <a:gd name="connsiteX1" fmla="*/ 15505112 w 15505112"/>
              <a:gd name="connsiteY1" fmla="*/ 0 h 9051925"/>
              <a:gd name="connsiteX2" fmla="*/ 15505112 w 15505112"/>
              <a:gd name="connsiteY2" fmla="*/ 9051925 h 9051925"/>
              <a:gd name="connsiteX3" fmla="*/ 0 w 15505112"/>
              <a:gd name="connsiteY3" fmla="*/ 9051925 h 9051925"/>
              <a:gd name="connsiteX4" fmla="*/ 8967019 w 15505112"/>
              <a:gd name="connsiteY4" fmla="*/ 58993 h 9051925"/>
              <a:gd name="connsiteX0" fmla="*/ 8967019 w 15505112"/>
              <a:gd name="connsiteY0" fmla="*/ 58993 h 9051925"/>
              <a:gd name="connsiteX1" fmla="*/ 15505112 w 15505112"/>
              <a:gd name="connsiteY1" fmla="*/ 0 h 9051925"/>
              <a:gd name="connsiteX2" fmla="*/ 6626583 w 15505112"/>
              <a:gd name="connsiteY2" fmla="*/ 9022428 h 9051925"/>
              <a:gd name="connsiteX3" fmla="*/ 0 w 15505112"/>
              <a:gd name="connsiteY3" fmla="*/ 9051925 h 9051925"/>
              <a:gd name="connsiteX4" fmla="*/ 8967019 w 15505112"/>
              <a:gd name="connsiteY4" fmla="*/ 58993 h 905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05112" h="9051925">
                <a:moveTo>
                  <a:pt x="8967019" y="58993"/>
                </a:moveTo>
                <a:lnTo>
                  <a:pt x="15505112" y="0"/>
                </a:lnTo>
                <a:lnTo>
                  <a:pt x="6626583" y="9022428"/>
                </a:lnTo>
                <a:lnTo>
                  <a:pt x="0" y="9051925"/>
                </a:lnTo>
                <a:lnTo>
                  <a:pt x="8967019" y="5899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r">
              <a:defRPr sz="2400"/>
            </a:lvl1pPr>
          </a:lstStyle>
          <a:p>
            <a:endParaRPr lang="pt-BR"/>
          </a:p>
        </p:txBody>
      </p:sp>
      <p:sp>
        <p:nvSpPr>
          <p:cNvPr id="29" name="Espaço Reservado para Imagem 28">
            <a:extLst>
              <a:ext uri="{FF2B5EF4-FFF2-40B4-BE49-F238E27FC236}">
                <a16:creationId xmlns:a16="http://schemas.microsoft.com/office/drawing/2014/main" id="{90D4B84B-38BA-411C-8DC5-70C47CE762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303776" y="2202717"/>
            <a:ext cx="11415200" cy="8939212"/>
          </a:xfrm>
          <a:custGeom>
            <a:avLst/>
            <a:gdLst>
              <a:gd name="connsiteX0" fmla="*/ 0 w 11533187"/>
              <a:gd name="connsiteY0" fmla="*/ 0 h 8939212"/>
              <a:gd name="connsiteX1" fmla="*/ 11533187 w 11533187"/>
              <a:gd name="connsiteY1" fmla="*/ 0 h 8939212"/>
              <a:gd name="connsiteX2" fmla="*/ 11533187 w 11533187"/>
              <a:gd name="connsiteY2" fmla="*/ 8939212 h 8939212"/>
              <a:gd name="connsiteX3" fmla="*/ 0 w 11533187"/>
              <a:gd name="connsiteY3" fmla="*/ 8939212 h 8939212"/>
              <a:gd name="connsiteX4" fmla="*/ 0 w 11533187"/>
              <a:gd name="connsiteY4" fmla="*/ 0 h 8939212"/>
              <a:gd name="connsiteX0" fmla="*/ 8908026 w 11533187"/>
              <a:gd name="connsiteY0" fmla="*/ 0 h 8939212"/>
              <a:gd name="connsiteX1" fmla="*/ 11533187 w 11533187"/>
              <a:gd name="connsiteY1" fmla="*/ 0 h 8939212"/>
              <a:gd name="connsiteX2" fmla="*/ 11533187 w 11533187"/>
              <a:gd name="connsiteY2" fmla="*/ 8939212 h 8939212"/>
              <a:gd name="connsiteX3" fmla="*/ 0 w 11533187"/>
              <a:gd name="connsiteY3" fmla="*/ 8939212 h 8939212"/>
              <a:gd name="connsiteX4" fmla="*/ 8908026 w 11533187"/>
              <a:gd name="connsiteY4" fmla="*/ 0 h 8939212"/>
              <a:gd name="connsiteX0" fmla="*/ 8790039 w 11415200"/>
              <a:gd name="connsiteY0" fmla="*/ 0 h 8939212"/>
              <a:gd name="connsiteX1" fmla="*/ 11415200 w 11415200"/>
              <a:gd name="connsiteY1" fmla="*/ 0 h 8939212"/>
              <a:gd name="connsiteX2" fmla="*/ 11415200 w 11415200"/>
              <a:gd name="connsiteY2" fmla="*/ 8939212 h 8939212"/>
              <a:gd name="connsiteX3" fmla="*/ 0 w 11415200"/>
              <a:gd name="connsiteY3" fmla="*/ 8939212 h 8939212"/>
              <a:gd name="connsiteX4" fmla="*/ 8790039 w 11415200"/>
              <a:gd name="connsiteY4" fmla="*/ 0 h 89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5200" h="8939212">
                <a:moveTo>
                  <a:pt x="8790039" y="0"/>
                </a:moveTo>
                <a:lnTo>
                  <a:pt x="11415200" y="0"/>
                </a:lnTo>
                <a:lnTo>
                  <a:pt x="11415200" y="8939212"/>
                </a:lnTo>
                <a:lnTo>
                  <a:pt x="0" y="8939212"/>
                </a:lnTo>
                <a:lnTo>
                  <a:pt x="8790039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 algn="r">
              <a:defRPr sz="2400"/>
            </a:lvl1pPr>
          </a:lstStyle>
          <a:p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5F3F9DA-C51C-4D45-918D-75F70620D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493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5933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4AE08237-4455-4B1A-BDDA-42E49AF70F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315382"/>
            <a:ext cx="24384000" cy="6400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F7E7A7A-9F50-494B-89D5-CAC3B4092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" y="0"/>
            <a:ext cx="24407446" cy="13716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E70D37B-CB32-47D3-BA5B-2FBED5C1E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499626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rgbClr val="005493"/>
                </a:solidFill>
                <a:latin typeface="Tw Cen MT" panose="020B0602020104020603" pitchFamily="34" charset="77"/>
              </a:defRPr>
            </a:lvl1pPr>
          </a:lstStyle>
          <a:p>
            <a:fld id="{E7E9269C-DFE6-234A-A453-A5E7CB22259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0002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EA5A1DA-88CF-438E-88BF-C2D25B53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887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F840DF8-A0C5-4A50-9CA9-23AA148E47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29" y="50003"/>
            <a:ext cx="24221604" cy="136159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F3062-0D2E-4FCE-8D7C-0B7AEB08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2869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F840DF8-A0C5-4A50-9CA9-23AA148E47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9" y="15633"/>
            <a:ext cx="24401462" cy="137170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F3062-0D2E-4FCE-8D7C-0B7AEB08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336347" y="12848319"/>
            <a:ext cx="843576" cy="730250"/>
          </a:xfrm>
        </p:spPr>
        <p:txBody>
          <a:bodyPr/>
          <a:lstStyle>
            <a:lvl1pPr>
              <a:defRPr b="1">
                <a:solidFill>
                  <a:srgbClr val="005CA9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86543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A3B3A76-A1F1-44BB-BD89-39C6137184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657748" cy="13868380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B72196D-E5E3-4275-8654-223E3BEA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61590" y="12712701"/>
            <a:ext cx="5490329" cy="730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94833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7F1043-EC6C-462C-A431-5B8687DD7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2860" y="3346"/>
            <a:ext cx="24443997" cy="1374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6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7601" y="730251"/>
            <a:ext cx="21046262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7601" y="3651250"/>
            <a:ext cx="21046262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7601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36A4A-E915-4482-B4FA-E9274F68326C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82985" y="12712701"/>
            <a:ext cx="823549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3533" y="12712701"/>
            <a:ext cx="54903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EBB8B-65A8-4222-99B6-9433735EFA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60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5" r:id="rId2"/>
    <p:sldLayoutId id="2147483708" r:id="rId3"/>
    <p:sldLayoutId id="2147483709" r:id="rId4"/>
    <p:sldLayoutId id="2147483674" r:id="rId5"/>
    <p:sldLayoutId id="2147483710" r:id="rId6"/>
    <p:sldLayoutId id="2147483711" r:id="rId7"/>
    <p:sldLayoutId id="2147483704" r:id="rId8"/>
    <p:sldLayoutId id="2147483705" r:id="rId9"/>
    <p:sldLayoutId id="2147483681" r:id="rId10"/>
    <p:sldLayoutId id="2147483682" r:id="rId11"/>
    <p:sldLayoutId id="2147483686" r:id="rId12"/>
    <p:sldLayoutId id="2147483687" r:id="rId13"/>
    <p:sldLayoutId id="2147483712" r:id="rId14"/>
    <p:sldLayoutId id="2147483671" r:id="rId15"/>
    <p:sldLayoutId id="2147483672" r:id="rId16"/>
    <p:sldLayoutId id="2147483713" r:id="rId17"/>
    <p:sldLayoutId id="2147483702" r:id="rId18"/>
    <p:sldLayoutId id="2147483696" r:id="rId19"/>
    <p:sldLayoutId id="2147483697" r:id="rId20"/>
    <p:sldLayoutId id="2147483698" r:id="rId21"/>
    <p:sldLayoutId id="2147483694" r:id="rId22"/>
    <p:sldLayoutId id="2147483699" r:id="rId23"/>
    <p:sldLayoutId id="2147483700" r:id="rId24"/>
    <p:sldLayoutId id="2147483701" r:id="rId25"/>
    <p:sldLayoutId id="2147483673" r:id="rId26"/>
    <p:sldLayoutId id="2147483692" r:id="rId27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emf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jpeg"/><Relationship Id="rId4" Type="http://schemas.openxmlformats.org/officeDocument/2006/relationships/hyperlink" Target="http://images.google.com.br/imgres?imgurl=http://www.maine.gov/mdot/cadd-support/images/crystal.jpg&amp;imgrefurl=http://www.maine.gov/mdot/cadd-support/caddstatus.php&amp;h=472&amp;w=492&amp;sz=56&amp;tbnid=aWpGN1etFA4J:&amp;tbnh=121&amp;tbnw=127&amp;hl=pt-BR&amp;start=42&amp;prev=/images%3Fq%3Dcrystal%2Bball%2Bwizard%26start%3D40%26svnum%3D10%26hl%3Dpt-BR%26lr%3D%26sa%3DN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4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9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hyperlink" Target="http://portuguesbrasileiro.istockphoto.com/file_closeup/concepts-and-ideas/5336905-key-and-lock.php?id=5336905" TargetMode="Externa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11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13" Type="http://schemas.openxmlformats.org/officeDocument/2006/relationships/image" Target="../media/image80.emf"/><Relationship Id="rId3" Type="http://schemas.openxmlformats.org/officeDocument/2006/relationships/image" Target="../media/image70.emf"/><Relationship Id="rId7" Type="http://schemas.openxmlformats.org/officeDocument/2006/relationships/image" Target="../media/image74.emf"/><Relationship Id="rId12" Type="http://schemas.openxmlformats.org/officeDocument/2006/relationships/image" Target="../media/image79.emf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3.emf"/><Relationship Id="rId11" Type="http://schemas.openxmlformats.org/officeDocument/2006/relationships/image" Target="../media/image78.emf"/><Relationship Id="rId5" Type="http://schemas.openxmlformats.org/officeDocument/2006/relationships/image" Target="../media/image72.emf"/><Relationship Id="rId10" Type="http://schemas.openxmlformats.org/officeDocument/2006/relationships/image" Target="../media/image77.emf"/><Relationship Id="rId4" Type="http://schemas.openxmlformats.org/officeDocument/2006/relationships/image" Target="../media/image71.emf"/><Relationship Id="rId9" Type="http://schemas.openxmlformats.org/officeDocument/2006/relationships/image" Target="../media/image76.emf"/><Relationship Id="rId14" Type="http://schemas.openxmlformats.org/officeDocument/2006/relationships/image" Target="../media/image81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0DA6268-CB8B-424D-A6A0-F6E1D6E8F520}"/>
              </a:ext>
            </a:extLst>
          </p:cNvPr>
          <p:cNvSpPr txBox="1"/>
          <p:nvPr/>
        </p:nvSpPr>
        <p:spPr>
          <a:xfrm>
            <a:off x="1587385" y="12218920"/>
            <a:ext cx="9073281" cy="113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baseline="3000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MAIO </a:t>
            </a:r>
            <a:r>
              <a:rPr lang="en-US" sz="5400" b="1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2023 | SUART13</a:t>
            </a:r>
            <a:endParaRPr lang="en-US" sz="5400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  <a:p>
            <a:endParaRPr lang="en-US" sz="4800" b="1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DD4091E-869B-4BDF-83FD-C476564869DE}"/>
              </a:ext>
            </a:extLst>
          </p:cNvPr>
          <p:cNvSpPr txBox="1"/>
          <p:nvPr/>
        </p:nvSpPr>
        <p:spPr>
          <a:xfrm>
            <a:off x="1521345" y="5780782"/>
            <a:ext cx="228801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kern="0" dirty="0">
                <a:solidFill>
                  <a:schemeClr val="bg1"/>
                </a:solidFill>
                <a:latin typeface="Tw Cen MT" panose="020B0602020104020603" pitchFamily="34" charset="77"/>
              </a:rPr>
              <a:t>ALINHAMENTO DE CONHECIMENTO EM MODELAGEM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1DEC397-2FE0-4543-92A3-33C0364FF74F}"/>
              </a:ext>
            </a:extLst>
          </p:cNvPr>
          <p:cNvSpPr txBox="1"/>
          <p:nvPr/>
        </p:nvSpPr>
        <p:spPr>
          <a:xfrm>
            <a:off x="1026802" y="9237077"/>
            <a:ext cx="11173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MÓDULO 1 – MODELAGEM DE DADOS</a:t>
            </a:r>
            <a:endParaRPr lang="en-US" sz="4800" b="1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92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Número de Slide 1">
            <a:extLst>
              <a:ext uri="{FF2B5EF4-FFF2-40B4-BE49-F238E27FC236}">
                <a16:creationId xmlns:a16="http://schemas.microsoft.com/office/drawing/2014/main" id="{9BEB787E-1C02-41E8-B15A-65230ECC706A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1B0FD-F87F-6919-B315-63EC9150584B}"/>
              </a:ext>
            </a:extLst>
          </p:cNvPr>
          <p:cNvSpPr txBox="1">
            <a:spLocks/>
          </p:cNvSpPr>
          <p:nvPr/>
        </p:nvSpPr>
        <p:spPr>
          <a:xfrm>
            <a:off x="168146" y="7220340"/>
            <a:ext cx="7136781" cy="1165003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 err="1">
                <a:latin typeface="Tw Cen MT" panose="020B0602020104020603" pitchFamily="34" charset="77"/>
              </a:rPr>
              <a:t>Modelagem</a:t>
            </a:r>
            <a:r>
              <a:rPr lang="en-US" sz="7200" dirty="0">
                <a:latin typeface="Tw Cen MT" panose="020B0602020104020603" pitchFamily="34" charset="77"/>
              </a:rPr>
              <a:t> de Dados 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C38E09B-A1F3-4997-BEA8-C0361509B936}"/>
              </a:ext>
            </a:extLst>
          </p:cNvPr>
          <p:cNvSpPr/>
          <p:nvPr/>
        </p:nvSpPr>
        <p:spPr>
          <a:xfrm>
            <a:off x="8341113" y="2936253"/>
            <a:ext cx="15710806" cy="856817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0B7F3F4-DB82-42CF-8409-0B6AA37FB524}"/>
              </a:ext>
            </a:extLst>
          </p:cNvPr>
          <p:cNvSpPr txBox="1"/>
          <p:nvPr/>
        </p:nvSpPr>
        <p:spPr>
          <a:xfrm>
            <a:off x="9226204" y="4304988"/>
            <a:ext cx="18670771" cy="6436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1.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Introdução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a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Modelagem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de Dados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2.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Modelo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Entidade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-Relacionamento (MER)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3.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Diagrama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de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Entidade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-Relacionamento (DER)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4.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Leitura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e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interpretação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do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Modelo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de Dados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Conceitual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58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212651" y="4154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8000" dirty="0">
                <a:latin typeface="Tw Cen MT" panose="020B0602020104020603" pitchFamily="34" charset="77"/>
              </a:rPr>
              <a:t>1. </a:t>
            </a: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 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4070194" y="3451173"/>
            <a:ext cx="16110401" cy="9609006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39FD0B3-5BF7-4FF2-80EA-E94713F6B80B}"/>
              </a:ext>
            </a:extLst>
          </p:cNvPr>
          <p:cNvSpPr txBox="1"/>
          <p:nvPr/>
        </p:nvSpPr>
        <p:spPr>
          <a:xfrm>
            <a:off x="4865152" y="4596159"/>
            <a:ext cx="21462135" cy="5577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1.1 </a:t>
            </a:r>
            <a:r>
              <a:rPr lang="en-US" dirty="0" err="1"/>
              <a:t>Introdução</a:t>
            </a:r>
            <a:r>
              <a:rPr lang="en-US" dirty="0"/>
              <a:t> </a:t>
            </a:r>
          </a:p>
          <a:p>
            <a:r>
              <a:rPr lang="en-US" dirty="0"/>
              <a:t>1.2 O que é um dado?</a:t>
            </a:r>
          </a:p>
          <a:p>
            <a:r>
              <a:rPr lang="en-US" dirty="0"/>
              <a:t>1.3 </a:t>
            </a:r>
            <a:r>
              <a:rPr lang="en-US" dirty="0" err="1"/>
              <a:t>Projeto</a:t>
            </a:r>
            <a:r>
              <a:rPr lang="en-US" dirty="0"/>
              <a:t> de Banco de Dados</a:t>
            </a:r>
          </a:p>
          <a:p>
            <a:r>
              <a:rPr lang="en-US" dirty="0"/>
              <a:t>1.4 Processo de </a:t>
            </a:r>
            <a:r>
              <a:rPr lang="en-US" dirty="0" err="1"/>
              <a:t>Modelagem</a:t>
            </a:r>
            <a:r>
              <a:rPr lang="en-US" dirty="0"/>
              <a:t> de Dados</a:t>
            </a:r>
          </a:p>
        </p:txBody>
      </p:sp>
    </p:spTree>
    <p:extLst>
      <p:ext uri="{BB962C8B-B14F-4D97-AF65-F5344CB8AC3E}">
        <p14:creationId xmlns:p14="http://schemas.microsoft.com/office/powerpoint/2010/main" val="93531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0" y="456912"/>
            <a:ext cx="19967944" cy="20276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 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O que é um dado?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44279" y="3961537"/>
            <a:ext cx="22647349" cy="6991258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317635" y="4422802"/>
            <a:ext cx="21766192" cy="6529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dirty="0"/>
              <a:t>Dado pode ser definido como uma sequência de símbolos quantificados ou quantificáveis.</a:t>
            </a:r>
          </a:p>
          <a:p>
            <a:pPr marL="1143000" indent="-1143000">
              <a:buFont typeface="Wingdings" panose="05000000000000000000" pitchFamily="2" charset="2"/>
              <a:buChar char="v"/>
            </a:pPr>
            <a:r>
              <a:rPr lang="pt-BR" dirty="0"/>
              <a:t>Ele sozinho não tem significado algum.</a:t>
            </a:r>
          </a:p>
          <a:p>
            <a:pPr marL="1143000" indent="-1143000">
              <a:buFont typeface="Wingdings" panose="05000000000000000000" pitchFamily="2" charset="2"/>
              <a:buChar char="v"/>
            </a:pPr>
            <a:r>
              <a:rPr lang="pt-BR" dirty="0"/>
              <a:t>São dados: Textos, números, fotos, figuras, sons gravados e animação.</a:t>
            </a:r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dirty="0"/>
              <a:t>Isto significa que os dados podem ser totalmente descritos através de representações formais, estruturais. </a:t>
            </a:r>
          </a:p>
        </p:txBody>
      </p:sp>
    </p:spTree>
    <p:extLst>
      <p:ext uri="{BB962C8B-B14F-4D97-AF65-F5344CB8AC3E}">
        <p14:creationId xmlns:p14="http://schemas.microsoft.com/office/powerpoint/2010/main" val="768227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01386" y="3745241"/>
            <a:ext cx="21242792" cy="9566474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E6D92A-835B-4ACE-A31B-F9C5C84824F1}"/>
              </a:ext>
            </a:extLst>
          </p:cNvPr>
          <p:cNvSpPr txBox="1"/>
          <p:nvPr/>
        </p:nvSpPr>
        <p:spPr>
          <a:xfrm>
            <a:off x="1878975" y="4644383"/>
            <a:ext cx="19382000" cy="6626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lnSpc>
                <a:spcPts val="5500"/>
              </a:lnSpc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DADO: Ele sozinho tem significado restrito ou desconhecido. </a:t>
            </a:r>
          </a:p>
          <a:p>
            <a:pPr marL="1143000" indent="-1143000">
              <a:lnSpc>
                <a:spcPts val="5500"/>
              </a:lnSpc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INFORMAÇÃO: Fato interpretado e associado a um significado. </a:t>
            </a:r>
            <a:br>
              <a:rPr 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</a:br>
            <a:r>
              <a:rPr 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Trata-se do dado contextualizado.</a:t>
            </a:r>
          </a:p>
          <a:p>
            <a:pPr marL="1143000" indent="-1143000">
              <a:lnSpc>
                <a:spcPts val="5500"/>
              </a:lnSpc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CONHECIMENTO: É um conjunto de informações, referendado pela experiência, que possibilita o domínio e o entendimento aplicável a um contexto.</a:t>
            </a:r>
          </a:p>
          <a:p>
            <a:pPr marL="1143000" indent="-1143000">
              <a:lnSpc>
                <a:spcPts val="5500"/>
              </a:lnSpc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INTELIGÊNCIA: É o conhecimento armazenado colocado em ação.</a:t>
            </a:r>
          </a:p>
          <a:p>
            <a:pPr>
              <a:lnSpc>
                <a:spcPts val="5500"/>
              </a:lnSpc>
              <a:spcAft>
                <a:spcPts val="1800"/>
              </a:spcAft>
            </a:pPr>
            <a:r>
              <a:rPr lang="pt-BR" sz="6600" baseline="30000" dirty="0">
                <a:solidFill>
                  <a:srgbClr val="0074B0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351F3A9-44DB-4BCE-8398-69141D30C96F}"/>
              </a:ext>
            </a:extLst>
          </p:cNvPr>
          <p:cNvSpPr/>
          <p:nvPr/>
        </p:nvSpPr>
        <p:spPr>
          <a:xfrm>
            <a:off x="3140488" y="11040789"/>
            <a:ext cx="1637579" cy="1424763"/>
          </a:xfrm>
          <a:prstGeom prst="ellipse">
            <a:avLst/>
          </a:prstGeom>
          <a:solidFill>
            <a:srgbClr val="0074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DADO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F62E319-9D38-42ED-970F-0F624872D9C4}"/>
              </a:ext>
            </a:extLst>
          </p:cNvPr>
          <p:cNvSpPr/>
          <p:nvPr/>
        </p:nvSpPr>
        <p:spPr>
          <a:xfrm>
            <a:off x="5972291" y="10506174"/>
            <a:ext cx="2803618" cy="2414273"/>
          </a:xfrm>
          <a:prstGeom prst="ellipse">
            <a:avLst/>
          </a:prstGeom>
          <a:solidFill>
            <a:srgbClr val="0074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INFORMAÇÃO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4F303D5E-3B25-484F-847C-BF00733B31CD}"/>
              </a:ext>
            </a:extLst>
          </p:cNvPr>
          <p:cNvSpPr/>
          <p:nvPr/>
        </p:nvSpPr>
        <p:spPr>
          <a:xfrm>
            <a:off x="9816002" y="10198512"/>
            <a:ext cx="3255459" cy="2806995"/>
          </a:xfrm>
          <a:prstGeom prst="ellipse">
            <a:avLst/>
          </a:prstGeom>
          <a:solidFill>
            <a:srgbClr val="0074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CONHECIMENTO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3B40619-CB41-438D-B95E-CFE779A1FFF4}"/>
              </a:ext>
            </a:extLst>
          </p:cNvPr>
          <p:cNvSpPr/>
          <p:nvPr/>
        </p:nvSpPr>
        <p:spPr>
          <a:xfrm>
            <a:off x="14486700" y="10094459"/>
            <a:ext cx="3934297" cy="3390184"/>
          </a:xfrm>
          <a:prstGeom prst="ellipse">
            <a:avLst/>
          </a:prstGeom>
          <a:solidFill>
            <a:srgbClr val="0074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INTELIGÊNCIA/</a:t>
            </a:r>
          </a:p>
          <a:p>
            <a:pPr algn="ctr"/>
            <a:r>
              <a:rPr lang="pt-BR" sz="2800" b="1" dirty="0"/>
              <a:t>COMPETÊNCIA/</a:t>
            </a:r>
          </a:p>
          <a:p>
            <a:pPr algn="ctr"/>
            <a:r>
              <a:rPr lang="pt-BR" sz="2800" b="1" dirty="0"/>
              <a:t>SABEDORIA</a:t>
            </a: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D599BEE6-C731-4439-979B-357548474BDB}"/>
              </a:ext>
            </a:extLst>
          </p:cNvPr>
          <p:cNvSpPr/>
          <p:nvPr/>
        </p:nvSpPr>
        <p:spPr>
          <a:xfrm>
            <a:off x="5033248" y="11700008"/>
            <a:ext cx="784912" cy="2764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6197BA0C-E5EE-4F6B-9D4E-8A73B6CA854B}"/>
              </a:ext>
            </a:extLst>
          </p:cNvPr>
          <p:cNvSpPr/>
          <p:nvPr/>
        </p:nvSpPr>
        <p:spPr>
          <a:xfrm>
            <a:off x="8930040" y="11700008"/>
            <a:ext cx="784912" cy="2764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0019FFC4-CC0B-4FE4-A793-7DEE2F61762A}"/>
              </a:ext>
            </a:extLst>
          </p:cNvPr>
          <p:cNvSpPr/>
          <p:nvPr/>
        </p:nvSpPr>
        <p:spPr>
          <a:xfrm>
            <a:off x="13226209" y="11644539"/>
            <a:ext cx="784912" cy="2764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9E75A73-2E00-43EB-80A9-9DAF9E4F46FA}"/>
              </a:ext>
            </a:extLst>
          </p:cNvPr>
          <p:cNvSpPr txBox="1">
            <a:spLocks/>
          </p:cNvSpPr>
          <p:nvPr/>
        </p:nvSpPr>
        <p:spPr>
          <a:xfrm>
            <a:off x="0" y="456912"/>
            <a:ext cx="19967944" cy="20276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 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O que é um dado?</a:t>
            </a:r>
          </a:p>
        </p:txBody>
      </p:sp>
    </p:spTree>
    <p:extLst>
      <p:ext uri="{BB962C8B-B14F-4D97-AF65-F5344CB8AC3E}">
        <p14:creationId xmlns:p14="http://schemas.microsoft.com/office/powerpoint/2010/main" val="90932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44279" y="3961536"/>
            <a:ext cx="22647349" cy="913777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5D95761-4691-4126-8D1F-9A849639DA03}"/>
              </a:ext>
            </a:extLst>
          </p:cNvPr>
          <p:cNvSpPr txBox="1"/>
          <p:nvPr/>
        </p:nvSpPr>
        <p:spPr>
          <a:xfrm>
            <a:off x="1317635" y="4757498"/>
            <a:ext cx="21766192" cy="817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143000" indent="-11430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v"/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r>
              <a:rPr lang="pt-BR" dirty="0"/>
              <a:t>Modelagem de dados é um processo de levantamento, tratamento e estruturação de dados negociais através dos requisitos de sistemas.</a:t>
            </a:r>
          </a:p>
          <a:p>
            <a:r>
              <a:rPr lang="pt-BR" dirty="0"/>
              <a:t>Um Modelo de Dados pode ser definido em vários níveis de abstração. </a:t>
            </a:r>
          </a:p>
          <a:p>
            <a:r>
              <a:rPr lang="pt-BR" dirty="0"/>
              <a:t>Abstração é o resultado de uma operação mental que  depende do fenômeno observado e do  interesse do observador. Abstrações diferentes geram representações distintas.</a:t>
            </a:r>
          </a:p>
          <a:p>
            <a:r>
              <a:rPr lang="pt-BR" dirty="0"/>
              <a:t>O Modelo de dados Conceitual é uma descrição dos conceitos do negócio onde mostra como a informação será organizada, de forma independente da implementação no meio físico (SGBD).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F3CA92-9910-4070-8BAB-A4F6B6225CD7}"/>
              </a:ext>
            </a:extLst>
          </p:cNvPr>
          <p:cNvSpPr txBox="1">
            <a:spLocks/>
          </p:cNvSpPr>
          <p:nvPr/>
        </p:nvSpPr>
        <p:spPr>
          <a:xfrm>
            <a:off x="507230" y="1675186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893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403145" y="273049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Projeto</a:t>
            </a:r>
            <a:r>
              <a:rPr lang="en-US" sz="6600" dirty="0">
                <a:latin typeface="Tw Cen MT" panose="020B0602020104020603" pitchFamily="34" charset="77"/>
              </a:rPr>
              <a:t> de Banco de Dados 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613692" y="12712701"/>
            <a:ext cx="5438227" cy="7255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03145" y="2743201"/>
            <a:ext cx="23686602" cy="1044117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4" descr="Uma imagem contendo espelho&#10;&#10;Descrição gerada automaticamente">
            <a:extLst>
              <a:ext uri="{FF2B5EF4-FFF2-40B4-BE49-F238E27FC236}">
                <a16:creationId xmlns:a16="http://schemas.microsoft.com/office/drawing/2014/main" id="{AD7B2EAD-D0F1-4844-A384-736C8B03F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630" y="4826000"/>
            <a:ext cx="843833" cy="843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D9DF45B9-59D9-4A19-B795-75F199E67AE8}"/>
              </a:ext>
            </a:extLst>
          </p:cNvPr>
          <p:cNvSpPr/>
          <p:nvPr/>
        </p:nvSpPr>
        <p:spPr>
          <a:xfrm>
            <a:off x="464491" y="5969000"/>
            <a:ext cx="3412184" cy="580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dirty="0"/>
              <a:t>Visão Externa</a:t>
            </a:r>
          </a:p>
        </p:txBody>
      </p:sp>
      <p:pic>
        <p:nvPicPr>
          <p:cNvPr id="12" name="Imagem 3">
            <a:extLst>
              <a:ext uri="{FF2B5EF4-FFF2-40B4-BE49-F238E27FC236}">
                <a16:creationId xmlns:a16="http://schemas.microsoft.com/office/drawing/2014/main" id="{33086D35-9263-4899-AF5E-C9A786BB4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559" y="5241925"/>
            <a:ext cx="1350133" cy="900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m 8">
            <a:extLst>
              <a:ext uri="{FF2B5EF4-FFF2-40B4-BE49-F238E27FC236}">
                <a16:creationId xmlns:a16="http://schemas.microsoft.com/office/drawing/2014/main" id="{BD13292D-EF99-4CC7-AF31-39A412A8D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201" y="6229110"/>
            <a:ext cx="1315433" cy="87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Imagem 9">
            <a:extLst>
              <a:ext uri="{FF2B5EF4-FFF2-40B4-BE49-F238E27FC236}">
                <a16:creationId xmlns:a16="http://schemas.microsoft.com/office/drawing/2014/main" id="{2DDC35A0-C8ED-4BEB-BBEB-2930465EB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159" y="4252913"/>
            <a:ext cx="1350133" cy="900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m 12" descr="Uma imagem contendo espelho&#10;&#10;Descrição gerada automaticamente">
            <a:extLst>
              <a:ext uri="{FF2B5EF4-FFF2-40B4-BE49-F238E27FC236}">
                <a16:creationId xmlns:a16="http://schemas.microsoft.com/office/drawing/2014/main" id="{1FF70ED9-1824-4016-9890-95EF53845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668" y="4797425"/>
            <a:ext cx="843832" cy="843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Imagem 13" descr="Uma imagem contendo espelho&#10;&#10;Descrição gerada automaticamente">
            <a:extLst>
              <a:ext uri="{FF2B5EF4-FFF2-40B4-BE49-F238E27FC236}">
                <a16:creationId xmlns:a16="http://schemas.microsoft.com/office/drawing/2014/main" id="{2891AA28-20DC-428E-BB9E-566D97C88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55" y="4878388"/>
            <a:ext cx="843833" cy="843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m 14" descr="Uma imagem contendo mesa, computador&#10;&#10;Descrição gerada automaticamente">
            <a:extLst>
              <a:ext uri="{FF2B5EF4-FFF2-40B4-BE49-F238E27FC236}">
                <a16:creationId xmlns:a16="http://schemas.microsoft.com/office/drawing/2014/main" id="{AFCE1E7E-91F6-49C5-8E07-AFE2A2E60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3613" y="10288863"/>
            <a:ext cx="1451077" cy="2083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01E1FE52-7BC6-4EF6-A8FD-F7035120DF19}"/>
              </a:ext>
            </a:extLst>
          </p:cNvPr>
          <p:cNvSpPr/>
          <p:nvPr/>
        </p:nvSpPr>
        <p:spPr>
          <a:xfrm rot="16200000">
            <a:off x="4853090" y="5070470"/>
            <a:ext cx="798092" cy="11368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22" name="CaixaDeTexto 30">
            <a:extLst>
              <a:ext uri="{FF2B5EF4-FFF2-40B4-BE49-F238E27FC236}">
                <a16:creationId xmlns:a16="http://schemas.microsoft.com/office/drawing/2014/main" id="{41F472E0-8FB1-48EA-AAE3-6CAF58005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445" y="7486650"/>
            <a:ext cx="5052235" cy="52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/>
              <a:t>Requisitos / Histórias de Usuário</a:t>
            </a:r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66B55EDE-7675-453F-89D9-9ED69E888E45}"/>
              </a:ext>
            </a:extLst>
          </p:cNvPr>
          <p:cNvSpPr/>
          <p:nvPr/>
        </p:nvSpPr>
        <p:spPr>
          <a:xfrm rot="16200000">
            <a:off x="8141074" y="5055180"/>
            <a:ext cx="799669" cy="11368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24" name="CaixaDeTexto 32">
            <a:extLst>
              <a:ext uri="{FF2B5EF4-FFF2-40B4-BE49-F238E27FC236}">
                <a16:creationId xmlns:a16="http://schemas.microsoft.com/office/drawing/2014/main" id="{B1F9946B-0830-4FAB-8734-38BD2945C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6298" y="7602539"/>
            <a:ext cx="4398102" cy="52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 dirty="0"/>
              <a:t>Modelo de dados Conceitual</a:t>
            </a:r>
          </a:p>
        </p:txBody>
      </p:sp>
      <p:sp>
        <p:nvSpPr>
          <p:cNvPr id="25" name="CaixaDeTexto 33">
            <a:extLst>
              <a:ext uri="{FF2B5EF4-FFF2-40B4-BE49-F238E27FC236}">
                <a16:creationId xmlns:a16="http://schemas.microsoft.com/office/drawing/2014/main" id="{9D268525-F674-41A2-A423-AF8A87078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5675" y="7385051"/>
            <a:ext cx="3769126" cy="52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 dirty="0"/>
              <a:t>Modelo de dados Lógico</a:t>
            </a:r>
          </a:p>
        </p:txBody>
      </p:sp>
      <p:sp>
        <p:nvSpPr>
          <p:cNvPr id="26" name="Seta: para Baixo 25">
            <a:extLst>
              <a:ext uri="{FF2B5EF4-FFF2-40B4-BE49-F238E27FC236}">
                <a16:creationId xmlns:a16="http://schemas.microsoft.com/office/drawing/2014/main" id="{507BF057-6742-49F0-9FC7-05F741E8E92B}"/>
              </a:ext>
            </a:extLst>
          </p:cNvPr>
          <p:cNvSpPr/>
          <p:nvPr/>
        </p:nvSpPr>
        <p:spPr>
          <a:xfrm rot="16200000">
            <a:off x="16796415" y="5386636"/>
            <a:ext cx="798092" cy="11368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27" name="Seta: para Baixo 26">
            <a:extLst>
              <a:ext uri="{FF2B5EF4-FFF2-40B4-BE49-F238E27FC236}">
                <a16:creationId xmlns:a16="http://schemas.microsoft.com/office/drawing/2014/main" id="{83F65B1D-EB19-48EB-940D-8676C670BCF9}"/>
              </a:ext>
            </a:extLst>
          </p:cNvPr>
          <p:cNvSpPr/>
          <p:nvPr/>
        </p:nvSpPr>
        <p:spPr>
          <a:xfrm rot="16200000">
            <a:off x="12661208" y="10608130"/>
            <a:ext cx="798092" cy="11368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28" name="Retângulo 39">
            <a:extLst>
              <a:ext uri="{FF2B5EF4-FFF2-40B4-BE49-F238E27FC236}">
                <a16:creationId xmlns:a16="http://schemas.microsoft.com/office/drawing/2014/main" id="{09D9A475-E8C8-41F8-8279-5D999C972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77" y="8394700"/>
            <a:ext cx="380214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Dependente de SGBD</a:t>
            </a:r>
          </a:p>
        </p:txBody>
      </p:sp>
      <p:pic>
        <p:nvPicPr>
          <p:cNvPr id="29" name="Imagem 41">
            <a:extLst>
              <a:ext uri="{FF2B5EF4-FFF2-40B4-BE49-F238E27FC236}">
                <a16:creationId xmlns:a16="http://schemas.microsoft.com/office/drawing/2014/main" id="{CFD0F087-01E9-49B2-9AF4-C433CC3B9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2286" y="8605137"/>
            <a:ext cx="2198697" cy="1764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E81A476-7EF6-4127-B583-1DC80421C270}"/>
              </a:ext>
            </a:extLst>
          </p:cNvPr>
          <p:cNvCxnSpPr>
            <a:cxnSpLocks/>
          </p:cNvCxnSpPr>
          <p:nvPr/>
        </p:nvCxnSpPr>
        <p:spPr>
          <a:xfrm>
            <a:off x="226516" y="8348663"/>
            <a:ext cx="236431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8">
            <a:extLst>
              <a:ext uri="{FF2B5EF4-FFF2-40B4-BE49-F238E27FC236}">
                <a16:creationId xmlns:a16="http://schemas.microsoft.com/office/drawing/2014/main" id="{263C3B83-A512-4AAA-97BD-0D4AE6671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26" y="7675563"/>
            <a:ext cx="8184524" cy="9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Independente de SGBD</a:t>
            </a:r>
            <a:r>
              <a:rPr lang="pt-BR" altLang="pt-BR" sz="4400" b="1" dirty="0"/>
              <a:t>	</a:t>
            </a:r>
            <a:endParaRPr lang="pt-BR" altLang="pt-BR" sz="40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9B8E4E1-65D4-4CD0-AF35-2C3D09BB4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314" y="12628589"/>
            <a:ext cx="3652111" cy="519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 dirty="0"/>
              <a:t>Modelo de dados Físico</a:t>
            </a:r>
          </a:p>
        </p:txBody>
      </p:sp>
      <p:sp>
        <p:nvSpPr>
          <p:cNvPr id="35" name="CaixaDeTexto 33">
            <a:extLst>
              <a:ext uri="{FF2B5EF4-FFF2-40B4-BE49-F238E27FC236}">
                <a16:creationId xmlns:a16="http://schemas.microsoft.com/office/drawing/2014/main" id="{307890A4-CDB2-4F86-B9D0-E1A405F49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8877" y="12728954"/>
            <a:ext cx="3023027" cy="519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 dirty="0"/>
              <a:t>DDL Implementada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9930BAD-2C70-48F9-BD90-A63D08D63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45942" y="4115985"/>
            <a:ext cx="6843804" cy="2946721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715B4287-692B-4307-83D9-8199FFF183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2124" y="8928563"/>
            <a:ext cx="5997119" cy="3624460"/>
          </a:xfrm>
          <a:prstGeom prst="rect">
            <a:avLst/>
          </a:prstGeom>
        </p:spPr>
      </p:pic>
      <p:sp>
        <p:nvSpPr>
          <p:cNvPr id="40" name="CaixaDeTexto 33">
            <a:extLst>
              <a:ext uri="{FF2B5EF4-FFF2-40B4-BE49-F238E27FC236}">
                <a16:creationId xmlns:a16="http://schemas.microsoft.com/office/drawing/2014/main" id="{0B74888E-B84C-405D-9497-39E531787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4347" y="12310650"/>
            <a:ext cx="1002213" cy="519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2800" b="1" dirty="0"/>
              <a:t>SGBD</a:t>
            </a:r>
          </a:p>
        </p:txBody>
      </p:sp>
      <p:sp>
        <p:nvSpPr>
          <p:cNvPr id="30" name="Line 1029">
            <a:extLst>
              <a:ext uri="{FF2B5EF4-FFF2-40B4-BE49-F238E27FC236}">
                <a16:creationId xmlns:a16="http://schemas.microsoft.com/office/drawing/2014/main" id="{E84C5E5D-752E-4DE9-8C94-D5A1D73124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886308" y="4869229"/>
            <a:ext cx="471731" cy="10394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3" name="Line 1030">
            <a:extLst>
              <a:ext uri="{FF2B5EF4-FFF2-40B4-BE49-F238E27FC236}">
                <a16:creationId xmlns:a16="http://schemas.microsoft.com/office/drawing/2014/main" id="{26C6E02B-FE1C-44A4-A40A-AEE7211BA9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230988" y="4869229"/>
            <a:ext cx="312915" cy="10394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7" name="Line 1031">
            <a:extLst>
              <a:ext uri="{FF2B5EF4-FFF2-40B4-BE49-F238E27FC236}">
                <a16:creationId xmlns:a16="http://schemas.microsoft.com/office/drawing/2014/main" id="{54B5495B-BF26-46E1-8568-F7FCADF72E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60455" y="5181968"/>
            <a:ext cx="155672" cy="6261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8" name="Line 1033">
            <a:extLst>
              <a:ext uri="{FF2B5EF4-FFF2-40B4-BE49-F238E27FC236}">
                <a16:creationId xmlns:a16="http://schemas.microsoft.com/office/drawing/2014/main" id="{9EEE2D35-784F-4330-A90B-16F38BD67D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851718" y="4451718"/>
            <a:ext cx="393109" cy="135171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1" name="Line 1034">
            <a:extLst>
              <a:ext uri="{FF2B5EF4-FFF2-40B4-BE49-F238E27FC236}">
                <a16:creationId xmlns:a16="http://schemas.microsoft.com/office/drawing/2014/main" id="{0944EA2F-FA90-4258-A4E2-D1C57A1F1D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69123" y="5288329"/>
            <a:ext cx="548780" cy="62301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2" name="Text Box 1035">
            <a:extLst>
              <a:ext uri="{FF2B5EF4-FFF2-40B4-BE49-F238E27FC236}">
                <a16:creationId xmlns:a16="http://schemas.microsoft.com/office/drawing/2014/main" id="{B1DF06A7-B547-4B07-A8D3-E22F305EA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4303" y="5810618"/>
            <a:ext cx="1487524" cy="414819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pt-BR" altLang="pt-BR" sz="1400" dirty="0">
                <a:solidFill>
                  <a:schemeClr val="tx1"/>
                </a:solidFill>
              </a:rPr>
              <a:t>CLIENTE</a:t>
            </a:r>
          </a:p>
        </p:txBody>
      </p:sp>
      <p:sp>
        <p:nvSpPr>
          <p:cNvPr id="43" name="Text Box 1036">
            <a:extLst>
              <a:ext uri="{FF2B5EF4-FFF2-40B4-BE49-F238E27FC236}">
                <a16:creationId xmlns:a16="http://schemas.microsoft.com/office/drawing/2014/main" id="{B67EAD9B-AA02-4683-8E56-16B49FA9A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8253" y="5799505"/>
            <a:ext cx="1487524" cy="414819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pt-BR" altLang="pt-BR" sz="1400">
                <a:solidFill>
                  <a:schemeClr val="tx1"/>
                </a:solidFill>
              </a:rPr>
              <a:t>CONTA</a:t>
            </a:r>
          </a:p>
        </p:txBody>
      </p:sp>
      <p:sp>
        <p:nvSpPr>
          <p:cNvPr id="44" name="Line 1037">
            <a:extLst>
              <a:ext uri="{FF2B5EF4-FFF2-40B4-BE49-F238E27FC236}">
                <a16:creationId xmlns:a16="http://schemas.microsoft.com/office/drawing/2014/main" id="{D9557B23-9C60-450C-9567-F48EA325E2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21311" y="5957664"/>
            <a:ext cx="1182691" cy="6367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" name="Line 1038">
            <a:extLst>
              <a:ext uri="{FF2B5EF4-FFF2-40B4-BE49-F238E27FC236}">
                <a16:creationId xmlns:a16="http://schemas.microsoft.com/office/drawing/2014/main" id="{7BEB7AFA-CBA7-4FCA-A5EE-13F4310402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11670" y="6021755"/>
            <a:ext cx="117618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/>
          </a:p>
        </p:txBody>
      </p:sp>
      <p:sp>
        <p:nvSpPr>
          <p:cNvPr id="46" name="AutoShape 1040">
            <a:extLst>
              <a:ext uri="{FF2B5EF4-FFF2-40B4-BE49-F238E27FC236}">
                <a16:creationId xmlns:a16="http://schemas.microsoft.com/office/drawing/2014/main" id="{0992E05A-BDC0-4553-820D-6933C014E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77871" y="5571443"/>
            <a:ext cx="1712382" cy="9085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pt-BR" altLang="pt-BR" sz="1400" dirty="0">
                <a:solidFill>
                  <a:schemeClr val="tx1"/>
                </a:solidFill>
              </a:rPr>
              <a:t>DEPOSI-TANTE</a:t>
            </a:r>
          </a:p>
        </p:txBody>
      </p:sp>
      <p:sp>
        <p:nvSpPr>
          <p:cNvPr id="47" name="Oval 1043">
            <a:extLst>
              <a:ext uri="{FF2B5EF4-FFF2-40B4-BE49-F238E27FC236}">
                <a16:creationId xmlns:a16="http://schemas.microsoft.com/office/drawing/2014/main" id="{CDE3F869-1C64-4D8D-AB59-AA5772B89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6489" y="4866055"/>
            <a:ext cx="1509538" cy="45425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altLang="pt-BR" sz="1400" dirty="0" err="1">
                <a:solidFill>
                  <a:schemeClr val="tx1"/>
                </a:solidFill>
              </a:rPr>
              <a:t>No_cliente</a:t>
            </a:r>
            <a:endParaRPr lang="pt-BR" altLang="pt-BR" sz="1400" dirty="0">
              <a:solidFill>
                <a:schemeClr val="tx1"/>
              </a:solidFill>
            </a:endParaRPr>
          </a:p>
        </p:txBody>
      </p:sp>
      <p:sp>
        <p:nvSpPr>
          <p:cNvPr id="48" name="Oval 1046">
            <a:extLst>
              <a:ext uri="{FF2B5EF4-FFF2-40B4-BE49-F238E27FC236}">
                <a16:creationId xmlns:a16="http://schemas.microsoft.com/office/drawing/2014/main" id="{F63CEF96-FD4A-4B15-8535-6C3F57B73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9408" y="4462830"/>
            <a:ext cx="1237507" cy="507877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altLang="pt-BR" sz="1400">
                <a:solidFill>
                  <a:schemeClr val="tx1"/>
                </a:solidFill>
              </a:rPr>
              <a:t>Nr_conta</a:t>
            </a:r>
          </a:p>
        </p:txBody>
      </p:sp>
      <p:sp>
        <p:nvSpPr>
          <p:cNvPr id="49" name="Oval 1052">
            <a:extLst>
              <a:ext uri="{FF2B5EF4-FFF2-40B4-BE49-F238E27FC236}">
                <a16:creationId xmlns:a16="http://schemas.microsoft.com/office/drawing/2014/main" id="{3F8F5A75-4C99-4E12-BD5D-795368928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41542" y="4137394"/>
            <a:ext cx="1649485" cy="413242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altLang="pt-BR" sz="1400">
                <a:solidFill>
                  <a:schemeClr val="tx1"/>
                </a:solidFill>
              </a:rPr>
              <a:t>Rua_cliente</a:t>
            </a:r>
          </a:p>
        </p:txBody>
      </p:sp>
      <p:sp>
        <p:nvSpPr>
          <p:cNvPr id="50" name="Oval 1055">
            <a:extLst>
              <a:ext uri="{FF2B5EF4-FFF2-40B4-BE49-F238E27FC236}">
                <a16:creationId xmlns:a16="http://schemas.microsoft.com/office/drawing/2014/main" id="{F247DD73-7468-44F2-AB10-73CD25BBC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3089" y="4553318"/>
            <a:ext cx="1018938" cy="417974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altLang="pt-BR" sz="1400">
                <a:solidFill>
                  <a:schemeClr val="tx1"/>
                </a:solidFill>
              </a:rPr>
              <a:t>saldo</a:t>
            </a:r>
          </a:p>
        </p:txBody>
      </p:sp>
      <p:sp>
        <p:nvSpPr>
          <p:cNvPr id="51" name="Oval 1058">
            <a:extLst>
              <a:ext uri="{FF2B5EF4-FFF2-40B4-BE49-F238E27FC236}">
                <a16:creationId xmlns:a16="http://schemas.microsoft.com/office/drawing/2014/main" id="{8CE9002E-4ACE-47B9-85D5-E77ACB7AE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9109" y="4789855"/>
            <a:ext cx="1490668" cy="507877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altLang="pt-BR" sz="1400">
                <a:solidFill>
                  <a:schemeClr val="tx1"/>
                </a:solidFill>
              </a:rPr>
              <a:t>cid_cliente</a:t>
            </a:r>
          </a:p>
        </p:txBody>
      </p:sp>
    </p:spTree>
    <p:extLst>
      <p:ext uri="{BB962C8B-B14F-4D97-AF65-F5344CB8AC3E}">
        <p14:creationId xmlns:p14="http://schemas.microsoft.com/office/powerpoint/2010/main" val="400858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59218" y="4274164"/>
            <a:ext cx="22647349" cy="6991258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3BA3AD9-6692-44F6-9EB4-313350C17D9A}"/>
              </a:ext>
            </a:extLst>
          </p:cNvPr>
          <p:cNvSpPr/>
          <p:nvPr/>
        </p:nvSpPr>
        <p:spPr>
          <a:xfrm>
            <a:off x="7787060" y="4845916"/>
            <a:ext cx="15708312" cy="495520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Visão Externa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indent="-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Universo de interesse para tratamento de informações.</a:t>
            </a:r>
          </a:p>
          <a:p>
            <a:pPr indent="-6858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Gestores da informação que são responsáveis por identificar o universo de interesse.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Seres, Fatos, Objetos, Organismos Sociais...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C248822-F75F-47EA-84DF-28A69C30F5E5}"/>
              </a:ext>
            </a:extLst>
          </p:cNvPr>
          <p:cNvSpPr txBox="1">
            <a:spLocks/>
          </p:cNvSpPr>
          <p:nvPr/>
        </p:nvSpPr>
        <p:spPr>
          <a:xfrm>
            <a:off x="403145" y="273049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Projeto</a:t>
            </a:r>
            <a:r>
              <a:rPr lang="en-US" sz="6600" dirty="0">
                <a:latin typeface="Tw Cen MT" panose="020B0602020104020603" pitchFamily="34" charset="77"/>
              </a:rPr>
              <a:t> de Banco de Dados </a:t>
            </a:r>
          </a:p>
        </p:txBody>
      </p:sp>
      <p:pic>
        <p:nvPicPr>
          <p:cNvPr id="10" name="Imagem 4" descr="Uma imagem contendo espelho&#10;&#10;Descrição gerada automaticamente">
            <a:extLst>
              <a:ext uri="{FF2B5EF4-FFF2-40B4-BE49-F238E27FC236}">
                <a16:creationId xmlns:a16="http://schemas.microsoft.com/office/drawing/2014/main" id="{BB4C4840-CEF1-4695-B6B9-FE22B1E50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99" y="6042593"/>
            <a:ext cx="849313" cy="84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6BB6DDA2-52A9-4396-A585-46894DAC092B}"/>
              </a:ext>
            </a:extLst>
          </p:cNvPr>
          <p:cNvSpPr/>
          <p:nvPr/>
        </p:nvSpPr>
        <p:spPr>
          <a:xfrm>
            <a:off x="2047949" y="7185593"/>
            <a:ext cx="3444875" cy="584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200" dirty="0"/>
              <a:t>Visão Externa</a:t>
            </a:r>
          </a:p>
        </p:txBody>
      </p:sp>
      <p:pic>
        <p:nvPicPr>
          <p:cNvPr id="12" name="Imagem 12" descr="Uma imagem contendo espelho&#10;&#10;Descrição gerada automaticamente">
            <a:extLst>
              <a:ext uri="{FF2B5EF4-FFF2-40B4-BE49-F238E27FC236}">
                <a16:creationId xmlns:a16="http://schemas.microsoft.com/office/drawing/2014/main" id="{F0C4273A-89C9-48C6-90A0-371CA672B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337" y="6014018"/>
            <a:ext cx="849312" cy="84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m 13" descr="Uma imagem contendo espelho&#10;&#10;Descrição gerada automaticamente">
            <a:extLst>
              <a:ext uri="{FF2B5EF4-FFF2-40B4-BE49-F238E27FC236}">
                <a16:creationId xmlns:a16="http://schemas.microsoft.com/office/drawing/2014/main" id="{EEFA1ABF-41B1-458F-83F5-4FE1C49CD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224" y="6094981"/>
            <a:ext cx="849313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640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0" y="3439886"/>
            <a:ext cx="24209829" cy="1000306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7">
            <a:extLst>
              <a:ext uri="{FF2B5EF4-FFF2-40B4-BE49-F238E27FC236}">
                <a16:creationId xmlns:a16="http://schemas.microsoft.com/office/drawing/2014/main" id="{48FC47C1-F3E5-4477-A56D-5BD8E1B4B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280" y="3439886"/>
            <a:ext cx="23618460" cy="13952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Descritivo</a:t>
            </a:r>
          </a:p>
          <a:p>
            <a:pPr eaLnBrk="1" hangingPunct="1"/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Descrição de objetos, conceitos e regras em linguagem natural.</a:t>
            </a:r>
          </a:p>
          <a:p>
            <a:pPr indent="-285750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Especificação de Requisitos é um formalismo que se faz necessário</a:t>
            </a:r>
          </a:p>
          <a:p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e permite:</a:t>
            </a:r>
          </a:p>
          <a:p>
            <a:pPr marL="1885950" lvl="5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Definir o escopo/abrangência do trabalho.</a:t>
            </a:r>
          </a:p>
          <a:p>
            <a:pPr marL="1885950" lvl="5" indent="-857250">
              <a:buFont typeface="Arial" panose="020B0604020202020204" pitchFamily="34" charset="0"/>
              <a:buChar char="•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Identificar os objetos relevantes para o negócio. </a:t>
            </a:r>
          </a:p>
          <a:p>
            <a:pPr marL="857250" indent="-8572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Técnicas como entrevistas, reuniões, questionários são bastante utilizadas. </a:t>
            </a:r>
          </a:p>
          <a:p>
            <a:pPr>
              <a:lnSpc>
                <a:spcPct val="90000"/>
              </a:lnSpc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requisitos serão insumos fundamentais para a elaboração do modelo de dados.</a:t>
            </a:r>
          </a:p>
          <a:p>
            <a:pPr>
              <a:lnSpc>
                <a:spcPct val="90000"/>
              </a:lnSpc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participação do AD na etapa de levantamento das informações contribuirá de forma relevante para o conhecimento do negócio resultando em agilidade no processo de validação do modelo de dados.</a:t>
            </a:r>
          </a:p>
          <a:p>
            <a:pPr marL="1428750" lvl="4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885950" lvl="5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11" name="Imagem 4">
            <a:extLst>
              <a:ext uri="{FF2B5EF4-FFF2-40B4-BE49-F238E27FC236}">
                <a16:creationId xmlns:a16="http://schemas.microsoft.com/office/drawing/2014/main" id="{BAA02FD3-4B34-4996-BA6E-1B1D3DAD0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1373" y="3875412"/>
            <a:ext cx="4510325" cy="361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63928ED-B2AA-4816-B515-A82EB52682B6}"/>
              </a:ext>
            </a:extLst>
          </p:cNvPr>
          <p:cNvSpPr txBox="1">
            <a:spLocks/>
          </p:cNvSpPr>
          <p:nvPr/>
        </p:nvSpPr>
        <p:spPr>
          <a:xfrm>
            <a:off x="403145" y="273049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Projeto</a:t>
            </a:r>
            <a:r>
              <a:rPr lang="en-US" sz="6600" dirty="0">
                <a:latin typeface="Tw Cen MT" panose="020B0602020104020603" pitchFamily="34" charset="77"/>
              </a:rPr>
              <a:t> de Banco de Dados </a:t>
            </a:r>
          </a:p>
        </p:txBody>
      </p:sp>
    </p:spTree>
    <p:extLst>
      <p:ext uri="{BB962C8B-B14F-4D97-AF65-F5344CB8AC3E}">
        <p14:creationId xmlns:p14="http://schemas.microsoft.com/office/powerpoint/2010/main" val="61720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03145" y="3297750"/>
            <a:ext cx="23435050" cy="98440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3">
            <a:extLst>
              <a:ext uri="{FF2B5EF4-FFF2-40B4-BE49-F238E27FC236}">
                <a16:creationId xmlns:a16="http://schemas.microsoft.com/office/drawing/2014/main" id="{6A4F5BC8-37A0-4DBA-9ADC-58FE23B5B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120" y="3030478"/>
            <a:ext cx="14242440" cy="11040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600200" indent="-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dirty="0"/>
          </a:p>
          <a:p>
            <a:pPr eaLnBrk="1" hangingPunct="1"/>
            <a:endParaRPr lang="pt-BR" altLang="pt-BR" sz="4800" dirty="0"/>
          </a:p>
          <a:p>
            <a:pPr algn="ctr"/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Modelo Conceitual</a:t>
            </a:r>
          </a:p>
          <a:p>
            <a:pPr eaLnBrk="1" hangingPunct="1"/>
            <a:endParaRPr lang="pt-BR" altLang="pt-BR" sz="6600" b="1" dirty="0"/>
          </a:p>
          <a:p>
            <a:pPr marL="685800" indent="-685800"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Abstração de alto nível do modelo descritivo (descrição formal)</a:t>
            </a:r>
          </a:p>
          <a:p>
            <a:pPr marL="685800" indent="-685800"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implica decisão sobre arquitetura do SGBD a </a:t>
            </a:r>
            <a:r>
              <a:rPr lang="pt-BR" altLang="pt-BR" sz="66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ser utilizado.</a:t>
            </a:r>
            <a:endParaRPr lang="pt-BR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representa detalhes de armazenamento físico.</a:t>
            </a:r>
          </a:p>
          <a:p>
            <a:pPr marL="685800" lvl="2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Entidade  - objeto do minimundo.</a:t>
            </a:r>
          </a:p>
          <a:p>
            <a:pPr marL="685800" lvl="2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Atributo -   propriedade que descreve o objeto.</a:t>
            </a:r>
          </a:p>
          <a:p>
            <a:pPr marL="685800" lvl="2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Relacionamento   - ação no mundo real.</a:t>
            </a:r>
          </a:p>
          <a:p>
            <a:pPr marL="685800" indent="-68580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B120EC4-4F40-43C4-A4BA-783E5A67AE43}"/>
              </a:ext>
            </a:extLst>
          </p:cNvPr>
          <p:cNvSpPr txBox="1">
            <a:spLocks/>
          </p:cNvSpPr>
          <p:nvPr/>
        </p:nvSpPr>
        <p:spPr>
          <a:xfrm>
            <a:off x="403145" y="273049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Projeto</a:t>
            </a:r>
            <a:r>
              <a:rPr lang="en-US" sz="6600" dirty="0">
                <a:latin typeface="Tw Cen MT" panose="020B0602020104020603" pitchFamily="34" charset="77"/>
              </a:rPr>
              <a:t> de Banco de Dados </a:t>
            </a:r>
          </a:p>
        </p:txBody>
      </p:sp>
      <p:sp>
        <p:nvSpPr>
          <p:cNvPr id="10" name="Line 1029">
            <a:extLst>
              <a:ext uri="{FF2B5EF4-FFF2-40B4-BE49-F238E27FC236}">
                <a16:creationId xmlns:a16="http://schemas.microsoft.com/office/drawing/2014/main" id="{98712A98-C07C-4903-A08C-8DFEE745F1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771921" y="8332012"/>
            <a:ext cx="476250" cy="1046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" name="Line 1030">
            <a:extLst>
              <a:ext uri="{FF2B5EF4-FFF2-40B4-BE49-F238E27FC236}">
                <a16:creationId xmlns:a16="http://schemas.microsoft.com/office/drawing/2014/main" id="{263E4EBC-9AA9-40B4-B595-46AFE858C1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118121" y="8332012"/>
            <a:ext cx="315913" cy="1046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" name="Line 1031">
            <a:extLst>
              <a:ext uri="{FF2B5EF4-FFF2-40B4-BE49-F238E27FC236}">
                <a16:creationId xmlns:a16="http://schemas.microsoft.com/office/drawing/2014/main" id="{06934104-DC87-455E-9292-74FE7B1A35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949096" y="8644750"/>
            <a:ext cx="157163" cy="6302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" name="Line 1033">
            <a:extLst>
              <a:ext uri="{FF2B5EF4-FFF2-40B4-BE49-F238E27FC236}">
                <a16:creationId xmlns:a16="http://schemas.microsoft.com/office/drawing/2014/main" id="{509ABCD5-C08E-4364-9906-6F9C03E4D8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38083" y="7914500"/>
            <a:ext cx="396875" cy="13604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7" name="Line 1034">
            <a:extLst>
              <a:ext uri="{FF2B5EF4-FFF2-40B4-BE49-F238E27FC236}">
                <a16:creationId xmlns:a16="http://schemas.microsoft.com/office/drawing/2014/main" id="{310802E4-E63D-4A8A-BBF6-E9FC021E60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053996" y="8751112"/>
            <a:ext cx="554038" cy="627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" name="Text Box 1035">
            <a:extLst>
              <a:ext uri="{FF2B5EF4-FFF2-40B4-BE49-F238E27FC236}">
                <a16:creationId xmlns:a16="http://schemas.microsoft.com/office/drawing/2014/main" id="{1749FC2B-C566-416F-B283-C0F3D6AFB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0183" y="9273400"/>
            <a:ext cx="1501775" cy="417513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pt-BR" altLang="pt-BR" sz="1400" dirty="0">
                <a:solidFill>
                  <a:schemeClr val="tx1"/>
                </a:solidFill>
              </a:rPr>
              <a:t>CLIENTE</a:t>
            </a:r>
          </a:p>
        </p:txBody>
      </p:sp>
      <p:sp>
        <p:nvSpPr>
          <p:cNvPr id="19" name="Text Box 1036">
            <a:extLst>
              <a:ext uri="{FF2B5EF4-FFF2-40B4-BE49-F238E27FC236}">
                <a16:creationId xmlns:a16="http://schemas.microsoft.com/office/drawing/2014/main" id="{014BF7D1-D913-41FD-8D6C-9AF148685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94133" y="9262287"/>
            <a:ext cx="1501775" cy="417513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pt-BR" altLang="pt-BR" sz="1400">
                <a:solidFill>
                  <a:schemeClr val="tx1"/>
                </a:solidFill>
              </a:rPr>
              <a:t>CONTA</a:t>
            </a:r>
          </a:p>
        </p:txBody>
      </p:sp>
      <p:sp>
        <p:nvSpPr>
          <p:cNvPr id="20" name="Line 1037">
            <a:extLst>
              <a:ext uri="{FF2B5EF4-FFF2-40B4-BE49-F238E27FC236}">
                <a16:creationId xmlns:a16="http://schemas.microsoft.com/office/drawing/2014/main" id="{BBB007A2-85BD-4521-861A-36B2400DC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86058" y="9484537"/>
            <a:ext cx="1108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1" name="Line 1038">
            <a:extLst>
              <a:ext uri="{FF2B5EF4-FFF2-40B4-BE49-F238E27FC236}">
                <a16:creationId xmlns:a16="http://schemas.microsoft.com/office/drawing/2014/main" id="{CA388E91-7109-495D-9284-23F8919B1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90533" y="9484537"/>
            <a:ext cx="11874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/>
          </a:p>
        </p:txBody>
      </p:sp>
      <p:sp>
        <p:nvSpPr>
          <p:cNvPr id="22" name="AutoShape 1040">
            <a:extLst>
              <a:ext uri="{FF2B5EF4-FFF2-40B4-BE49-F238E27FC236}">
                <a16:creationId xmlns:a16="http://schemas.microsoft.com/office/drawing/2014/main" id="{C0F44EA4-3C2D-4DBE-9458-6ED2D8D3E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5733" y="9014637"/>
            <a:ext cx="1728788" cy="914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pt-BR" altLang="pt-BR" sz="1400" dirty="0">
                <a:solidFill>
                  <a:schemeClr val="tx1"/>
                </a:solidFill>
              </a:rPr>
              <a:t>DEPOSI-TANTE</a:t>
            </a:r>
          </a:p>
        </p:txBody>
      </p:sp>
      <p:sp>
        <p:nvSpPr>
          <p:cNvPr id="23" name="Oval 1043">
            <a:extLst>
              <a:ext uri="{FF2B5EF4-FFF2-40B4-BE49-F238E27FC236}">
                <a16:creationId xmlns:a16="http://schemas.microsoft.com/office/drawing/2014/main" id="{3F9F2B48-ABB8-4B4C-893C-20B433DCF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2158" y="8328837"/>
            <a:ext cx="15240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altLang="pt-BR" sz="1400" dirty="0" err="1">
                <a:solidFill>
                  <a:schemeClr val="tx1"/>
                </a:solidFill>
              </a:rPr>
              <a:t>No_cliente</a:t>
            </a:r>
            <a:endParaRPr lang="pt-BR" altLang="pt-BR" sz="1400" dirty="0">
              <a:solidFill>
                <a:schemeClr val="tx1"/>
              </a:solidFill>
            </a:endParaRPr>
          </a:p>
        </p:txBody>
      </p:sp>
      <p:sp>
        <p:nvSpPr>
          <p:cNvPr id="24" name="Oval 1046">
            <a:extLst>
              <a:ext uri="{FF2B5EF4-FFF2-40B4-BE49-F238E27FC236}">
                <a16:creationId xmlns:a16="http://schemas.microsoft.com/office/drawing/2014/main" id="{95936D8F-61F2-4E30-A778-8D3154D3A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87683" y="7925612"/>
            <a:ext cx="1249363" cy="51117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altLang="pt-BR" sz="1400">
                <a:solidFill>
                  <a:schemeClr val="tx1"/>
                </a:solidFill>
              </a:rPr>
              <a:t>Nr_conta</a:t>
            </a:r>
          </a:p>
        </p:txBody>
      </p:sp>
      <p:sp>
        <p:nvSpPr>
          <p:cNvPr id="25" name="Oval 1052">
            <a:extLst>
              <a:ext uri="{FF2B5EF4-FFF2-40B4-BE49-F238E27FC236}">
                <a16:creationId xmlns:a16="http://schemas.microsoft.com/office/drawing/2014/main" id="{9BB9DECD-CC46-431A-900F-DED98224D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5871" y="7600175"/>
            <a:ext cx="1665288" cy="4159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altLang="pt-BR" sz="1400">
                <a:solidFill>
                  <a:schemeClr val="tx1"/>
                </a:solidFill>
              </a:rPr>
              <a:t>Rua_cliente</a:t>
            </a:r>
          </a:p>
        </p:txBody>
      </p:sp>
      <p:sp>
        <p:nvSpPr>
          <p:cNvPr id="26" name="Oval 1055">
            <a:extLst>
              <a:ext uri="{FF2B5EF4-FFF2-40B4-BE49-F238E27FC236}">
                <a16:creationId xmlns:a16="http://schemas.microsoft.com/office/drawing/2014/main" id="{A3D4A78B-EF23-42E0-B479-395F52B48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3458" y="8016100"/>
            <a:ext cx="1028700" cy="420688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altLang="pt-BR" sz="1400">
                <a:solidFill>
                  <a:schemeClr val="tx1"/>
                </a:solidFill>
              </a:rPr>
              <a:t>saldo</a:t>
            </a:r>
          </a:p>
        </p:txBody>
      </p:sp>
      <p:sp>
        <p:nvSpPr>
          <p:cNvPr id="27" name="Oval 1058">
            <a:extLst>
              <a:ext uri="{FF2B5EF4-FFF2-40B4-BE49-F238E27FC236}">
                <a16:creationId xmlns:a16="http://schemas.microsoft.com/office/drawing/2014/main" id="{B308F084-6EB4-4579-AA96-B92B6769A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4958" y="8252637"/>
            <a:ext cx="1504950" cy="51117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pt-BR" altLang="pt-BR" sz="1400">
                <a:solidFill>
                  <a:schemeClr val="tx1"/>
                </a:solidFill>
              </a:rPr>
              <a:t>cid_cliente</a:t>
            </a:r>
          </a:p>
        </p:txBody>
      </p:sp>
    </p:spTree>
    <p:extLst>
      <p:ext uri="{BB962C8B-B14F-4D97-AF65-F5344CB8AC3E}">
        <p14:creationId xmlns:p14="http://schemas.microsoft.com/office/powerpoint/2010/main" val="2837219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44279" y="3961537"/>
            <a:ext cx="22647349" cy="6991258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3">
            <a:extLst>
              <a:ext uri="{FF2B5EF4-FFF2-40B4-BE49-F238E27FC236}">
                <a16:creationId xmlns:a16="http://schemas.microsoft.com/office/drawing/2014/main" id="{6A4F5BC8-37A0-4DBA-9ADC-58FE23B5B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2860" y="2913911"/>
            <a:ext cx="15698603" cy="9009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600200" indent="-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dirty="0"/>
          </a:p>
          <a:p>
            <a:pPr eaLnBrk="1" hangingPunct="1"/>
            <a:endParaRPr lang="pt-BR" altLang="pt-BR" sz="4800" dirty="0"/>
          </a:p>
          <a:p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Modelo Lógico</a:t>
            </a:r>
          </a:p>
          <a:p>
            <a:pPr eaLnBrk="1" hangingPunct="1"/>
            <a:endParaRPr lang="pt-BR" altLang="pt-BR" sz="6600" b="1" dirty="0"/>
          </a:p>
          <a:p>
            <a:pPr marL="685800" indent="-685800"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Representação gráfica de como os dados serão armazenados</a:t>
            </a:r>
          </a:p>
          <a:p>
            <a:pPr marL="685800" indent="-685800"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Explora os conceitos de domínio</a:t>
            </a:r>
          </a:p>
          <a:p>
            <a:pPr marL="685800" lvl="2"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Entidade - objeto do minimundo</a:t>
            </a:r>
          </a:p>
          <a:p>
            <a:pPr marL="685800" lvl="2"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Atributo -  propriedade que descreve o objeto</a:t>
            </a:r>
          </a:p>
          <a:p>
            <a:pPr marL="685800" lvl="2"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Relacionamento - ação no mundo real</a:t>
            </a:r>
          </a:p>
          <a:p>
            <a:pPr marL="685800" lvl="2"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Chave Primária – identifica o objeto</a:t>
            </a:r>
          </a:p>
          <a:p>
            <a:pPr marL="685800" lvl="2"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Chave Estrangeira – identifica a relação </a:t>
            </a:r>
          </a:p>
          <a:p>
            <a:pPr marL="685800" indent="-68580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B120EC4-4F40-43C4-A4BA-783E5A67AE43}"/>
              </a:ext>
            </a:extLst>
          </p:cNvPr>
          <p:cNvSpPr txBox="1">
            <a:spLocks/>
          </p:cNvSpPr>
          <p:nvPr/>
        </p:nvSpPr>
        <p:spPr>
          <a:xfrm>
            <a:off x="403145" y="273049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Projeto</a:t>
            </a:r>
            <a:r>
              <a:rPr lang="en-US" sz="6600" dirty="0">
                <a:latin typeface="Tw Cen MT" panose="020B0602020104020603" pitchFamily="34" charset="77"/>
              </a:rPr>
              <a:t> de Banco de Dados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E6424F7-3E14-4698-BFD8-717188045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35" y="5910030"/>
            <a:ext cx="7007076" cy="301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54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5" y="3961537"/>
            <a:ext cx="23702374" cy="907891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8A7E330-0164-45B4-9DF9-E44B2BF89233}"/>
              </a:ext>
            </a:extLst>
          </p:cNvPr>
          <p:cNvSpPr/>
          <p:nvPr/>
        </p:nvSpPr>
        <p:spPr>
          <a:xfrm>
            <a:off x="9248516" y="3961537"/>
            <a:ext cx="15316200" cy="9079409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800" dirty="0">
              <a:latin typeface="+mn-lt"/>
            </a:endParaRPr>
          </a:p>
          <a:p>
            <a:pPr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Físico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Representação física de armazenamento das estruturas de dados: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</a:t>
            </a:r>
          </a:p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Tabela  - objeto do banco de dados que contém os dados</a:t>
            </a:r>
          </a:p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Coluna - domínio do dado</a:t>
            </a:r>
          </a:p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Integridade Referencial - assegura que valores de uma coluna são válidos baseados nos valores em uma outra tabela relacionada</a:t>
            </a:r>
          </a:p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Índice - referência associada à uma ou mais colunas para localização mais rápida</a:t>
            </a:r>
          </a:p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Banco de Dados	- coleção de dados para um tópico específico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4000" dirty="0">
                <a:latin typeface="+mn-lt"/>
              </a:rPr>
              <a:t>        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4800" dirty="0">
                <a:latin typeface="+mn-lt"/>
              </a:rPr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613901-3F08-4D8E-BC20-D103B4B0541A}"/>
              </a:ext>
            </a:extLst>
          </p:cNvPr>
          <p:cNvSpPr txBox="1">
            <a:spLocks/>
          </p:cNvSpPr>
          <p:nvPr/>
        </p:nvSpPr>
        <p:spPr>
          <a:xfrm>
            <a:off x="403145" y="273049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Projeto</a:t>
            </a:r>
            <a:r>
              <a:rPr lang="en-US" sz="6600" dirty="0">
                <a:latin typeface="Tw Cen MT" panose="020B0602020104020603" pitchFamily="34" charset="77"/>
              </a:rPr>
              <a:t> de Banco de Dados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A69D08E-B1CD-4812-9062-C59B5CE94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9" y="5337543"/>
            <a:ext cx="8339030" cy="503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5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Processo de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01750" y="2998382"/>
            <a:ext cx="22865186" cy="10494414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B1DA5A9-BCC5-467A-96BB-C2B5A344F198}"/>
              </a:ext>
            </a:extLst>
          </p:cNvPr>
          <p:cNvSpPr txBox="1"/>
          <p:nvPr/>
        </p:nvSpPr>
        <p:spPr>
          <a:xfrm>
            <a:off x="1063256" y="3514200"/>
            <a:ext cx="21881804" cy="3343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500"/>
              </a:lnSpc>
              <a:spcAft>
                <a:spcPts val="1800"/>
              </a:spcAft>
            </a:pPr>
            <a:r>
              <a:rPr lang="pt-BR" sz="7200" b="1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MiniMundo</a:t>
            </a:r>
            <a:endParaRPr 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algn="ctr">
              <a:lnSpc>
                <a:spcPts val="5500"/>
              </a:lnSpc>
              <a:spcAft>
                <a:spcPts val="1800"/>
              </a:spcAft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“Um </a:t>
            </a: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banco de dados representa 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algum aspecto do mundo real, às vezes chamado de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mini-mundo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ou  universo de discurso”</a:t>
            </a:r>
          </a:p>
          <a:p>
            <a:pPr algn="ctr">
              <a:lnSpc>
                <a:spcPts val="5500"/>
              </a:lnSpc>
              <a:spcAft>
                <a:spcPts val="1800"/>
              </a:spcAft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(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Elmasri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&amp; </a:t>
            </a:r>
            <a:r>
              <a:rPr lang="pt-BR" sz="66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Navathe</a:t>
            </a: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, 2011)</a:t>
            </a:r>
            <a:endParaRPr lang="en-US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29" name="Imagem 2">
            <a:extLst>
              <a:ext uri="{FF2B5EF4-FFF2-40B4-BE49-F238E27FC236}">
                <a16:creationId xmlns:a16="http://schemas.microsoft.com/office/drawing/2014/main" id="{5344A196-E910-43F3-9B53-AEF5FEA33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978" y="8162926"/>
            <a:ext cx="7326312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Seta: Curva para Cima 29">
            <a:extLst>
              <a:ext uri="{FF2B5EF4-FFF2-40B4-BE49-F238E27FC236}">
                <a16:creationId xmlns:a16="http://schemas.microsoft.com/office/drawing/2014/main" id="{A7026EDD-3D20-408F-84F6-1B7708628CF4}"/>
              </a:ext>
            </a:extLst>
          </p:cNvPr>
          <p:cNvSpPr/>
          <p:nvPr/>
        </p:nvSpPr>
        <p:spPr>
          <a:xfrm flipV="1">
            <a:off x="11112615" y="6767491"/>
            <a:ext cx="5175250" cy="291465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31" name="CaixaDeTexto 4">
            <a:extLst>
              <a:ext uri="{FF2B5EF4-FFF2-40B4-BE49-F238E27FC236}">
                <a16:creationId xmlns:a16="http://schemas.microsoft.com/office/drawing/2014/main" id="{0C910DAD-CF57-4647-A0CA-EE084D64B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6150" y="11688764"/>
            <a:ext cx="4579938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pt-BR" altLang="pt-BR" sz="3600" dirty="0">
                <a:solidFill>
                  <a:schemeClr val="accent5">
                    <a:lumMod val="50000"/>
                  </a:schemeClr>
                </a:solidFill>
              </a:rPr>
              <a:t>Recorte do mundo real </a:t>
            </a:r>
          </a:p>
          <a:p>
            <a:pPr algn="ctr" eaLnBrk="1" hangingPunct="1"/>
            <a:r>
              <a:rPr lang="pt-BR" altLang="pt-BR" sz="3600" dirty="0">
                <a:solidFill>
                  <a:schemeClr val="accent5">
                    <a:lumMod val="50000"/>
                  </a:schemeClr>
                </a:solidFill>
              </a:rPr>
              <a:t>ou </a:t>
            </a:r>
          </a:p>
          <a:p>
            <a:pPr algn="ctr" eaLnBrk="1" hangingPunct="1"/>
            <a:r>
              <a:rPr lang="pt-BR" altLang="pt-BR" sz="3600" dirty="0" err="1">
                <a:solidFill>
                  <a:schemeClr val="accent5">
                    <a:lumMod val="50000"/>
                  </a:schemeClr>
                </a:solidFill>
              </a:rPr>
              <a:t>MiniMundo</a:t>
            </a:r>
            <a:endParaRPr lang="pt-BR" altLang="pt-BR" sz="3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2" name="Imagem 8">
            <a:extLst>
              <a:ext uri="{FF2B5EF4-FFF2-40B4-BE49-F238E27FC236}">
                <a16:creationId xmlns:a16="http://schemas.microsoft.com/office/drawing/2014/main" id="{48DB3A9B-FE9D-48DB-B9CA-2B3D64DE4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1075" y="9956790"/>
            <a:ext cx="25050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935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Processo de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73021" y="3062399"/>
            <a:ext cx="22865186" cy="10494414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B1DA5A9-BCC5-467A-96BB-C2B5A344F198}"/>
              </a:ext>
            </a:extLst>
          </p:cNvPr>
          <p:cNvSpPr txBox="1"/>
          <p:nvPr/>
        </p:nvSpPr>
        <p:spPr>
          <a:xfrm>
            <a:off x="-351942" y="3642161"/>
            <a:ext cx="21881804" cy="1702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500"/>
              </a:lnSpc>
              <a:spcAft>
                <a:spcPts val="1800"/>
              </a:spcAft>
            </a:pPr>
            <a:r>
              <a:rPr 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Abstração</a:t>
            </a:r>
          </a:p>
          <a:p>
            <a:pPr algn="ctr">
              <a:lnSpc>
                <a:spcPts val="5500"/>
              </a:lnSpc>
              <a:spcAft>
                <a:spcPts val="1800"/>
              </a:spcAft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“</a:t>
            </a:r>
            <a:endParaRPr lang="en-US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2" name="Picture 7" descr="http://perso.wanadoo.fr/jacques.nimier/images/les_deux_visages.GIF">
            <a:extLst>
              <a:ext uri="{FF2B5EF4-FFF2-40B4-BE49-F238E27FC236}">
                <a16:creationId xmlns:a16="http://schemas.microsoft.com/office/drawing/2014/main" id="{5ED9227E-B548-4CAD-3AA7-45C7C659B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6707" y="4590705"/>
            <a:ext cx="2149622" cy="329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19">
            <a:extLst>
              <a:ext uri="{FF2B5EF4-FFF2-40B4-BE49-F238E27FC236}">
                <a16:creationId xmlns:a16="http://schemas.microsoft.com/office/drawing/2014/main" id="{2CD9F7A2-BA6B-62A4-7C01-FF73922F2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6707" y="10299496"/>
            <a:ext cx="2149623" cy="213588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pt-BR"/>
          </a:p>
        </p:txBody>
      </p:sp>
      <p:sp>
        <p:nvSpPr>
          <p:cNvPr id="6" name="Line 20">
            <a:extLst>
              <a:ext uri="{FF2B5EF4-FFF2-40B4-BE49-F238E27FC236}">
                <a16:creationId xmlns:a16="http://schemas.microsoft.com/office/drawing/2014/main" id="{7D6A4169-1745-3B81-4D65-B486E2C4F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96707" y="11230636"/>
            <a:ext cx="214962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EE9C60D6-75FB-6C17-05D0-77845DCA8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3404" y="10672924"/>
            <a:ext cx="18967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b="1"/>
              <a:t>Cálice</a:t>
            </a:r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3AA16F6D-9791-88B9-CF83-72D54152D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6684" y="6247503"/>
            <a:ext cx="4611949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3200" dirty="0">
                <a:latin typeface="Times New Roman" panose="02020603050405020304" pitchFamily="18" charset="0"/>
              </a:rPr>
              <a:t>Operação mental</a:t>
            </a:r>
          </a:p>
          <a:p>
            <a:pPr algn="ctr"/>
            <a:r>
              <a:rPr lang="pt-BR" altLang="pt-BR" sz="3200" dirty="0">
                <a:latin typeface="Times New Roman" panose="02020603050405020304" pitchFamily="18" charset="0"/>
              </a:rPr>
              <a:t>para observar um</a:t>
            </a:r>
          </a:p>
          <a:p>
            <a:pPr algn="ctr"/>
            <a:r>
              <a:rPr lang="pt-BR" altLang="pt-BR" sz="3200" dirty="0">
                <a:latin typeface="Times New Roman" panose="02020603050405020304" pitchFamily="18" charset="0"/>
              </a:rPr>
              <a:t>domínio e capturar</a:t>
            </a:r>
          </a:p>
          <a:p>
            <a:pPr algn="ctr"/>
            <a:r>
              <a:rPr lang="pt-BR" altLang="pt-BR" sz="3200" dirty="0">
                <a:latin typeface="Times New Roman" panose="02020603050405020304" pitchFamily="18" charset="0"/>
              </a:rPr>
              <a:t>sua estrutura</a:t>
            </a:r>
          </a:p>
        </p:txBody>
      </p:sp>
      <p:sp>
        <p:nvSpPr>
          <p:cNvPr id="10" name="AutoShape 25">
            <a:extLst>
              <a:ext uri="{FF2B5EF4-FFF2-40B4-BE49-F238E27FC236}">
                <a16:creationId xmlns:a16="http://schemas.microsoft.com/office/drawing/2014/main" id="{73675DDB-F7E0-E03B-4566-4F3C90FAC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21" y="9265271"/>
            <a:ext cx="5613157" cy="917361"/>
          </a:xfrm>
          <a:custGeom>
            <a:avLst/>
            <a:gdLst>
              <a:gd name="T0" fmla="*/ 825804727 w 21600"/>
              <a:gd name="T1" fmla="*/ 0 h 21600"/>
              <a:gd name="T2" fmla="*/ 0 w 21600"/>
              <a:gd name="T3" fmla="*/ 8602134 h 21600"/>
              <a:gd name="T4" fmla="*/ 825804727 w 21600"/>
              <a:gd name="T5" fmla="*/ 17204267 h 21600"/>
              <a:gd name="T6" fmla="*/ 1101073120 w 21600"/>
              <a:gd name="T7" fmla="*/ 8602134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pic>
        <p:nvPicPr>
          <p:cNvPr id="11" name="Picture 17">
            <a:extLst>
              <a:ext uri="{FF2B5EF4-FFF2-40B4-BE49-F238E27FC236}">
                <a16:creationId xmlns:a16="http://schemas.microsoft.com/office/drawing/2014/main" id="{2D4FE9FE-9C99-23DF-FE9B-DB6313BB1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965" y="8432323"/>
            <a:ext cx="2853844" cy="359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2" name="Text Box 26">
            <a:extLst>
              <a:ext uri="{FF2B5EF4-FFF2-40B4-BE49-F238E27FC236}">
                <a16:creationId xmlns:a16="http://schemas.microsoft.com/office/drawing/2014/main" id="{1CEB52ED-AAC1-E9D2-6A57-52977036A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3446" y="5714103"/>
            <a:ext cx="27058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>
                <a:solidFill>
                  <a:srgbClr val="CC3300"/>
                </a:solidFill>
              </a:rPr>
              <a:t>Abstração</a:t>
            </a:r>
          </a:p>
        </p:txBody>
      </p:sp>
      <p:sp>
        <p:nvSpPr>
          <p:cNvPr id="13" name="Text Box 27">
            <a:extLst>
              <a:ext uri="{FF2B5EF4-FFF2-40B4-BE49-F238E27FC236}">
                <a16:creationId xmlns:a16="http://schemas.microsoft.com/office/drawing/2014/main" id="{F0A4C093-5A15-8FE8-AFAB-CE8675533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5499" y="11649709"/>
            <a:ext cx="259237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3200" dirty="0">
                <a:latin typeface="Times New Roman" panose="02020603050405020304" pitchFamily="18" charset="0"/>
              </a:rPr>
              <a:t>Refere-se às</a:t>
            </a:r>
          </a:p>
          <a:p>
            <a:r>
              <a:rPr lang="pt-BR" altLang="pt-BR" sz="3200" dirty="0">
                <a:latin typeface="Times New Roman" panose="02020603050405020304" pitchFamily="18" charset="0"/>
              </a:rPr>
              <a:t>convenções de</a:t>
            </a:r>
          </a:p>
          <a:p>
            <a:r>
              <a:rPr lang="pt-BR" altLang="pt-BR" sz="3200" dirty="0">
                <a:latin typeface="Times New Roman" panose="02020603050405020304" pitchFamily="18" charset="0"/>
              </a:rPr>
              <a:t>representação</a:t>
            </a:r>
          </a:p>
        </p:txBody>
      </p:sp>
      <p:sp>
        <p:nvSpPr>
          <p:cNvPr id="14" name="Text Box 28">
            <a:extLst>
              <a:ext uri="{FF2B5EF4-FFF2-40B4-BE49-F238E27FC236}">
                <a16:creationId xmlns:a16="http://schemas.microsoft.com/office/drawing/2014/main" id="{DADE8A78-6A4C-087B-B57A-9E8ADE5E0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750" y="10773436"/>
            <a:ext cx="34871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>
                <a:solidFill>
                  <a:srgbClr val="CC3300"/>
                </a:solidFill>
              </a:rPr>
              <a:t>Representação</a:t>
            </a:r>
          </a:p>
        </p:txBody>
      </p:sp>
      <p:sp>
        <p:nvSpPr>
          <p:cNvPr id="15" name="Text Box 29">
            <a:extLst>
              <a:ext uri="{FF2B5EF4-FFF2-40B4-BE49-F238E27FC236}">
                <a16:creationId xmlns:a16="http://schemas.microsoft.com/office/drawing/2014/main" id="{129C03BA-D4AC-AC85-0EB3-B7DFD82C5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35497" y="8801411"/>
            <a:ext cx="3572539" cy="1077218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>
                <a:solidFill>
                  <a:schemeClr val="hlink"/>
                </a:solidFill>
              </a:rPr>
              <a:t>Objeto Representado</a:t>
            </a:r>
          </a:p>
        </p:txBody>
      </p:sp>
      <p:sp>
        <p:nvSpPr>
          <p:cNvPr id="16" name="Text Box 30">
            <a:extLst>
              <a:ext uri="{FF2B5EF4-FFF2-40B4-BE49-F238E27FC236}">
                <a16:creationId xmlns:a16="http://schemas.microsoft.com/office/drawing/2014/main" id="{71CFB08F-5C47-3823-AE04-442BA7A4F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4965" y="12365733"/>
            <a:ext cx="2650018" cy="1077218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>
                <a:solidFill>
                  <a:schemeClr val="hlink"/>
                </a:solidFill>
              </a:rPr>
              <a:t>Objeto</a:t>
            </a:r>
            <a:r>
              <a:rPr lang="pt-BR" altLang="pt-BR" sz="2000" b="1" dirty="0">
                <a:solidFill>
                  <a:schemeClr val="hlink"/>
                </a:solidFill>
              </a:rPr>
              <a:t> </a:t>
            </a:r>
            <a:r>
              <a:rPr lang="pt-BR" altLang="pt-BR" sz="3200" b="1" dirty="0">
                <a:solidFill>
                  <a:schemeClr val="hlink"/>
                </a:solidFill>
              </a:rPr>
              <a:t>Observado</a:t>
            </a:r>
          </a:p>
        </p:txBody>
      </p:sp>
      <p:pic>
        <p:nvPicPr>
          <p:cNvPr id="17" name="Picture 32" descr="http://images.google.com.br/images?q=tbn:aWpGN1etFA4J:www.maine.gov/mdot/cadd-support/images/crystal.jpg">
            <a:hlinkClick r:id="rId4"/>
            <a:extLst>
              <a:ext uri="{FF2B5EF4-FFF2-40B4-BE49-F238E27FC236}">
                <a16:creationId xmlns:a16="http://schemas.microsoft.com/office/drawing/2014/main" id="{D4E19BE3-A188-F4BB-F1EC-DD289B004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86" y="6044097"/>
            <a:ext cx="2590800" cy="2468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069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 </a:t>
            </a:r>
            <a:r>
              <a:rPr lang="en-US" sz="8000" dirty="0" err="1">
                <a:latin typeface="Tw Cen MT" panose="020B0602020104020603" pitchFamily="34" charset="77"/>
              </a:rPr>
              <a:t>Conceitual</a:t>
            </a:r>
            <a:endParaRPr lang="en-US" sz="8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Processo de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01750" y="3730904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108E442-CF20-465E-88EF-2A9D38087E9D}"/>
              </a:ext>
            </a:extLst>
          </p:cNvPr>
          <p:cNvSpPr/>
          <p:nvPr/>
        </p:nvSpPr>
        <p:spPr>
          <a:xfrm>
            <a:off x="12684665" y="7229005"/>
            <a:ext cx="5029200" cy="60203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FD46BE8-5875-428B-BDA1-A4144B8A1D66}"/>
              </a:ext>
            </a:extLst>
          </p:cNvPr>
          <p:cNvSpPr/>
          <p:nvPr/>
        </p:nvSpPr>
        <p:spPr>
          <a:xfrm>
            <a:off x="1358678" y="3535347"/>
            <a:ext cx="2203295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Abstração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“Processo mental que consiste em escolher ou isolar um aspecto determinado de um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estado de coisas relativamente complexo, a fim de simplificar a sua avaliação, classificação ou para permitir a comunicação do mesmo” (Houaiss, 2006)</a:t>
            </a:r>
          </a:p>
          <a:p>
            <a:pPr algn="ctr">
              <a:defRPr/>
            </a:pPr>
            <a:endParaRPr 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12" name="Imagem 4" descr="Uma imagem contendo carro&#10;&#10;Descrição gerada automaticamente">
            <a:extLst>
              <a:ext uri="{FF2B5EF4-FFF2-40B4-BE49-F238E27FC236}">
                <a16:creationId xmlns:a16="http://schemas.microsoft.com/office/drawing/2014/main" id="{F40CF208-7D9E-4B1B-9E81-6CB552C35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140" y="9047946"/>
            <a:ext cx="4092575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5E2ECBB0-EFE8-457F-A707-5F0073D1F1EC}"/>
              </a:ext>
            </a:extLst>
          </p:cNvPr>
          <p:cNvSpPr/>
          <p:nvPr/>
        </p:nvSpPr>
        <p:spPr>
          <a:xfrm rot="20612461">
            <a:off x="8793477" y="8478274"/>
            <a:ext cx="2765425" cy="5762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90E01C52-332E-4B2C-9150-8461EDB5DED2}"/>
              </a:ext>
            </a:extLst>
          </p:cNvPr>
          <p:cNvSpPr/>
          <p:nvPr/>
        </p:nvSpPr>
        <p:spPr>
          <a:xfrm>
            <a:off x="8864250" y="10231428"/>
            <a:ext cx="2765425" cy="577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4323F2A1-E8D6-4D9B-9399-49300B69DDF0}"/>
              </a:ext>
            </a:extLst>
          </p:cNvPr>
          <p:cNvSpPr/>
          <p:nvPr/>
        </p:nvSpPr>
        <p:spPr>
          <a:xfrm>
            <a:off x="8845339" y="12380017"/>
            <a:ext cx="2765425" cy="5762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pic>
        <p:nvPicPr>
          <p:cNvPr id="16" name="Imagem 10" descr="Palmeira em frente a praia&#10;&#10;Descrição gerada automaticamente">
            <a:extLst>
              <a:ext uri="{FF2B5EF4-FFF2-40B4-BE49-F238E27FC236}">
                <a16:creationId xmlns:a16="http://schemas.microsoft.com/office/drawing/2014/main" id="{F6FC0323-A56D-4186-BC05-3245F9DD0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0625" y="9816134"/>
            <a:ext cx="1430337" cy="190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CaixaDeTexto 11">
            <a:extLst>
              <a:ext uri="{FF2B5EF4-FFF2-40B4-BE49-F238E27FC236}">
                <a16:creationId xmlns:a16="http://schemas.microsoft.com/office/drawing/2014/main" id="{060871A1-6162-4C6F-800A-D8BDAF45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9412" y="9823441"/>
            <a:ext cx="979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ação</a:t>
            </a:r>
          </a:p>
        </p:txBody>
      </p:sp>
      <p:pic>
        <p:nvPicPr>
          <p:cNvPr id="18" name="Imagem 12">
            <a:extLst>
              <a:ext uri="{FF2B5EF4-FFF2-40B4-BE49-F238E27FC236}">
                <a16:creationId xmlns:a16="http://schemas.microsoft.com/office/drawing/2014/main" id="{E0EDC08C-9538-4E17-8F79-9939236F1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3612" y="7673009"/>
            <a:ext cx="1884363" cy="158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CaixaDeTexto 13">
            <a:extLst>
              <a:ext uri="{FF2B5EF4-FFF2-40B4-BE49-F238E27FC236}">
                <a16:creationId xmlns:a16="http://schemas.microsoft.com/office/drawing/2014/main" id="{EC27F8AF-B3EB-4FBB-A80D-C9EC94072562}"/>
              </a:ext>
            </a:extLst>
          </p:cNvPr>
          <p:cNvSpPr txBox="1">
            <a:spLocks noChangeArrowheads="1"/>
          </p:cNvSpPr>
          <p:nvPr/>
        </p:nvSpPr>
        <p:spPr bwMode="auto">
          <a:xfrm rot="20514580">
            <a:off x="9330052" y="7862324"/>
            <a:ext cx="1293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objeto</a:t>
            </a:r>
          </a:p>
        </p:txBody>
      </p:sp>
      <p:sp>
        <p:nvSpPr>
          <p:cNvPr id="20" name="CaixaDeTexto 14">
            <a:extLst>
              <a:ext uri="{FF2B5EF4-FFF2-40B4-BE49-F238E27FC236}">
                <a16:creationId xmlns:a16="http://schemas.microsoft.com/office/drawing/2014/main" id="{B303C32D-0B32-4A80-8AC5-6786A464E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2239" y="11795817"/>
            <a:ext cx="1571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atributo</a:t>
            </a:r>
          </a:p>
        </p:txBody>
      </p:sp>
      <p:pic>
        <p:nvPicPr>
          <p:cNvPr id="21" name="Imagem 15">
            <a:extLst>
              <a:ext uri="{FF2B5EF4-FFF2-40B4-BE49-F238E27FC236}">
                <a16:creationId xmlns:a16="http://schemas.microsoft.com/office/drawing/2014/main" id="{8CFDDAEF-C94F-434D-AC4E-4C005D52B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9075" y="12119597"/>
            <a:ext cx="812800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CaixaDeTexto 16">
            <a:extLst>
              <a:ext uri="{FF2B5EF4-FFF2-40B4-BE49-F238E27FC236}">
                <a16:creationId xmlns:a16="http://schemas.microsoft.com/office/drawing/2014/main" id="{9525239B-AA43-4AAB-9534-DF5B1EE59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1350" y="7925999"/>
            <a:ext cx="16986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entidade</a:t>
            </a:r>
          </a:p>
        </p:txBody>
      </p:sp>
      <p:sp>
        <p:nvSpPr>
          <p:cNvPr id="23" name="CaixaDeTexto 17">
            <a:extLst>
              <a:ext uri="{FF2B5EF4-FFF2-40B4-BE49-F238E27FC236}">
                <a16:creationId xmlns:a16="http://schemas.microsoft.com/office/drawing/2014/main" id="{11D6BDD2-57F2-4306-A1BD-975CE508A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1350" y="10362234"/>
            <a:ext cx="1133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viajar</a:t>
            </a:r>
          </a:p>
        </p:txBody>
      </p:sp>
      <p:sp>
        <p:nvSpPr>
          <p:cNvPr id="24" name="CaixaDeTexto 18">
            <a:extLst>
              <a:ext uri="{FF2B5EF4-FFF2-40B4-BE49-F238E27FC236}">
                <a16:creationId xmlns:a16="http://schemas.microsoft.com/office/drawing/2014/main" id="{AFB04C61-95DC-4672-A977-C809C0D1F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1350" y="12368834"/>
            <a:ext cx="1497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cor azul</a:t>
            </a:r>
          </a:p>
        </p:txBody>
      </p:sp>
      <p:sp>
        <p:nvSpPr>
          <p:cNvPr id="25" name="CaixaDeTexto 19">
            <a:extLst>
              <a:ext uri="{FF2B5EF4-FFF2-40B4-BE49-F238E27FC236}">
                <a16:creationId xmlns:a16="http://schemas.microsoft.com/office/drawing/2014/main" id="{8B240D39-B31D-4A1F-857B-927ED8519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965" y="11765746"/>
            <a:ext cx="45037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/>
              <a:t>Abstração do mundo real</a:t>
            </a:r>
          </a:p>
        </p:txBody>
      </p:sp>
      <p:sp>
        <p:nvSpPr>
          <p:cNvPr id="26" name="CaixaDeTexto 20">
            <a:extLst>
              <a:ext uri="{FF2B5EF4-FFF2-40B4-BE49-F238E27FC236}">
                <a16:creationId xmlns:a16="http://schemas.microsoft.com/office/drawing/2014/main" id="{D697C74F-EFCA-439E-94A4-831B5FE5A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955" y="8424750"/>
            <a:ext cx="45037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Representação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E7E2D7C-5386-408D-BB5F-907E6374A510}"/>
              </a:ext>
            </a:extLst>
          </p:cNvPr>
          <p:cNvSpPr/>
          <p:nvPr/>
        </p:nvSpPr>
        <p:spPr>
          <a:xfrm>
            <a:off x="18122880" y="8860364"/>
            <a:ext cx="544391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Abstrações diferentes geram representações distintas</a:t>
            </a:r>
          </a:p>
        </p:txBody>
      </p:sp>
    </p:spTree>
    <p:extLst>
      <p:ext uri="{BB962C8B-B14F-4D97-AF65-F5344CB8AC3E}">
        <p14:creationId xmlns:p14="http://schemas.microsoft.com/office/powerpoint/2010/main" val="2321275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Processo de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68138" y="3885459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8" name="Object 0">
            <a:extLst>
              <a:ext uri="{FF2B5EF4-FFF2-40B4-BE49-F238E27FC236}">
                <a16:creationId xmlns:a16="http://schemas.microsoft.com/office/drawing/2014/main" id="{509C00EA-98FE-4989-8BAC-828F849DC8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0231867"/>
              </p:ext>
            </p:extLst>
          </p:nvPr>
        </p:nvGraphicFramePr>
        <p:xfrm>
          <a:off x="3040020" y="6166664"/>
          <a:ext cx="18266734" cy="69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13099" imgH="4398028" progId="Visio.Drawing.11">
                  <p:embed/>
                </p:oleObj>
              </mc:Choice>
              <mc:Fallback>
                <p:oleObj name="Visio" r:id="rId2" imgW="8313099" imgH="4398028" progId="Visio.Drawing.11">
                  <p:embed/>
                  <p:pic>
                    <p:nvPicPr>
                      <p:cNvPr id="1026" name="Object 0">
                        <a:extLst>
                          <a:ext uri="{FF2B5EF4-FFF2-40B4-BE49-F238E27FC236}">
                            <a16:creationId xmlns:a16="http://schemas.microsoft.com/office/drawing/2014/main" id="{26A65814-4E0B-4D2A-9EFC-75AC37990B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20" y="6166664"/>
                        <a:ext cx="18266734" cy="69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6228389" y="4157824"/>
            <a:ext cx="2203295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Níveis do Processo de Modelagem de Dados</a:t>
            </a:r>
          </a:p>
        </p:txBody>
      </p:sp>
    </p:spTree>
    <p:extLst>
      <p:ext uri="{BB962C8B-B14F-4D97-AF65-F5344CB8AC3E}">
        <p14:creationId xmlns:p14="http://schemas.microsoft.com/office/powerpoint/2010/main" val="404044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68138" y="3885459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8737673" y="3885459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Mundo Real</a:t>
            </a:r>
          </a:p>
        </p:txBody>
      </p:sp>
      <p:pic>
        <p:nvPicPr>
          <p:cNvPr id="3" name="Imagem 2" descr="Forma&#10;&#10;Descrição gerada automaticamente com confiança baixa">
            <a:extLst>
              <a:ext uri="{FF2B5EF4-FFF2-40B4-BE49-F238E27FC236}">
                <a16:creationId xmlns:a16="http://schemas.microsoft.com/office/drawing/2014/main" id="{687539B6-E3F4-401D-8DB0-2073501D0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7033" y="7922752"/>
            <a:ext cx="5520199" cy="552019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BE7BE9-D014-4C18-B62B-94FC1BD06342}"/>
              </a:ext>
            </a:extLst>
          </p:cNvPr>
          <p:cNvSpPr txBox="1"/>
          <p:nvPr/>
        </p:nvSpPr>
        <p:spPr>
          <a:xfrm>
            <a:off x="1214231" y="6148774"/>
            <a:ext cx="21766192" cy="722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Aft>
                <a:spcPts val="1800"/>
              </a:spcAft>
              <a:defRPr sz="8000" baseline="3000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ea typeface="Arial" charset="0"/>
                <a:cs typeface="Arial" charset="0"/>
              </a:defRPr>
            </a:lvl1pPr>
          </a:lstStyle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pt-BR" dirty="0"/>
              <a:t>Universo de interesse para fins de tratamento de informações;</a:t>
            </a:r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pt-BR" dirty="0"/>
              <a:t>Nível ainda não </a:t>
            </a:r>
            <a:r>
              <a:rPr lang="pt-BR" dirty="0" err="1"/>
              <a:t>formalizável</a:t>
            </a:r>
            <a:r>
              <a:rPr lang="pt-BR" dirty="0"/>
              <a:t>;</a:t>
            </a:r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pt-BR" dirty="0"/>
              <a:t>Composto de objetos:</a:t>
            </a:r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dirty="0"/>
              <a:t>Seres</a:t>
            </a:r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dirty="0"/>
              <a:t>Fatos</a:t>
            </a:r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dirty="0"/>
              <a:t>Coisas</a:t>
            </a:r>
          </a:p>
          <a:p>
            <a:pPr marL="1143000" indent="-11430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t-BR" dirty="0"/>
              <a:t>Organismos Sociais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511D8D8-A624-4FA1-AEC5-A97C4184D615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Processo de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</p:spTree>
    <p:extLst>
      <p:ext uri="{BB962C8B-B14F-4D97-AF65-F5344CB8AC3E}">
        <p14:creationId xmlns:p14="http://schemas.microsoft.com/office/powerpoint/2010/main" val="2988054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68138" y="3885459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8737673" y="3885459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Nível Descritivo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86E3C31-0259-4E7A-92D8-01480BCCFFB8}"/>
              </a:ext>
            </a:extLst>
          </p:cNvPr>
          <p:cNvSpPr txBox="1">
            <a:spLocks noChangeArrowheads="1"/>
          </p:cNvSpPr>
          <p:nvPr/>
        </p:nvSpPr>
        <p:spPr>
          <a:xfrm>
            <a:off x="2619630" y="6503423"/>
            <a:ext cx="16952884" cy="4525962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0" indent="-1143000" defTabSz="4572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pt-BR" alt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Descrição em linguagem natural</a:t>
            </a:r>
          </a:p>
          <a:p>
            <a:pPr marL="1143000" indent="-1143000" defTabSz="4572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pt-BR" alt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Falta de conceitos matemáticos formais</a:t>
            </a:r>
          </a:p>
          <a:p>
            <a:pPr marL="1143000" indent="-1143000" defTabSz="4572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pt-BR" alt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Exposição do mundo real de forma inteligível</a:t>
            </a:r>
          </a:p>
          <a:p>
            <a:pPr marL="1143000" indent="-1143000" defTabSz="4572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pt-BR" alt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Descritivo</a:t>
            </a:r>
          </a:p>
        </p:txBody>
      </p:sp>
      <p:grpSp>
        <p:nvGrpSpPr>
          <p:cNvPr id="19" name="Group 17">
            <a:extLst>
              <a:ext uri="{FF2B5EF4-FFF2-40B4-BE49-F238E27FC236}">
                <a16:creationId xmlns:a16="http://schemas.microsoft.com/office/drawing/2014/main" id="{B330E621-D3E6-4CB7-89B6-31A6D9A00B5C}"/>
              </a:ext>
            </a:extLst>
          </p:cNvPr>
          <p:cNvGrpSpPr>
            <a:grpSpLocks/>
          </p:cNvGrpSpPr>
          <p:nvPr/>
        </p:nvGrpSpPr>
        <p:grpSpPr bwMode="auto">
          <a:xfrm>
            <a:off x="17242971" y="7293429"/>
            <a:ext cx="3279654" cy="4825296"/>
            <a:chOff x="5076056" y="3284984"/>
            <a:chExt cx="2520280" cy="3384376"/>
          </a:xfrm>
        </p:grpSpPr>
        <p:sp>
          <p:nvSpPr>
            <p:cNvPr id="20" name="Oval 13">
              <a:extLst>
                <a:ext uri="{FF2B5EF4-FFF2-40B4-BE49-F238E27FC236}">
                  <a16:creationId xmlns:a16="http://schemas.microsoft.com/office/drawing/2014/main" id="{9E7EF92F-18B8-4D24-B4CF-4D9A918DA4F7}"/>
                </a:ext>
              </a:extLst>
            </p:cNvPr>
            <p:cNvSpPr/>
            <p:nvPr/>
          </p:nvSpPr>
          <p:spPr bwMode="auto">
            <a:xfrm>
              <a:off x="5076056" y="3284984"/>
              <a:ext cx="2520280" cy="338437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91BA77AB-1580-49AD-BE10-8027C1A637CE}"/>
                </a:ext>
              </a:extLst>
            </p:cNvPr>
            <p:cNvSpPr/>
            <p:nvPr/>
          </p:nvSpPr>
          <p:spPr bwMode="auto">
            <a:xfrm>
              <a:off x="5436323" y="4077106"/>
              <a:ext cx="1872752" cy="259225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FB142ED0-85FE-4079-B29B-2E85D3214CB6}"/>
                </a:ext>
              </a:extLst>
            </p:cNvPr>
            <p:cNvSpPr/>
            <p:nvPr/>
          </p:nvSpPr>
          <p:spPr bwMode="auto">
            <a:xfrm>
              <a:off x="5723584" y="4869228"/>
              <a:ext cx="1225224" cy="180013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787E2F28-D831-4C17-9708-C0D5A20C8F47}"/>
                </a:ext>
              </a:extLst>
            </p:cNvPr>
            <p:cNvSpPr/>
            <p:nvPr/>
          </p:nvSpPr>
          <p:spPr bwMode="auto">
            <a:xfrm>
              <a:off x="5939426" y="5516894"/>
              <a:ext cx="793539" cy="115246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4" name="Rectangle 18">
            <a:extLst>
              <a:ext uri="{FF2B5EF4-FFF2-40B4-BE49-F238E27FC236}">
                <a16:creationId xmlns:a16="http://schemas.microsoft.com/office/drawing/2014/main" id="{47F0CB8D-A070-455A-94A9-B7BAAFD7EB07}"/>
              </a:ext>
            </a:extLst>
          </p:cNvPr>
          <p:cNvSpPr/>
          <p:nvPr/>
        </p:nvSpPr>
        <p:spPr bwMode="auto">
          <a:xfrm>
            <a:off x="20515150" y="7909039"/>
            <a:ext cx="3184651" cy="51376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>
              <a:defRPr/>
            </a:pPr>
            <a:r>
              <a:rPr lang="pt-BR" b="1" dirty="0">
                <a:solidFill>
                  <a:schemeClr val="bg1"/>
                </a:solidFill>
              </a:rPr>
              <a:t>Conhecimento Total</a:t>
            </a:r>
          </a:p>
          <a:p>
            <a:pPr>
              <a:defRPr/>
            </a:pP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8D904E3C-0BB4-4D60-82DC-7FD1DE5CE773}"/>
              </a:ext>
            </a:extLst>
          </p:cNvPr>
          <p:cNvSpPr/>
          <p:nvPr/>
        </p:nvSpPr>
        <p:spPr bwMode="auto">
          <a:xfrm>
            <a:off x="20654743" y="9206444"/>
            <a:ext cx="2389521" cy="5114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pt-BR" b="1" dirty="0" err="1">
                <a:solidFill>
                  <a:schemeClr val="accent2">
                    <a:lumMod val="50000"/>
                  </a:schemeClr>
                </a:solidFill>
              </a:rPr>
              <a:t>Verbalizável</a:t>
            </a:r>
            <a:endParaRPr lang="pt-BR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/>
            </a:pP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C142F712-8D6E-4E50-B341-36625F78A792}"/>
              </a:ext>
            </a:extLst>
          </p:cNvPr>
          <p:cNvSpPr/>
          <p:nvPr/>
        </p:nvSpPr>
        <p:spPr bwMode="auto">
          <a:xfrm>
            <a:off x="20685692" y="10348457"/>
            <a:ext cx="2389521" cy="5137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pt-BR" b="1" dirty="0">
                <a:solidFill>
                  <a:schemeClr val="accent2">
                    <a:lumMod val="50000"/>
                  </a:schemeClr>
                </a:solidFill>
              </a:rPr>
              <a:t>Pode ser escrito</a:t>
            </a:r>
          </a:p>
          <a:p>
            <a:pPr>
              <a:defRPr/>
            </a:pP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Rectangle 21">
            <a:extLst>
              <a:ext uri="{FF2B5EF4-FFF2-40B4-BE49-F238E27FC236}">
                <a16:creationId xmlns:a16="http://schemas.microsoft.com/office/drawing/2014/main" id="{09B2EF0F-48F1-45AC-8580-FFA71DF3E19A}"/>
              </a:ext>
            </a:extLst>
          </p:cNvPr>
          <p:cNvSpPr/>
          <p:nvPr/>
        </p:nvSpPr>
        <p:spPr bwMode="auto">
          <a:xfrm>
            <a:off x="20469097" y="11568425"/>
            <a:ext cx="2856272" cy="5137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pt-BR" b="1" dirty="0">
                <a:solidFill>
                  <a:schemeClr val="accent2">
                    <a:lumMod val="50000"/>
                  </a:schemeClr>
                </a:solidFill>
              </a:rPr>
              <a:t>Capaz de ser Lido</a:t>
            </a:r>
          </a:p>
          <a:p>
            <a:pPr>
              <a:defRPr/>
            </a:pP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FA66DB3-C5B5-4202-81D4-478E029A5B95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Processo de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</p:spTree>
    <p:extLst>
      <p:ext uri="{BB962C8B-B14F-4D97-AF65-F5344CB8AC3E}">
        <p14:creationId xmlns:p14="http://schemas.microsoft.com/office/powerpoint/2010/main" val="3580342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19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68138" y="3885459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8737673" y="3885459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Nível Conceitual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00EB53A-40D8-4558-BB19-0B0ED4EF467C}"/>
              </a:ext>
            </a:extLst>
          </p:cNvPr>
          <p:cNvSpPr txBox="1">
            <a:spLocks noChangeArrowheads="1"/>
          </p:cNvSpPr>
          <p:nvPr/>
        </p:nvSpPr>
        <p:spPr>
          <a:xfrm>
            <a:off x="1574657" y="5769066"/>
            <a:ext cx="18752383" cy="4525962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0" indent="-1143000" defTabSz="4572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pt-BR" alt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Descrição formal das informações expostas no nível descritivo;</a:t>
            </a:r>
          </a:p>
          <a:p>
            <a:pPr marL="1143000" indent="-1143000" defTabSz="457200">
              <a:lnSpc>
                <a:spcPct val="100000"/>
              </a:lnSpc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pt-BR" altLang="pt-BR" sz="8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Conceitual formal (estritamente matemático);</a:t>
            </a:r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89FCB429-7BD1-4A66-B416-60F38F282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73" y="7950380"/>
            <a:ext cx="5490329" cy="556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48F0988-6C8B-40C0-BC94-86AF324880C9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Processo de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</p:spTree>
    <p:extLst>
      <p:ext uri="{BB962C8B-B14F-4D97-AF65-F5344CB8AC3E}">
        <p14:creationId xmlns:p14="http://schemas.microsoft.com/office/powerpoint/2010/main" val="3748484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964081" y="3954109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8694130" y="3681060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Nível Lógico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Nível Dados: Símbolos tratados pelo computador.</a:t>
            </a:r>
          </a:p>
          <a:p>
            <a:pPr lvl="1">
              <a:lnSpc>
                <a:spcPct val="10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Metadados: Descrição das estruturas</a:t>
            </a:r>
          </a:p>
          <a:p>
            <a:pPr lvl="1">
              <a:lnSpc>
                <a:spcPct val="10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Dados: Processados pela máquina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Lógico</a:t>
            </a:r>
          </a:p>
          <a:p>
            <a:pPr lvl="1">
              <a:lnSpc>
                <a:spcPct val="15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Relacional (MR)</a:t>
            </a:r>
          </a:p>
          <a:p>
            <a:pPr lvl="2">
              <a:lnSpc>
                <a:spcPct val="10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Normalizado</a:t>
            </a:r>
          </a:p>
          <a:p>
            <a:pPr lvl="2">
              <a:lnSpc>
                <a:spcPct val="10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Normalizado</a:t>
            </a:r>
          </a:p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C4DAAA-A92D-4725-84BC-116F278A453E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Processo de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F20D941-0EAA-4AD1-BB05-0B34E4751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7531" y="7431617"/>
            <a:ext cx="10569990" cy="455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47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68138" y="3885459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7895802" y="4199553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Nível Físico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A728091-AFC0-4D03-B9BD-34A406EA5622}"/>
              </a:ext>
            </a:extLst>
          </p:cNvPr>
          <p:cNvSpPr txBox="1"/>
          <p:nvPr/>
        </p:nvSpPr>
        <p:spPr>
          <a:xfrm>
            <a:off x="1714501" y="6047182"/>
            <a:ext cx="15359742" cy="491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defTabSz="1828800">
              <a:lnSpc>
                <a:spcPct val="150000"/>
              </a:lnSpc>
              <a:spcBef>
                <a:spcPts val="2000"/>
              </a:spcBef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Nível de máquina</a:t>
            </a:r>
          </a:p>
          <a:p>
            <a:pPr marL="457200" indent="-457200" defTabSz="1828800">
              <a:lnSpc>
                <a:spcPct val="150000"/>
              </a:lnSpc>
              <a:spcBef>
                <a:spcPts val="2000"/>
              </a:spcBef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Representações internas dos dados e dos programas (cadeias de “Bits” ou de “Bytes”);</a:t>
            </a:r>
          </a:p>
          <a:p>
            <a:pPr marL="457200" indent="-457200" defTabSz="1828800">
              <a:lnSpc>
                <a:spcPct val="150000"/>
              </a:lnSpc>
              <a:spcBef>
                <a:spcPts val="2000"/>
              </a:spcBef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Físico dependente do SGBD e aplicações</a:t>
            </a:r>
          </a:p>
        </p:txBody>
      </p:sp>
      <p:pic>
        <p:nvPicPr>
          <p:cNvPr id="6" name="Imagem 5" descr="Uma imagem contendo no interior, mesa, xícara, microondas&#10;&#10;Descrição gerada automaticamente">
            <a:extLst>
              <a:ext uri="{FF2B5EF4-FFF2-40B4-BE49-F238E27FC236}">
                <a16:creationId xmlns:a16="http://schemas.microsoft.com/office/drawing/2014/main" id="{C66F78CC-07E1-432A-9BF6-4A7BE49AF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4243" y="7610476"/>
            <a:ext cx="5467350" cy="54673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A78BEE-8F0E-4846-A272-685263AB8545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Processo de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</p:spTree>
    <p:extLst>
      <p:ext uri="{BB962C8B-B14F-4D97-AF65-F5344CB8AC3E}">
        <p14:creationId xmlns:p14="http://schemas.microsoft.com/office/powerpoint/2010/main" val="555684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298432" y="3315935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7324823" y="2950810"/>
            <a:ext cx="22865186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Projeto Descendente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A00FBF4-05DE-423E-9220-F4DE961BB2E7}"/>
              </a:ext>
            </a:extLst>
          </p:cNvPr>
          <p:cNvSpPr txBox="1"/>
          <p:nvPr/>
        </p:nvSpPr>
        <p:spPr>
          <a:xfrm>
            <a:off x="1433788" y="4200844"/>
            <a:ext cx="19428715" cy="887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Top-Down: níveis de abstração de cima-para-baixo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</a:pPr>
            <a:r>
              <a:rPr lang="pt-BR" altLang="pt-BR" sz="48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Descritivo</a:t>
            </a:r>
          </a:p>
          <a:p>
            <a:pPr marL="1771650" lvl="2" indent="-8572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Criado a partir de observações e vivência do mundo real (não formal)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</a:pPr>
            <a:r>
              <a:rPr lang="pt-BR" altLang="pt-BR" sz="48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Conceitual formal</a:t>
            </a:r>
          </a:p>
          <a:p>
            <a:pPr marL="1771650" lvl="2" indent="-8572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Construído a partir de análise detalhada do universo em questão</a:t>
            </a:r>
          </a:p>
          <a:p>
            <a:pPr marL="1771650" lvl="2" indent="-8572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Derivação informal.</a:t>
            </a:r>
          </a:p>
          <a:p>
            <a:pPr lvl="1" eaLnBrk="1" hangingPunct="1">
              <a:lnSpc>
                <a:spcPct val="150000"/>
              </a:lnSpc>
              <a:buClr>
                <a:schemeClr val="bg2"/>
              </a:buClr>
            </a:pPr>
            <a:r>
              <a:rPr lang="pt-BR" altLang="pt-BR" sz="48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Lógico</a:t>
            </a:r>
          </a:p>
          <a:p>
            <a:pPr marL="1771650" lvl="2" indent="-8572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Realizado de maneira formal em quase a sua totalidade</a:t>
            </a:r>
          </a:p>
          <a:p>
            <a:pPr marL="1771650" lvl="2" indent="-8572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Mapeamento parcial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</a:pPr>
            <a:r>
              <a:rPr lang="pt-BR" altLang="pt-BR" sz="48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Modelo Físico</a:t>
            </a:r>
          </a:p>
          <a:p>
            <a:pPr marL="1771650" lvl="2" indent="-8572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Dependente do SGBD e das aplicações</a:t>
            </a:r>
          </a:p>
          <a:p>
            <a:pPr marL="1771650" lvl="2" indent="-8572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Derivação Formal </a:t>
            </a:r>
          </a:p>
        </p:txBody>
      </p:sp>
      <p:pic>
        <p:nvPicPr>
          <p:cNvPr id="11" name="Picture 5" descr="cartoon, building tower from top down">
            <a:extLst>
              <a:ext uri="{FF2B5EF4-FFF2-40B4-BE49-F238E27FC236}">
                <a16:creationId xmlns:a16="http://schemas.microsoft.com/office/drawing/2014/main" id="{16F393D9-BEF6-4E91-B156-2E9B9A9DE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9773" y="3315935"/>
            <a:ext cx="7597714" cy="9566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EB5D2EC-9F67-4DB7-97F5-FE3DA228E85E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Processo de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</a:p>
        </p:txBody>
      </p:sp>
    </p:spTree>
    <p:extLst>
      <p:ext uri="{BB962C8B-B14F-4D97-AF65-F5344CB8AC3E}">
        <p14:creationId xmlns:p14="http://schemas.microsoft.com/office/powerpoint/2010/main" val="427916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3222247"/>
            <a:ext cx="23283780" cy="10220704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143000" indent="-1143000" algn="l">
              <a:lnSpc>
                <a:spcPct val="100000"/>
              </a:lnSpc>
              <a:buAutoNum type="arabicPeriod"/>
            </a:pPr>
            <a:r>
              <a:rPr lang="en-US" sz="8000" dirty="0" err="1">
                <a:latin typeface="Tw Cen MT" panose="020B0602020104020603" pitchFamily="34" charset="77"/>
              </a:rPr>
              <a:t>Introdução</a:t>
            </a:r>
            <a:r>
              <a:rPr lang="en-US" sz="8000" dirty="0">
                <a:latin typeface="Tw Cen MT" panose="020B0602020104020603" pitchFamily="34" charset="77"/>
              </a:rPr>
              <a:t> a </a:t>
            </a:r>
            <a:r>
              <a:rPr lang="en-US" sz="8000" dirty="0" err="1">
                <a:latin typeface="Tw Cen MT" panose="020B0602020104020603" pitchFamily="34" charset="77"/>
              </a:rPr>
              <a:t>Modelagem</a:t>
            </a:r>
            <a:r>
              <a:rPr lang="en-US" sz="8000" dirty="0">
                <a:latin typeface="Tw Cen MT" panose="020B0602020104020603" pitchFamily="34" charset="77"/>
              </a:rPr>
              <a:t> de Dados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Atividade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6ED157C-84DA-42F8-9D7A-89478EC18441}"/>
              </a:ext>
            </a:extLst>
          </p:cNvPr>
          <p:cNvSpPr txBox="1"/>
          <p:nvPr/>
        </p:nvSpPr>
        <p:spPr>
          <a:xfrm>
            <a:off x="1184256" y="3353095"/>
            <a:ext cx="22032949" cy="1081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defTabSz="1828800">
              <a:lnSpc>
                <a:spcPct val="150000"/>
              </a:lnSpc>
              <a:spcBef>
                <a:spcPts val="2000"/>
              </a:spcBef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Identifique as Entidades na descrição abaixo:</a:t>
            </a:r>
          </a:p>
        </p:txBody>
      </p:sp>
      <p:sp>
        <p:nvSpPr>
          <p:cNvPr id="11" name="Retângulo 7">
            <a:extLst>
              <a:ext uri="{FF2B5EF4-FFF2-40B4-BE49-F238E27FC236}">
                <a16:creationId xmlns:a16="http://schemas.microsoft.com/office/drawing/2014/main" id="{98021AE7-C3F2-4C6B-A236-5EA4582AC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680" y="3530458"/>
            <a:ext cx="21891080" cy="11502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0287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marL="857250" indent="-857250" eaLnBrk="1" hangingPunct="1"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Livraria XYZ deseja automatizar os processos de compra e venda de livros para acompanhamento por seus gerentes, vendedores e clientes em um site. Um gerente é responsável por um setor da livraria e por um ou mais vendedores da loja.</a:t>
            </a:r>
          </a:p>
          <a:p>
            <a:pPr marL="857250" indent="-857250" eaLnBrk="1" hangingPunct="1">
              <a:buFont typeface="Arial" panose="020B0604020202020204" pitchFamily="34" charset="0"/>
              <a:buChar char="•"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eaLnBrk="1" hangingPunct="1"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Antes do livro ser disponibilizado para compra no site, é necessário fazer um cadastro, contendo informações da editora, título, autor, resumo, quantidade disponível no estoque e o valor. Os livros disponíveis para a venda podem ser pesquisados pelos clientes, vendedores e gerentes.</a:t>
            </a:r>
          </a:p>
          <a:p>
            <a:pPr marL="857250" indent="-857250" eaLnBrk="1" hangingPunct="1">
              <a:buFont typeface="Arial" panose="020B0604020202020204" pitchFamily="34" charset="0"/>
              <a:buChar char="•"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857250" indent="-857250" eaLnBrk="1" hangingPunct="1"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Para realizar a compra, o cliente deverá fazer um cadastro prévio de seus dados pessoais e criar um login e senha para autenticação. O cliente poderá comprar vários livros em um mesmo pedido, dependendo da sua disponibilidade. A compra poderá ser feita por diversos meios de pagamento e o sistema deverá controlar se o pagamento foi realizado ou não pelo cliente. Caso o pagamento tenha sido confirmado, a  Nota Fiscal deverá ser gerada e a quantidade do livro no estoque deverá ser atualizada imediatamente. Caso contrário, não haverá nenhuma atualização no estoque e a compra será cancelada.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4000" dirty="0"/>
          </a:p>
          <a:p>
            <a:pPr lvl="1" eaLnBrk="1" hangingPunct="1"/>
            <a:endParaRPr lang="pt-BR" altLang="pt-BR" sz="40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565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212651" y="4154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 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3878808" y="3323582"/>
            <a:ext cx="16110401" cy="9609006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963A659-65D9-4DDA-8F66-A5E1B6E891E9}"/>
              </a:ext>
            </a:extLst>
          </p:cNvPr>
          <p:cNvSpPr txBox="1"/>
          <p:nvPr/>
        </p:nvSpPr>
        <p:spPr>
          <a:xfrm>
            <a:off x="4869712" y="4240354"/>
            <a:ext cx="14816777" cy="777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2.1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Modelagem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descritiva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dos dados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2.2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Entidade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2.3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Atributo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2.4 Relacionamento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2.5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Chave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Primária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2.6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Chave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Parcial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985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698616" y="4646234"/>
            <a:ext cx="22865186" cy="9761891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defTabSz="1828800">
              <a:lnSpc>
                <a:spcPct val="150000"/>
              </a:lnSpc>
              <a:spcBef>
                <a:spcPts val="2000"/>
              </a:spcBef>
              <a:buFont typeface="Wingdings" panose="05000000000000000000" pitchFamily="2" charset="2"/>
              <a:buChar char="ü"/>
            </a:pPr>
            <a:endParaRPr lang="pt-BR" sz="7200" baseline="3000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Descritiva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F0158CC-A72F-4F53-9270-5A5A411D832E}"/>
              </a:ext>
            </a:extLst>
          </p:cNvPr>
          <p:cNvSpPr/>
          <p:nvPr/>
        </p:nvSpPr>
        <p:spPr>
          <a:xfrm>
            <a:off x="574309" y="3189797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D1DC31D-599B-488D-A4B9-AF03652A2C6A}"/>
              </a:ext>
            </a:extLst>
          </p:cNvPr>
          <p:cNvSpPr/>
          <p:nvPr/>
        </p:nvSpPr>
        <p:spPr>
          <a:xfrm>
            <a:off x="574309" y="5044731"/>
            <a:ext cx="22989493" cy="7284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defTabSz="1828800" fontAlgn="auto">
              <a:spcBef>
                <a:spcPts val="200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Construir o Modelo de Informação do Negócio</a:t>
            </a:r>
          </a:p>
          <a:p>
            <a:pPr marL="457200" indent="-457200" defTabSz="1828800" fontAlgn="auto">
              <a:spcBef>
                <a:spcPts val="200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Decompor os objetivos e requerimentos em unidades lógicas mínimas de pensamento - Regras de Negócio</a:t>
            </a:r>
          </a:p>
          <a:p>
            <a:pPr marL="457200" indent="-457200" defTabSz="1828800" fontAlgn="auto">
              <a:spcBef>
                <a:spcPts val="200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Definir o consenso sobre as Regras de Negócio</a:t>
            </a:r>
          </a:p>
          <a:p>
            <a:pPr marL="457200" indent="-457200" defTabSz="1828800" fontAlgn="auto">
              <a:spcBef>
                <a:spcPts val="200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Classificar as Regras de Negócio em Definições, Fatos, Restrições e Regras de derivação</a:t>
            </a:r>
          </a:p>
          <a:p>
            <a:pPr marL="457200" indent="-457200" defTabSz="1828800" fontAlgn="auto">
              <a:spcBef>
                <a:spcPts val="200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Analisar cada Definição, Fato, Restrição e Regra de derivação, gerando as Entidades, Relacionamentos e Atributos do Modelo de dados</a:t>
            </a:r>
          </a:p>
          <a:p>
            <a:pPr marL="457200" indent="-457200" defTabSz="1828800" fontAlgn="auto">
              <a:spcBef>
                <a:spcPts val="200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Refinar o Modelo de Dados através das funções e outras informações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291B082-CBAC-487B-AFFE-DFFE9D1A0AAE}"/>
              </a:ext>
            </a:extLst>
          </p:cNvPr>
          <p:cNvSpPr/>
          <p:nvPr/>
        </p:nvSpPr>
        <p:spPr>
          <a:xfrm>
            <a:off x="4838702" y="3117610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Abordagem Regra de Negócio</a:t>
            </a:r>
          </a:p>
        </p:txBody>
      </p:sp>
    </p:spTree>
    <p:extLst>
      <p:ext uri="{BB962C8B-B14F-4D97-AF65-F5344CB8AC3E}">
        <p14:creationId xmlns:p14="http://schemas.microsoft.com/office/powerpoint/2010/main" val="1555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68137" y="3222247"/>
            <a:ext cx="23633325" cy="9797067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7897587" y="3222247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Regra de Negócio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Descritiva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BB454F5-9F60-4843-8BAB-E02BC514524D}"/>
              </a:ext>
            </a:extLst>
          </p:cNvPr>
          <p:cNvSpPr/>
          <p:nvPr/>
        </p:nvSpPr>
        <p:spPr>
          <a:xfrm>
            <a:off x="1295640" y="4750871"/>
            <a:ext cx="22337686" cy="882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Declarações que definem ou restringem algum aspecto do negócio. </a:t>
            </a:r>
          </a:p>
          <a:p>
            <a:pPr marL="685800" indent="-685800"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Sua intenção principal é estabelecer a estrutura do negócio ou controlar ou influenciar seu comportamento.</a:t>
            </a:r>
          </a:p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Frases que descrevem as informações tratadas no plano negocial de uma Organização.</a:t>
            </a:r>
          </a:p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Devem ser da forma: 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</a:t>
            </a:r>
          </a:p>
          <a:p>
            <a:pPr lvl="1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Sujeito + Ação + Objeto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Exemplo: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O Médico atende o Paciente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O Hotel tem Quartos para alugar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O Cliente tem pelo menos um Documento</a:t>
            </a: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1001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68138" y="3222247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8049987" y="3216561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Regra de Negócio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Descritiva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E6684DF-29FD-412C-BC8E-F51C4708B03B}"/>
              </a:ext>
            </a:extLst>
          </p:cNvPr>
          <p:cNvSpPr/>
          <p:nvPr/>
        </p:nvSpPr>
        <p:spPr>
          <a:xfrm>
            <a:off x="1295532" y="5059536"/>
            <a:ext cx="21810397" cy="869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Definições: declarações explícitas de especificação dos objetos do negócio.</a:t>
            </a:r>
          </a:p>
          <a:p>
            <a:pPr lvl="1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Um Departamento é a menor fração da estrutura universitária para efeitos de organização administrativa e didático-científica, em cursos que visam completar a formação acadêmica do 	aluno.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Fatos: proposição que descreve propriedades ou papeis de um objeto. 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	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O Cliente tem endereço ou Uma Fatura é emitida para um Cliente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Restrições: limites colocados aos fatos para diminuição de ocorrências válidas no universo estudo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Um Pedido deve ser colocado para um Cliente cadastrado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Regras de Derivação: condicionantes colocados sobre os fatos e que podem gerar outros fatos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 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: Se o Pedido  chegar até o dia 15 ele será processado no mês corrente.</a:t>
            </a:r>
          </a:p>
          <a:p>
            <a:pPr lvl="1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4400" dirty="0">
              <a:solidFill>
                <a:srgbClr val="0070C0"/>
              </a:solidFill>
              <a:latin typeface="+mn-lt"/>
            </a:endParaRP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20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68138" y="3222247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7545115" y="3426646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Identificando os Objetos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Descritiva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FB42F2D-8BDB-4140-A7E4-49F099B190F6}"/>
              </a:ext>
            </a:extLst>
          </p:cNvPr>
          <p:cNvSpPr/>
          <p:nvPr/>
        </p:nvSpPr>
        <p:spPr>
          <a:xfrm>
            <a:off x="1032616" y="5333140"/>
            <a:ext cx="22600708" cy="7460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indent="-85725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Essa atividade consiste na identificação dos objetos envolvidos,  conhecendo suas características, seu comportamento e seus relacionamentos com outros objetos. </a:t>
            </a:r>
          </a:p>
          <a:p>
            <a:pPr marL="857250" indent="-8572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partir do momento em que conseguimos identificar os objetos sobre os quais queremos armazenar alguma informação estamos preparados para elaborar o Modelo de Dados Conceitual. </a:t>
            </a:r>
          </a:p>
          <a:p>
            <a:pPr marL="857250" indent="-8572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 Modelo de Dados Conceitual deve representar o negócio</a:t>
            </a:r>
          </a:p>
          <a:p>
            <a:pPr>
              <a:lnSpc>
                <a:spcPct val="90000"/>
              </a:lnSpc>
              <a:defRPr/>
            </a:pPr>
            <a:endParaRPr lang="pt-BR" altLang="pt-BR" sz="4800" dirty="0"/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3695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29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768138" y="3222247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4697187" y="3210241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Mapeamento da Regra de Negócio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Descritiva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FB42F2D-8BDB-4140-A7E4-49F099B190F6}"/>
              </a:ext>
            </a:extLst>
          </p:cNvPr>
          <p:cNvSpPr/>
          <p:nvPr/>
        </p:nvSpPr>
        <p:spPr>
          <a:xfrm>
            <a:off x="1545771" y="5512029"/>
            <a:ext cx="19855543" cy="5010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4000" dirty="0">
                <a:latin typeface="+mn-lt"/>
              </a:rPr>
              <a:t>O </a:t>
            </a:r>
            <a:r>
              <a:rPr lang="pt-BR" altLang="pt-BR" sz="4000" b="1" dirty="0">
                <a:solidFill>
                  <a:srgbClr val="006699"/>
                </a:solidFill>
                <a:latin typeface="+mn-lt"/>
              </a:rPr>
              <a:t>Sujeito</a:t>
            </a:r>
            <a:r>
              <a:rPr lang="pt-BR" altLang="pt-BR" sz="4000" dirty="0">
                <a:latin typeface="+mn-lt"/>
              </a:rPr>
              <a:t> e o </a:t>
            </a:r>
            <a:r>
              <a:rPr lang="pt-BR" altLang="pt-BR" sz="4000" b="1" dirty="0">
                <a:solidFill>
                  <a:srgbClr val="006699"/>
                </a:solidFill>
                <a:latin typeface="+mn-lt"/>
              </a:rPr>
              <a:t>Objeto</a:t>
            </a:r>
            <a:r>
              <a:rPr lang="pt-BR" altLang="pt-BR" sz="4000" dirty="0">
                <a:latin typeface="+mn-lt"/>
              </a:rPr>
              <a:t> são provavelmente relacionados à </a:t>
            </a:r>
            <a:r>
              <a:rPr lang="pt-BR" altLang="pt-BR" sz="4000" b="1" dirty="0">
                <a:solidFill>
                  <a:srgbClr val="CC3300"/>
                </a:solidFill>
                <a:latin typeface="+mn-lt"/>
              </a:rPr>
              <a:t>Entidade de Dados</a:t>
            </a:r>
          </a:p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4000" dirty="0">
              <a:latin typeface="+mn-lt"/>
            </a:endParaRPr>
          </a:p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4000" dirty="0">
                <a:latin typeface="+mn-lt"/>
              </a:rPr>
              <a:t>Os </a:t>
            </a:r>
            <a:r>
              <a:rPr lang="pt-BR" altLang="pt-BR" sz="4000" b="1" dirty="0">
                <a:solidFill>
                  <a:srgbClr val="006699"/>
                </a:solidFill>
                <a:latin typeface="+mn-lt"/>
              </a:rPr>
              <a:t>Verbos</a:t>
            </a:r>
            <a:r>
              <a:rPr lang="pt-BR" altLang="pt-BR" sz="4000" dirty="0">
                <a:latin typeface="+mn-lt"/>
              </a:rPr>
              <a:t> sugerem os </a:t>
            </a:r>
            <a:r>
              <a:rPr lang="pt-BR" altLang="pt-BR" sz="4000" b="1" dirty="0">
                <a:solidFill>
                  <a:srgbClr val="CC3300"/>
                </a:solidFill>
                <a:latin typeface="+mn-lt"/>
              </a:rPr>
              <a:t>Relacionamentos</a:t>
            </a:r>
          </a:p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4000" dirty="0">
              <a:latin typeface="+mn-lt"/>
            </a:endParaRPr>
          </a:p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4000" dirty="0">
                <a:latin typeface="+mn-lt"/>
              </a:rPr>
              <a:t>Os </a:t>
            </a:r>
            <a:r>
              <a:rPr lang="pt-BR" altLang="pt-BR" sz="4000" b="1" dirty="0">
                <a:solidFill>
                  <a:srgbClr val="006699"/>
                </a:solidFill>
                <a:latin typeface="+mn-lt"/>
              </a:rPr>
              <a:t>Adjetivo</a:t>
            </a:r>
            <a:r>
              <a:rPr lang="pt-BR" altLang="pt-BR" sz="4000" b="1" dirty="0">
                <a:latin typeface="+mn-lt"/>
              </a:rPr>
              <a:t>s</a:t>
            </a:r>
            <a:r>
              <a:rPr lang="pt-BR" altLang="pt-BR" sz="4000" dirty="0">
                <a:latin typeface="+mn-lt"/>
              </a:rPr>
              <a:t> correspondem a </a:t>
            </a:r>
            <a:r>
              <a:rPr lang="pt-BR" altLang="pt-BR" sz="4000" b="1" dirty="0">
                <a:solidFill>
                  <a:srgbClr val="CC3300"/>
                </a:solidFill>
                <a:latin typeface="+mn-lt"/>
              </a:rPr>
              <a:t>Atributos</a:t>
            </a:r>
            <a:r>
              <a:rPr lang="pt-BR" altLang="pt-BR" sz="4000" b="1" dirty="0">
                <a:latin typeface="+mn-lt"/>
              </a:rPr>
              <a:t> </a:t>
            </a:r>
            <a:r>
              <a:rPr lang="pt-BR" altLang="pt-BR" sz="4000" dirty="0">
                <a:latin typeface="+mn-lt"/>
              </a:rPr>
              <a:t>de Entidade de Dados</a:t>
            </a:r>
          </a:p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4000" dirty="0">
              <a:latin typeface="+mn-lt"/>
            </a:endParaRPr>
          </a:p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4000" b="1" dirty="0">
                <a:solidFill>
                  <a:srgbClr val="006699"/>
                </a:solidFill>
                <a:latin typeface="+mn-lt"/>
              </a:rPr>
              <a:t>Advérbios</a:t>
            </a:r>
            <a:r>
              <a:rPr lang="pt-BR" altLang="pt-BR" sz="4000" dirty="0">
                <a:latin typeface="+mn-lt"/>
              </a:rPr>
              <a:t> e </a:t>
            </a:r>
            <a:r>
              <a:rPr lang="pt-BR" altLang="pt-BR" sz="4000" b="1" dirty="0">
                <a:solidFill>
                  <a:srgbClr val="006699"/>
                </a:solidFill>
                <a:latin typeface="+mn-lt"/>
              </a:rPr>
              <a:t>Adjuntos adverbiais</a:t>
            </a:r>
            <a:r>
              <a:rPr lang="pt-BR" altLang="pt-BR" sz="4000" dirty="0">
                <a:latin typeface="+mn-lt"/>
              </a:rPr>
              <a:t> podem sugerir </a:t>
            </a:r>
            <a:r>
              <a:rPr lang="pt-BR" altLang="pt-BR" sz="4000" b="1" dirty="0">
                <a:solidFill>
                  <a:srgbClr val="CC3300"/>
                </a:solidFill>
                <a:latin typeface="+mn-lt"/>
              </a:rPr>
              <a:t>Atributos</a:t>
            </a:r>
            <a:r>
              <a:rPr lang="pt-BR" altLang="pt-BR" sz="4000" dirty="0">
                <a:latin typeface="+mn-lt"/>
              </a:rPr>
              <a:t> de Relacionamentos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8458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85110" y="3315935"/>
            <a:ext cx="22202120" cy="10021860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5790827" y="3244303"/>
            <a:ext cx="21929537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Decompondo a Descrição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Descritiva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FCAEF8-8F7D-4A9B-BB04-AA7AE8E771FD}"/>
              </a:ext>
            </a:extLst>
          </p:cNvPr>
          <p:cNvSpPr txBox="1">
            <a:spLocks noChangeArrowheads="1"/>
          </p:cNvSpPr>
          <p:nvPr/>
        </p:nvSpPr>
        <p:spPr>
          <a:xfrm>
            <a:off x="1006291" y="4700305"/>
            <a:ext cx="20547424" cy="3933167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Podemos descrever a realidade usando o seguinte:</a:t>
            </a:r>
          </a:p>
          <a:p>
            <a:pPr marL="914400" lvl="1" indent="0">
              <a:buNone/>
            </a:pPr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“João, a vizinha do 806, Maria, tem uma filha, Joaquina, que está em Portugal e a Joaquina nasceu lá. É filha de um português, o Manuel.”</a:t>
            </a:r>
          </a:p>
          <a:p>
            <a:pPr marL="914400" lvl="1" indent="0">
              <a:buNone/>
            </a:pPr>
            <a:endParaRPr lang="pt-BR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914400" lvl="1" indent="0">
              <a:buNone/>
            </a:pPr>
            <a:endParaRPr lang="pt-BR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914400" lvl="1" indent="0">
              <a:buNone/>
            </a:pPr>
            <a:endParaRPr lang="pt-BR" altLang="pt-BR" sz="54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E63FAA8-D792-4565-BCCB-D5D39C2804F5}"/>
              </a:ext>
            </a:extLst>
          </p:cNvPr>
          <p:cNvSpPr txBox="1">
            <a:spLocks noChangeArrowheads="1"/>
          </p:cNvSpPr>
          <p:nvPr/>
        </p:nvSpPr>
        <p:spPr>
          <a:xfrm>
            <a:off x="1078249" y="6666888"/>
            <a:ext cx="15576894" cy="4810125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Podemos decompor a realidade em sentenças simples:</a:t>
            </a:r>
          </a:p>
          <a:p>
            <a:pPr lvl="1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João é vizinho da Maria;</a:t>
            </a:r>
          </a:p>
          <a:p>
            <a:pPr lvl="1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Joaquina é filha da Maria;</a:t>
            </a:r>
          </a:p>
          <a:p>
            <a:pPr lvl="1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Manuel é o pai de Joaquina;</a:t>
            </a:r>
          </a:p>
          <a:p>
            <a:pPr lvl="1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Manuel nasceu em Portugal; </a:t>
            </a:r>
          </a:p>
          <a:p>
            <a:pPr lvl="1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Joaquina nasceu em Portugal; </a:t>
            </a:r>
          </a:p>
          <a:p>
            <a:pPr lvl="1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Joaquina está em Portugal</a:t>
            </a:r>
          </a:p>
          <a:p>
            <a:pPr lvl="1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João está ouvindo?</a:t>
            </a:r>
          </a:p>
          <a:p>
            <a:pPr lvl="2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quero saber.</a:t>
            </a:r>
          </a:p>
          <a:p>
            <a:pPr lvl="2"/>
            <a:r>
              <a:rPr lang="pt-BR" altLang="pt-BR" sz="54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preciso dessa informação!!</a:t>
            </a: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3D708FEF-E686-4FF1-9692-77F823C8F4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2717828"/>
              </p:ext>
            </p:extLst>
          </p:nvPr>
        </p:nvGraphicFramePr>
        <p:xfrm>
          <a:off x="13345886" y="5987143"/>
          <a:ext cx="8729009" cy="6966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453697" imgH="4865612" progId="Visio.Drawing.11">
                  <p:embed/>
                </p:oleObj>
              </mc:Choice>
              <mc:Fallback>
                <p:oleObj name="Visio" r:id="rId2" imgW="5453697" imgH="4865612" progId="Visio.Drawing.11">
                  <p:embed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578394E0-E929-49E5-A149-D07B188C58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5886" y="5987143"/>
                        <a:ext cx="8729009" cy="6966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tângulo 14">
            <a:extLst>
              <a:ext uri="{FF2B5EF4-FFF2-40B4-BE49-F238E27FC236}">
                <a16:creationId xmlns:a16="http://schemas.microsoft.com/office/drawing/2014/main" id="{16283EB5-A178-497D-94A9-B7968AC8ED02}"/>
              </a:ext>
            </a:extLst>
          </p:cNvPr>
          <p:cNvSpPr/>
          <p:nvPr/>
        </p:nvSpPr>
        <p:spPr>
          <a:xfrm>
            <a:off x="15675055" y="12035066"/>
            <a:ext cx="2192953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8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48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Diagrama das proposições</a:t>
            </a:r>
          </a:p>
        </p:txBody>
      </p:sp>
    </p:spTree>
    <p:extLst>
      <p:ext uri="{BB962C8B-B14F-4D97-AF65-F5344CB8AC3E}">
        <p14:creationId xmlns:p14="http://schemas.microsoft.com/office/powerpoint/2010/main" val="2588137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10338" y="3382923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6460673" y="3657896"/>
            <a:ext cx="22032950" cy="91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Exemplos de Regra de Negócio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Descritiva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F14B3C8-C0A0-4E40-AA35-6759C9D1304E}"/>
              </a:ext>
            </a:extLst>
          </p:cNvPr>
          <p:cNvSpPr/>
          <p:nvPr/>
        </p:nvSpPr>
        <p:spPr>
          <a:xfrm>
            <a:off x="1525939" y="4704302"/>
            <a:ext cx="21747719" cy="9011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 Contrato é o instrumento de registro da demanda de um Cliente, por produtos na empresa Construções Ltda.</a:t>
            </a: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 Cliente pode ter vários Contratos em andamento.</a:t>
            </a: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 Contrato é operacionalizado por um ou mais projetos.</a:t>
            </a: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 Projeto pode ser executado pela própria empresa, ou Um Projeto pode ser executado por terceiros: Empreiteiras.</a:t>
            </a: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Uma Empreiteira é matriculada na empresa antes de assumir Projeto.</a:t>
            </a: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Uma Empreiteira pode estar executando vários projetos.</a:t>
            </a: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Uma Empreiteira apresenta um orçamento dos serviços que vai produzir, para um dado projeto.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1858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3315935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C4C1BE-8B8F-48BC-BC24-79A26F182DA3}"/>
              </a:ext>
            </a:extLst>
          </p:cNvPr>
          <p:cNvSpPr/>
          <p:nvPr/>
        </p:nvSpPr>
        <p:spPr>
          <a:xfrm>
            <a:off x="8746672" y="3356750"/>
            <a:ext cx="22032950" cy="1528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80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Atividade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Descritiva</a:t>
            </a:r>
            <a:r>
              <a:rPr lang="en-US" sz="6600" dirty="0">
                <a:latin typeface="Tw Cen MT" panose="020B0602020104020603" pitchFamily="34" charset="77"/>
              </a:rPr>
              <a:t> de Dados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FB42F2D-8BDB-4140-A7E4-49F099B190F6}"/>
              </a:ext>
            </a:extLst>
          </p:cNvPr>
          <p:cNvSpPr/>
          <p:nvPr/>
        </p:nvSpPr>
        <p:spPr>
          <a:xfrm>
            <a:off x="1545771" y="5512029"/>
            <a:ext cx="20813486" cy="476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Identifique os sujeitos, objetos, verbos, adjetivos, advérbios e adjuntos adverbiais do exemplo anterior.</a:t>
            </a:r>
          </a:p>
          <a:p>
            <a:pPr marL="685800" indent="-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Esboce o Diagrama das Proposições.</a:t>
            </a:r>
          </a:p>
          <a:p>
            <a:pPr marL="685800" indent="-685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0576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3315935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087ACA45-CF73-41A0-A205-3FCA096FC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373" y="3569849"/>
            <a:ext cx="23966488" cy="1028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0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Seres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Pessoas, Animais, Plantas</a:t>
            </a:r>
          </a:p>
          <a:p>
            <a:pPr lvl="1" eaLnBrk="1" hangingPunct="1">
              <a:lnSpc>
                <a:spcPct val="90000"/>
              </a:lnSpc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Lugares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Áreas ou Localizações Geográficas)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(Região, Cidade, Rota)</a:t>
            </a:r>
          </a:p>
          <a:p>
            <a:pPr lvl="1" eaLnBrk="1" hangingPunct="1">
              <a:lnSpc>
                <a:spcPct val="90000"/>
              </a:lnSpc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Organizações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Coleções Organizadas de Pessoas, Recursos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(Agência,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Orgão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, Equipe)</a:t>
            </a:r>
          </a:p>
          <a:p>
            <a:pPr lvl="1" eaLnBrk="1" hangingPunct="1">
              <a:lnSpc>
                <a:spcPct val="90000"/>
              </a:lnSpc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Coisas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Objetos Físicos (Equipamento, Veículo)</a:t>
            </a: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12" name="Imagem 4">
            <a:extLst>
              <a:ext uri="{FF2B5EF4-FFF2-40B4-BE49-F238E27FC236}">
                <a16:creationId xmlns:a16="http://schemas.microsoft.com/office/drawing/2014/main" id="{0591D59A-3495-4FD8-A983-96EED28C7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671" y="4680078"/>
            <a:ext cx="11552237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8538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3315935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1" name="Retângulo 7">
            <a:extLst>
              <a:ext uri="{FF2B5EF4-FFF2-40B4-BE49-F238E27FC236}">
                <a16:creationId xmlns:a16="http://schemas.microsoft.com/office/drawing/2014/main" id="{D4F4220E-74E0-493D-BAFD-7BB8AA625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6733" y="4144964"/>
            <a:ext cx="23966488" cy="9409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4800" b="1" dirty="0">
                <a:solidFill>
                  <a:srgbClr val="002060"/>
                </a:solidFill>
                <a:latin typeface="Tw Cen MT" panose="020B0602020104020603" pitchFamily="34" charset="0"/>
              </a:rPr>
              <a:t>Papel da Entidade</a:t>
            </a:r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Cada Papel pode formar uma nova Entidade</a:t>
            </a:r>
          </a:p>
          <a:p>
            <a:pPr lvl="1" eaLnBrk="1" hangingPunct="1">
              <a:lnSpc>
                <a:spcPct val="90000"/>
              </a:lnSpc>
            </a:pPr>
            <a:endParaRPr lang="pt-BR" altLang="pt-BR" sz="4000" dirty="0"/>
          </a:p>
          <a:p>
            <a:pPr lvl="1" eaLnBrk="1" hangingPunct="1">
              <a:lnSpc>
                <a:spcPct val="90000"/>
              </a:lnSpc>
            </a:pPr>
            <a:r>
              <a:rPr lang="pt-BR" altLang="pt-BR" sz="4000" dirty="0"/>
              <a:t>	Uma Pedra </a:t>
            </a:r>
          </a:p>
          <a:p>
            <a:pPr lvl="3" eaLnBrk="1" hangingPunct="1">
              <a:lnSpc>
                <a:spcPct val="90000"/>
              </a:lnSpc>
            </a:pPr>
            <a:r>
              <a:rPr lang="pt-BR" altLang="pt-BR" sz="4000" dirty="0"/>
              <a:t>Para o Pedreiro	 -  </a:t>
            </a:r>
            <a:r>
              <a:rPr lang="pt-BR" altLang="pt-BR" sz="4000" dirty="0">
                <a:solidFill>
                  <a:schemeClr val="tx2"/>
                </a:solidFill>
              </a:rPr>
              <a:t>Brita</a:t>
            </a:r>
            <a:endParaRPr lang="pt-BR" altLang="pt-BR" sz="4000" dirty="0"/>
          </a:p>
          <a:p>
            <a:pPr lvl="3" eaLnBrk="1" hangingPunct="1">
              <a:lnSpc>
                <a:spcPct val="90000"/>
              </a:lnSpc>
            </a:pPr>
            <a:r>
              <a:rPr lang="pt-BR" altLang="pt-BR" sz="4000" dirty="0"/>
              <a:t>Para o Garoto	 -  </a:t>
            </a:r>
            <a:r>
              <a:rPr lang="pt-BR" altLang="pt-BR" sz="4000" dirty="0">
                <a:solidFill>
                  <a:schemeClr val="tx2"/>
                </a:solidFill>
              </a:rPr>
              <a:t>Brinquedo</a:t>
            </a:r>
            <a:endParaRPr lang="pt-BR" altLang="pt-BR" sz="4000" dirty="0"/>
          </a:p>
          <a:p>
            <a:pPr lvl="3" eaLnBrk="1" hangingPunct="1">
              <a:lnSpc>
                <a:spcPct val="90000"/>
              </a:lnSpc>
            </a:pPr>
            <a:r>
              <a:rPr lang="pt-BR" altLang="pt-BR" sz="4000" dirty="0"/>
              <a:t>Para o Alpinista	 -  </a:t>
            </a:r>
            <a:r>
              <a:rPr lang="pt-BR" altLang="pt-BR" sz="4000" dirty="0">
                <a:solidFill>
                  <a:schemeClr val="tx2"/>
                </a:solidFill>
              </a:rPr>
              <a:t>Obstáculo</a:t>
            </a:r>
            <a:endParaRPr lang="pt-BR" altLang="pt-BR" sz="4000" dirty="0"/>
          </a:p>
          <a:p>
            <a:pPr lvl="3" eaLnBrk="1" hangingPunct="1">
              <a:lnSpc>
                <a:spcPct val="90000"/>
              </a:lnSpc>
            </a:pPr>
            <a:endParaRPr lang="pt-BR" altLang="pt-BR" sz="4000" dirty="0"/>
          </a:p>
          <a:p>
            <a:pPr lvl="1" eaLnBrk="1" hangingPunct="1">
              <a:lnSpc>
                <a:spcPct val="90000"/>
              </a:lnSpc>
            </a:pPr>
            <a:r>
              <a:rPr lang="pt-BR" altLang="pt-BR" sz="4000" dirty="0"/>
              <a:t>	Uma Pessoa </a:t>
            </a:r>
          </a:p>
          <a:p>
            <a:pPr lvl="3" eaLnBrk="1" hangingPunct="1">
              <a:lnSpc>
                <a:spcPct val="90000"/>
              </a:lnSpc>
            </a:pPr>
            <a:r>
              <a:rPr lang="pt-BR" altLang="pt-BR" sz="4000" dirty="0"/>
              <a:t>Para o Recursos Humanos	 - </a:t>
            </a:r>
            <a:r>
              <a:rPr lang="pt-BR" altLang="pt-BR" sz="4000" dirty="0">
                <a:solidFill>
                  <a:schemeClr val="tx2"/>
                </a:solidFill>
              </a:rPr>
              <a:t>Funcionário</a:t>
            </a:r>
          </a:p>
          <a:p>
            <a:pPr lvl="3" eaLnBrk="1" hangingPunct="1">
              <a:lnSpc>
                <a:spcPct val="90000"/>
              </a:lnSpc>
            </a:pPr>
            <a:r>
              <a:rPr lang="pt-BR" altLang="pt-BR" sz="4000" dirty="0"/>
              <a:t>Para o Vendas						 -  </a:t>
            </a:r>
            <a:r>
              <a:rPr lang="pt-BR" altLang="pt-BR" sz="4000" dirty="0">
                <a:solidFill>
                  <a:schemeClr val="tx2"/>
                </a:solidFill>
              </a:rPr>
              <a:t>Cliente</a:t>
            </a:r>
          </a:p>
          <a:p>
            <a:pPr lvl="3" eaLnBrk="1" hangingPunct="1">
              <a:lnSpc>
                <a:spcPct val="90000"/>
              </a:lnSpc>
            </a:pPr>
            <a:r>
              <a:rPr lang="pt-BR" altLang="pt-BR" sz="4000" dirty="0"/>
              <a:t>Para o Crediário					 -  </a:t>
            </a:r>
            <a:r>
              <a:rPr lang="pt-BR" altLang="pt-BR" sz="4000" dirty="0">
                <a:solidFill>
                  <a:schemeClr val="tx2"/>
                </a:solidFill>
              </a:rPr>
              <a:t>Devedor</a:t>
            </a: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436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3315935"/>
            <a:ext cx="22865186" cy="9761891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A6B66385-BBD7-47B0-BAE8-FC5C73D93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03221" y="2908931"/>
            <a:ext cx="23966488" cy="455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000" b="1" dirty="0"/>
          </a:p>
          <a:p>
            <a:pPr algn="ctr" eaLnBrk="1" hangingPunct="1"/>
            <a:r>
              <a:rPr lang="pt-BR" altLang="pt-BR" sz="4800" b="1" dirty="0">
                <a:solidFill>
                  <a:srgbClr val="002060"/>
                </a:solidFill>
                <a:latin typeface="Tw Cen MT" panose="020B0602020104020603" pitchFamily="34" charset="0"/>
              </a:rPr>
              <a:t>O que pode ser uma entidade?</a:t>
            </a:r>
          </a:p>
          <a:p>
            <a:pPr eaLnBrk="1" hangingPunct="1"/>
            <a:endParaRPr lang="pt-BR" altLang="pt-BR" sz="4800" b="1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2" name="Retângulo 2">
            <a:extLst>
              <a:ext uri="{FF2B5EF4-FFF2-40B4-BE49-F238E27FC236}">
                <a16:creationId xmlns:a16="http://schemas.microsoft.com/office/drawing/2014/main" id="{EC7340F9-B83C-436D-97A8-35FB20708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6733" y="5493095"/>
            <a:ext cx="21488400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143000" indent="-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PODE SER: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 objeto com muitas instâncias na Base de Dados;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 objeto composto de múltiplos Atributos;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 objeto parte do escopo da Modelagem.</a:t>
            </a:r>
          </a:p>
          <a:p>
            <a:pPr eaLnBrk="1" hangingPunct="1"/>
            <a:endParaRPr lang="pt-BR" altLang="pt-BR" sz="4400" dirty="0">
              <a:latin typeface="Tw Cen MT" panose="020B0602020104020603" pitchFamily="34" charset="0"/>
            </a:endParaRPr>
          </a:p>
          <a:p>
            <a:pPr eaLnBrk="1" hangingPunct="1"/>
            <a:r>
              <a:rPr lang="pt-BR" altLang="pt-BR" sz="4800" dirty="0">
                <a:solidFill>
                  <a:srgbClr val="FF0000"/>
                </a:solidFill>
                <a:latin typeface="Tw Cen MT" panose="020B0602020104020603" pitchFamily="34" charset="0"/>
              </a:rPr>
              <a:t>NÃO DEVE SER: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sz="4800" dirty="0">
                <a:solidFill>
                  <a:srgbClr val="FF0000"/>
                </a:solidFill>
                <a:latin typeface="Tw Cen MT" panose="020B0602020104020603" pitchFamily="34" charset="0"/>
              </a:rPr>
              <a:t>Um usuário do sistema;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sz="4800" dirty="0">
                <a:solidFill>
                  <a:srgbClr val="FF0000"/>
                </a:solidFill>
                <a:latin typeface="Tw Cen MT" panose="020B0602020104020603" pitchFamily="34" charset="0"/>
              </a:rPr>
              <a:t>Um saída do sistema (um relatório).</a:t>
            </a:r>
          </a:p>
        </p:txBody>
      </p:sp>
    </p:spTree>
    <p:extLst>
      <p:ext uri="{BB962C8B-B14F-4D97-AF65-F5344CB8AC3E}">
        <p14:creationId xmlns:p14="http://schemas.microsoft.com/office/powerpoint/2010/main" val="39696937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3315935"/>
            <a:ext cx="22865186" cy="10021860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8644F561-A36E-42B6-A416-8C3FB1C6B3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322236"/>
              </p:ext>
            </p:extLst>
          </p:nvPr>
        </p:nvGraphicFramePr>
        <p:xfrm>
          <a:off x="2435874" y="7565881"/>
          <a:ext cx="8362950" cy="55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06565" imgH="2735327" progId="Visio.Drawing.6">
                  <p:embed/>
                </p:oleObj>
              </mc:Choice>
              <mc:Fallback>
                <p:oleObj name="Visio" r:id="rId2" imgW="4306565" imgH="2735327" progId="Visio.Drawing.6">
                  <p:embed/>
                  <p:pic>
                    <p:nvPicPr>
                      <p:cNvPr id="44038" name="Object 15">
                        <a:extLst>
                          <a:ext uri="{FF2B5EF4-FFF2-40B4-BE49-F238E27FC236}">
                            <a16:creationId xmlns:a16="http://schemas.microsoft.com/office/drawing/2014/main" id="{29366251-45EF-4F07-851D-FB9DE7C72F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874" y="7565881"/>
                        <a:ext cx="8362950" cy="558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9">
            <a:extLst>
              <a:ext uri="{FF2B5EF4-FFF2-40B4-BE49-F238E27FC236}">
                <a16:creationId xmlns:a16="http://schemas.microsoft.com/office/drawing/2014/main" id="{D4EC5138-BABC-447B-89DC-0C5E7E60DC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963464"/>
              </p:ext>
            </p:extLst>
          </p:nvPr>
        </p:nvGraphicFramePr>
        <p:xfrm>
          <a:off x="15280337" y="9701069"/>
          <a:ext cx="7780337" cy="177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306565" imgH="932396" progId="Visio.Drawing.6">
                  <p:embed/>
                </p:oleObj>
              </mc:Choice>
              <mc:Fallback>
                <p:oleObj name="Visio" r:id="rId4" imgW="4306565" imgH="932396" progId="Visio.Drawing.6">
                  <p:embed/>
                  <p:pic>
                    <p:nvPicPr>
                      <p:cNvPr id="44040" name="Object 19">
                        <a:extLst>
                          <a:ext uri="{FF2B5EF4-FFF2-40B4-BE49-F238E27FC236}">
                            <a16:creationId xmlns:a16="http://schemas.microsoft.com/office/drawing/2014/main" id="{2727B82B-54F4-40DB-A507-E57F374980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0337" y="9701069"/>
                        <a:ext cx="7780337" cy="177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1">
            <a:extLst>
              <a:ext uri="{FF2B5EF4-FFF2-40B4-BE49-F238E27FC236}">
                <a16:creationId xmlns:a16="http://schemas.microsoft.com/office/drawing/2014/main" id="{2C9792AC-5467-4D89-9F8C-D2065BFBE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62" y="9367694"/>
            <a:ext cx="17478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Usuário</a:t>
            </a:r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FC9C18C6-7962-4619-B173-9840A3372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9187" y="9456594"/>
            <a:ext cx="12874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Saída</a:t>
            </a:r>
          </a:p>
        </p:txBody>
      </p:sp>
      <p:sp>
        <p:nvSpPr>
          <p:cNvPr id="17" name="Text Box 23">
            <a:extLst>
              <a:ext uri="{FF2B5EF4-FFF2-40B4-BE49-F238E27FC236}">
                <a16:creationId xmlns:a16="http://schemas.microsoft.com/office/drawing/2014/main" id="{7BCF6AE2-A28E-46BA-9C9C-041CBEC65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5674" y="8800956"/>
            <a:ext cx="1741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600" b="1">
                <a:solidFill>
                  <a:srgbClr val="0000CC"/>
                </a:solidFill>
                <a:latin typeface="Times New Roman" panose="02020603050405020304" pitchFamily="18" charset="0"/>
              </a:rPr>
              <a:t>Correto</a:t>
            </a:r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6E815795-5B54-4D98-99D5-89D9E8F8F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724" y="6665769"/>
            <a:ext cx="20494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600" b="1">
                <a:solidFill>
                  <a:srgbClr val="FF0000"/>
                </a:solidFill>
                <a:latin typeface="Times New Roman" panose="02020603050405020304" pitchFamily="18" charset="0"/>
              </a:rPr>
              <a:t>Incorreto</a:t>
            </a:r>
          </a:p>
        </p:txBody>
      </p:sp>
      <p:sp>
        <p:nvSpPr>
          <p:cNvPr id="19" name="Retângulo 7">
            <a:extLst>
              <a:ext uri="{FF2B5EF4-FFF2-40B4-BE49-F238E27FC236}">
                <a16:creationId xmlns:a16="http://schemas.microsoft.com/office/drawing/2014/main" id="{41326675-9FAB-424E-83A6-8C01EE75D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362" y="3518153"/>
            <a:ext cx="23966488" cy="3943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                                                     Modelo Descritivo</a:t>
            </a: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0" name="Retângulo 2">
            <a:extLst>
              <a:ext uri="{FF2B5EF4-FFF2-40B4-BE49-F238E27FC236}">
                <a16:creationId xmlns:a16="http://schemas.microsoft.com/office/drawing/2014/main" id="{DCE91FD9-1739-4002-8FC4-F6D0A0422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24" y="4215167"/>
            <a:ext cx="22556787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85800" indent="-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empresa XPTO comercializa diversos Produtos da área de papelaria. 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secretária atende os Clientes e é responsável pela impressão da Tabela de Preços dos Produtos.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66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Tabela de Preços contem o Código do Produto, sua Descrição e o Preço.</a:t>
            </a:r>
            <a:endParaRPr lang="en-US" altLang="pt-BR" sz="66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lvl="1" eaLnBrk="1" hangingPunct="1"/>
            <a:endParaRPr lang="pt-BR" altLang="pt-BR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3580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434975" y="2827288"/>
            <a:ext cx="22865186" cy="1088871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7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Definição da Entidade</a:t>
            </a: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60A71A9-F54E-4B0E-854B-231181EB8493}"/>
              </a:ext>
            </a:extLst>
          </p:cNvPr>
          <p:cNvSpPr/>
          <p:nvPr/>
        </p:nvSpPr>
        <p:spPr>
          <a:xfrm>
            <a:off x="698616" y="3634100"/>
            <a:ext cx="21988614" cy="1037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Nome</a:t>
            </a:r>
          </a:p>
          <a:p>
            <a:pPr marL="1143000" lvl="1" indent="-6858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Nome da Entidade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685800" indent="-6858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Descrição </a:t>
            </a:r>
          </a:p>
          <a:p>
            <a:pPr marL="1143000" lvl="1" indent="-6858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Descrição da finalidade do conceito que a Entidade desempenha no contexto da função negocial a ser modelada</a:t>
            </a:r>
          </a:p>
          <a:p>
            <a:pPr marL="1143000" lvl="1" indent="-6858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deve ser Tautológica</a:t>
            </a:r>
          </a:p>
          <a:p>
            <a:pPr lvl="1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Responsabilidade de utilização</a:t>
            </a:r>
          </a:p>
          <a:p>
            <a:pPr marL="1028700" lvl="1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Especifica as unidades Usuárias a serem responsabilizadas pela alimentação e consulta às informações da Entidade</a:t>
            </a:r>
          </a:p>
          <a:p>
            <a:pPr lvl="1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Natureza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Indicação do Gênero: Endógena (produzida internamente) ou Exógena (Importada)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Estimativa de Volume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Quantidade de ocorrências previstas para a Entidade, com o mínimo, máximo e a média.</a:t>
            </a:r>
          </a:p>
          <a:p>
            <a:pPr marL="1143000" lvl="1" indent="-6858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pt-BR" sz="40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7010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52738"/>
            <a:ext cx="22614530" cy="1059021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Dependência Existencial</a:t>
            </a: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1BCF8286-9996-415A-9A9B-EA4C4D3C4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025506"/>
              </p:ext>
            </p:extLst>
          </p:nvPr>
        </p:nvGraphicFramePr>
        <p:xfrm>
          <a:off x="7519193" y="8044742"/>
          <a:ext cx="9363075" cy="527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791581" imgH="3094788" progId="Visio.Drawing.11">
                  <p:embed/>
                </p:oleObj>
              </mc:Choice>
              <mc:Fallback>
                <p:oleObj name="Visio" r:id="rId2" imgW="5791581" imgH="3094788" progId="Visio.Drawing.11">
                  <p:embed/>
                  <p:pic>
                    <p:nvPicPr>
                      <p:cNvPr id="48134" name="Object 5">
                        <a:extLst>
                          <a:ext uri="{FF2B5EF4-FFF2-40B4-BE49-F238E27FC236}">
                            <a16:creationId xmlns:a16="http://schemas.microsoft.com/office/drawing/2014/main" id="{65A9985E-E88C-4FAC-BD10-34AEB3DC68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9193" y="8044742"/>
                        <a:ext cx="9363075" cy="527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tângulo 11">
            <a:extLst>
              <a:ext uri="{FF2B5EF4-FFF2-40B4-BE49-F238E27FC236}">
                <a16:creationId xmlns:a16="http://schemas.microsoft.com/office/drawing/2014/main" id="{F23049D4-1E2B-4625-93EA-263D08E08418}"/>
              </a:ext>
            </a:extLst>
          </p:cNvPr>
          <p:cNvSpPr/>
          <p:nvPr/>
        </p:nvSpPr>
        <p:spPr>
          <a:xfrm>
            <a:off x="693949" y="3809207"/>
            <a:ext cx="23156863" cy="46351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Entidades Fortes: </a:t>
            </a:r>
          </a:p>
          <a:p>
            <a:pPr marL="1028700" lvl="1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possuem independência de existência e identificação.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571500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Entidades Fracas: </a:t>
            </a:r>
          </a:p>
          <a:p>
            <a:pPr marL="1028700" lvl="1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possuem dependência de existência e ou identificação;</a:t>
            </a:r>
          </a:p>
          <a:p>
            <a:pPr marL="1028700" lvl="1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são sempre ligadas à outras Entidades por relacionamentos.</a:t>
            </a:r>
          </a:p>
          <a:p>
            <a:pPr marL="1143000" lvl="1" indent="-6858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pt-BR" sz="40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36688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39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52738"/>
            <a:ext cx="22614530" cy="1059021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Relacionamento</a:t>
            </a: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endParaRPr lang="pt-BR" alt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F67C5227-50A5-4C2F-AEC5-CA768E6F80BC}"/>
              </a:ext>
            </a:extLst>
          </p:cNvPr>
          <p:cNvGraphicFramePr>
            <a:graphicFrameLocks noGrp="1"/>
          </p:cNvGraphicFramePr>
          <p:nvPr/>
        </p:nvGraphicFramePr>
        <p:xfrm>
          <a:off x="2676525" y="7018338"/>
          <a:ext cx="17622838" cy="2016125"/>
        </p:xfrm>
        <a:graphic>
          <a:graphicData uri="http://schemas.openxmlformats.org/drawingml/2006/table">
            <a:tbl>
              <a:tblPr/>
              <a:tblGrid>
                <a:gridCol w="9233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9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612">
                <a:tc>
                  <a:txBody>
                    <a:bodyPr/>
                    <a:lstStyle/>
                    <a:p>
                      <a:pPr marL="1793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           Empregado trabalha em Projeto</a:t>
                      </a:r>
                      <a:endParaRPr kumimoji="0" lang="pt-BR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7" marR="91437" marT="45726" marB="457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                 Cliente compra Produto</a:t>
                      </a:r>
                      <a:endParaRPr kumimoji="0" lang="pt-BR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7" marR="91437" marT="45726" marB="457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ahoma" pitchFamily="34" charset="0"/>
                        </a:rPr>
                        <a:t>Data de Início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ahoma" pitchFamily="34" charset="0"/>
                        </a:rPr>
                        <a:t>Duração Prevista</a:t>
                      </a:r>
                    </a:p>
                  </a:txBody>
                  <a:tcPr marL="91437" marR="91437"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ahoma" pitchFamily="34" charset="0"/>
                        </a:rPr>
                        <a:t>Quantidade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ahoma" pitchFamily="34" charset="0"/>
                        </a:rPr>
                        <a:t>Local de Entrega</a:t>
                      </a:r>
                    </a:p>
                  </a:txBody>
                  <a:tcPr marL="91437" marR="91437"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03EBC21F-DE6A-4A9B-95B8-F263BEDC69AC}"/>
              </a:ext>
            </a:extLst>
          </p:cNvPr>
          <p:cNvGraphicFramePr>
            <a:graphicFrameLocks/>
          </p:cNvGraphicFramePr>
          <p:nvPr/>
        </p:nvGraphicFramePr>
        <p:xfrm>
          <a:off x="12949238" y="9420225"/>
          <a:ext cx="763905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969792" imgH="654764" progId="Visio.Drawing.11">
                  <p:embed/>
                </p:oleObj>
              </mc:Choice>
              <mc:Fallback>
                <p:oleObj name="Visio" r:id="rId2" imgW="3969792" imgH="654764" progId="Visio.Drawing.11">
                  <p:embed/>
                  <p:pic>
                    <p:nvPicPr>
                      <p:cNvPr id="50187" name="Object 4">
                        <a:extLst>
                          <a:ext uri="{FF2B5EF4-FFF2-40B4-BE49-F238E27FC236}">
                            <a16:creationId xmlns:a16="http://schemas.microsoft.com/office/drawing/2014/main" id="{4369D5B2-3A97-4C60-BF02-F664198892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49238" y="9420225"/>
                        <a:ext cx="7639050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0">
            <a:extLst>
              <a:ext uri="{FF2B5EF4-FFF2-40B4-BE49-F238E27FC236}">
                <a16:creationId xmlns:a16="http://schemas.microsoft.com/office/drawing/2014/main" id="{C498F1C2-123F-43CE-B131-7CC583EC3859}"/>
              </a:ext>
            </a:extLst>
          </p:cNvPr>
          <p:cNvGrpSpPr>
            <a:grpSpLocks/>
          </p:cNvGrpSpPr>
          <p:nvPr/>
        </p:nvGrpSpPr>
        <p:grpSpPr bwMode="auto">
          <a:xfrm>
            <a:off x="2676525" y="9426575"/>
            <a:ext cx="7639050" cy="1681163"/>
            <a:chOff x="395536" y="4725144"/>
            <a:chExt cx="3756025" cy="644525"/>
          </a:xfrm>
        </p:grpSpPr>
        <p:pic>
          <p:nvPicPr>
            <p:cNvPr id="17" name="Picture 82">
              <a:extLst>
                <a:ext uri="{FF2B5EF4-FFF2-40B4-BE49-F238E27FC236}">
                  <a16:creationId xmlns:a16="http://schemas.microsoft.com/office/drawing/2014/main" id="{B2027D54-27AC-4D1A-8DC8-A98686F9F0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536" y="4725144"/>
              <a:ext cx="3756025" cy="644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18" name="Text Box 83">
              <a:extLst>
                <a:ext uri="{FF2B5EF4-FFF2-40B4-BE49-F238E27FC236}">
                  <a16:creationId xmlns:a16="http://schemas.microsoft.com/office/drawing/2014/main" id="{1B1C40BA-22C6-456F-A69D-399DEE069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4030" y="4783737"/>
              <a:ext cx="841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pt-BR" altLang="pt-BR" sz="1600">
                  <a:solidFill>
                    <a:srgbClr val="FF0000"/>
                  </a:solidFill>
                  <a:latin typeface="Times New Roman" panose="02020603050405020304" pitchFamily="18" charset="0"/>
                </a:rPr>
                <a:t>trabalha</a:t>
              </a:r>
            </a:p>
          </p:txBody>
        </p:sp>
      </p:grpSp>
      <p:sp>
        <p:nvSpPr>
          <p:cNvPr id="19" name="Retângulo 3">
            <a:extLst>
              <a:ext uri="{FF2B5EF4-FFF2-40B4-BE49-F238E27FC236}">
                <a16:creationId xmlns:a16="http://schemas.microsoft.com/office/drawing/2014/main" id="{E34D781E-B543-4696-AD7A-D508AA6F7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263" y="11758613"/>
            <a:ext cx="38766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4000">
                <a:solidFill>
                  <a:srgbClr val="FF0000"/>
                </a:solidFill>
              </a:rPr>
              <a:t>Por James Martin</a:t>
            </a:r>
            <a:r>
              <a:rPr lang="pt-BR" altLang="pt-BR">
                <a:solidFill>
                  <a:schemeClr val="tx2"/>
                </a:solidFill>
              </a:rPr>
              <a:t>	</a:t>
            </a:r>
            <a:endParaRPr lang="pt-BR" altLang="pt-BR"/>
          </a:p>
        </p:txBody>
      </p:sp>
      <p:sp>
        <p:nvSpPr>
          <p:cNvPr id="20" name="Retângulo 12">
            <a:extLst>
              <a:ext uri="{FF2B5EF4-FFF2-40B4-BE49-F238E27FC236}">
                <a16:creationId xmlns:a16="http://schemas.microsoft.com/office/drawing/2014/main" id="{561E7B29-348D-4571-B9D6-2E7AB15FE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5038" y="11758613"/>
            <a:ext cx="42211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4000">
                <a:solidFill>
                  <a:srgbClr val="000099"/>
                </a:solidFill>
              </a:rPr>
              <a:t>Por Peter Chen</a:t>
            </a:r>
            <a:endParaRPr lang="pt-BR" altLang="pt-BR" sz="4000"/>
          </a:p>
        </p:txBody>
      </p:sp>
      <p:sp>
        <p:nvSpPr>
          <p:cNvPr id="21" name="Retângulo 2">
            <a:extLst>
              <a:ext uri="{FF2B5EF4-FFF2-40B4-BE49-F238E27FC236}">
                <a16:creationId xmlns:a16="http://schemas.microsoft.com/office/drawing/2014/main" id="{76C0E11B-DCDA-40B0-81A4-845D313A9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14" y="4053338"/>
            <a:ext cx="21710650" cy="2640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143000" indent="-685800" defTabSz="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Definição: Mapeamento, com significado específico, entre conjuntos de entidades.</a:t>
            </a:r>
          </a:p>
          <a:p>
            <a:pPr eaLnBrk="1" hangingPunct="1">
              <a:lnSpc>
                <a:spcPct val="90000"/>
              </a:lnSpc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Exemplos: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pt-BR" altLang="pt-BR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8315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170121" y="2852738"/>
            <a:ext cx="22793953" cy="108632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Relacionamento</a:t>
            </a: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endParaRPr lang="pt-BR" alt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7">
            <a:extLst>
              <a:ext uri="{FF2B5EF4-FFF2-40B4-BE49-F238E27FC236}">
                <a16:creationId xmlns:a16="http://schemas.microsoft.com/office/drawing/2014/main" id="{2FBA15F2-7577-4ECE-8A46-DF2E8C7F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24401463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9FA8395-E37C-4209-A726-2B33E1C0541B}"/>
              </a:ext>
            </a:extLst>
          </p:cNvPr>
          <p:cNvSpPr/>
          <p:nvPr/>
        </p:nvSpPr>
        <p:spPr>
          <a:xfrm>
            <a:off x="882681" y="3036008"/>
            <a:ext cx="21466956" cy="1107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715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Grau: representa o número de Entidades que participam no Relacionamento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Binário: quando duas entidades participam de um relacionamento;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Ternário: quando três entidades participam de um relacionamento;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N-ário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: quando quatro ou mais entidades participam de um relacionamento.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3600" dirty="0">
              <a:latin typeface="+mn-lt"/>
            </a:endParaRPr>
          </a:p>
          <a:p>
            <a:pPr indent="-571500"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Cardinalidade: quantidade com que um elemento de um conjunto de Entidades pode, em um dado instante, estar associado, em um dado relacionamento, a outros elementos (quantidade de pares)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Cardinalidade mínima: responsável por orientar a </a:t>
            </a: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opcionalidade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do relacionamento;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Cardinalidade máxima: responsável por definir a quantidade máxima de vezes que um elemento pode estar associado no relacionamento.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3600" dirty="0">
              <a:latin typeface="+mn-lt"/>
            </a:endParaRPr>
          </a:p>
          <a:p>
            <a:pPr indent="-5715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Tipos de relacionamentos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Relacionamento opcional: não depende de nenhuma entidade para existir ou influenciar o seu comportamento;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Relacionamento mutuamente exclusivo: estabelece associação onde se um relacionamento ocorre entre duas ou mais entidades o outro não deverá ocorrer;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/>
            </a:pPr>
            <a:r>
              <a:rPr 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Relacionamento Contingente: estabelece existência simultânea entre dois relacionamentos de uma entidade. É exatamente o oposto de Relacionamentos mutuamente exclusivos.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pt-BR" sz="40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9980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52738"/>
            <a:ext cx="22614530" cy="1059021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Relacionamento</a:t>
            </a: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endParaRPr lang="pt-BR" alt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7">
            <a:extLst>
              <a:ext uri="{FF2B5EF4-FFF2-40B4-BE49-F238E27FC236}">
                <a16:creationId xmlns:a16="http://schemas.microsoft.com/office/drawing/2014/main" id="{2FBA15F2-7577-4ECE-8A46-DF2E8C7F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24401463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1" name="Retângulo 7">
            <a:extLst>
              <a:ext uri="{FF2B5EF4-FFF2-40B4-BE49-F238E27FC236}">
                <a16:creationId xmlns:a16="http://schemas.microsoft.com/office/drawing/2014/main" id="{EA655745-A3F0-4786-8ED6-C1AEE3626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2614530" cy="1187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0287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pt-BR" altLang="pt-BR" sz="4800" b="1" dirty="0" err="1">
                <a:solidFill>
                  <a:srgbClr val="002060"/>
                </a:solidFill>
                <a:latin typeface="Tw Cen MT" panose="020B0602020104020603" pitchFamily="34" charset="0"/>
              </a:rPr>
              <a:t>Opcionalidade</a:t>
            </a:r>
            <a:r>
              <a:rPr lang="pt-BR" altLang="pt-BR" sz="4800" b="1" dirty="0">
                <a:solidFill>
                  <a:srgbClr val="002060"/>
                </a:solidFill>
                <a:latin typeface="Tw Cen MT" panose="020B0602020104020603" pitchFamily="34" charset="0"/>
              </a:rPr>
              <a:t> </a:t>
            </a:r>
          </a:p>
          <a:p>
            <a:pPr eaLnBrk="1" hangingPunct="1"/>
            <a:endParaRPr lang="pt-BR" altLang="pt-BR" sz="4800" b="1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Quando as ocorrências das entidades que se relacionam são independentes das outras. 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Opcional: quando as ocorrências das entidades que se relacionam são independentes das outras.</a:t>
            </a:r>
          </a:p>
          <a:p>
            <a:pPr lvl="1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Mandatório: quando ocorrências das entidades somente podem existir se ambas (dominante e dependente) existirem.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sz="4400" dirty="0"/>
          </a:p>
          <a:p>
            <a:pPr lvl="4" eaLnBrk="1" hangingPunct="1"/>
            <a:endParaRPr lang="pt-BR" altLang="pt-BR" sz="4400" dirty="0"/>
          </a:p>
          <a:p>
            <a:pPr lvl="4" eaLnBrk="1" hangingPunct="1"/>
            <a:endParaRPr lang="pt-BR" altLang="pt-BR" sz="4400" dirty="0"/>
          </a:p>
          <a:p>
            <a:pPr lvl="4" eaLnBrk="1" hangingPunct="1"/>
            <a:endParaRPr lang="pt-BR" altLang="pt-BR" sz="4400" dirty="0"/>
          </a:p>
          <a:p>
            <a:pPr eaLnBrk="1" hangingPunct="1"/>
            <a:endParaRPr lang="pt-BR" altLang="pt-BR" sz="4400" dirty="0"/>
          </a:p>
          <a:p>
            <a:pPr eaLnBrk="1" hangingPunct="1"/>
            <a:endParaRPr lang="pt-BR" altLang="pt-BR" sz="4400" dirty="0"/>
          </a:p>
          <a:p>
            <a:pPr lvl="1" algn="ctr" eaLnBrk="1" hangingPunct="1"/>
            <a:r>
              <a:rPr lang="pt-BR" altLang="pt-BR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Toda Empresa pode existir sem Funcionários</a:t>
            </a:r>
          </a:p>
          <a:p>
            <a:pPr lvl="1" algn="ctr" eaLnBrk="1" hangingPunct="1"/>
            <a:r>
              <a:rPr lang="pt-BR" altLang="pt-BR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Todo Funcionário tem que estar, obrigatoriamente, associado a uma Empresa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pt-BR" altLang="pt-BR" sz="4800" b="1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FDF25A56-F6B9-4867-A02E-6400A3BD3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2025" y="8186738"/>
          <a:ext cx="9653588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69613" imgH="935481" progId="Visio.Drawing.6">
                  <p:embed/>
                </p:oleObj>
              </mc:Choice>
              <mc:Fallback>
                <p:oleObj name="Visio" r:id="rId2" imgW="4369613" imgH="935481" progId="Visio.Drawing.6">
                  <p:embed/>
                  <p:pic>
                    <p:nvPicPr>
                      <p:cNvPr id="54277" name="Object 6">
                        <a:extLst>
                          <a:ext uri="{FF2B5EF4-FFF2-40B4-BE49-F238E27FC236}">
                            <a16:creationId xmlns:a16="http://schemas.microsoft.com/office/drawing/2014/main" id="{97311C93-B24F-4867-A138-740135EB32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2025" y="8186738"/>
                        <a:ext cx="9653588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0728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52738"/>
            <a:ext cx="22614530" cy="1059021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Relacionamento</a:t>
            </a: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endParaRPr lang="pt-BR" alt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7">
            <a:extLst>
              <a:ext uri="{FF2B5EF4-FFF2-40B4-BE49-F238E27FC236}">
                <a16:creationId xmlns:a16="http://schemas.microsoft.com/office/drawing/2014/main" id="{2FBA15F2-7577-4ECE-8A46-DF2E8C7F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24401463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3" name="Retângulo 7">
            <a:extLst>
              <a:ext uri="{FF2B5EF4-FFF2-40B4-BE49-F238E27FC236}">
                <a16:creationId xmlns:a16="http://schemas.microsoft.com/office/drawing/2014/main" id="{9120DCAA-5AFE-40E3-9E84-905B324C2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580" y="3232859"/>
            <a:ext cx="21710650" cy="1039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0287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pt-BR" altLang="pt-BR" sz="4800" b="1" dirty="0">
                <a:solidFill>
                  <a:srgbClr val="002060"/>
                </a:solidFill>
                <a:latin typeface="Tw Cen MT" panose="020B0602020104020603" pitchFamily="34" charset="0"/>
              </a:rPr>
              <a:t>Complexidade do Relacionamento</a:t>
            </a:r>
          </a:p>
          <a:p>
            <a:pPr eaLnBrk="1" hangingPunct="1"/>
            <a:endParaRPr lang="pt-BR" altLang="pt-BR" sz="4800" b="1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Fatos Simples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nenhum ou um (0,1)</a:t>
            </a:r>
          </a:p>
          <a:p>
            <a:pPr eaLnBrk="1" hangingPunct="1"/>
            <a:endParaRPr lang="pt-BR" altLang="pt-BR" sz="40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Fatos Simples com dependência Existencial do sujeito para o objeto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um e sempre um (1,1)</a:t>
            </a:r>
          </a:p>
          <a:p>
            <a:pPr eaLnBrk="1" hangingPunct="1"/>
            <a:endParaRPr lang="pt-BR" altLang="pt-BR" sz="40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Fatos complexos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nenhum, um ou mais (0,N)</a:t>
            </a:r>
          </a:p>
          <a:p>
            <a:pPr lvl="1" eaLnBrk="1" hangingPunct="1"/>
            <a:endParaRPr lang="pt-BR" altLang="pt-BR" sz="4000" b="1" dirty="0">
              <a:solidFill>
                <a:srgbClr val="002060"/>
              </a:solidFill>
              <a:latin typeface="Tw Cen MT" panose="020B0602020104020603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  <a:cs typeface="Calibri" panose="020F0502020204030204" pitchFamily="34" charset="0"/>
              </a:rPr>
              <a:t>Exemplos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Um</a:t>
            </a:r>
            <a:r>
              <a:rPr lang="pt-BR" altLang="pt-BR" sz="4000" b="1" dirty="0">
                <a:solidFill>
                  <a:srgbClr val="002060"/>
                </a:solidFill>
                <a:latin typeface="Tw Cen MT" panose="020B0602020104020603" pitchFamily="34" charset="0"/>
              </a:rPr>
              <a:t> Departamento</a:t>
            </a: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 pode possuir um e sempre um </a:t>
            </a:r>
            <a:r>
              <a:rPr lang="pt-BR" altLang="pt-BR" sz="4000" b="1" dirty="0">
                <a:solidFill>
                  <a:srgbClr val="002060"/>
                </a:solidFill>
                <a:latin typeface="Tw Cen MT" panose="020B0602020104020603" pitchFamily="34" charset="0"/>
              </a:rPr>
              <a:t>Gerente </a:t>
            </a: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(1,1)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Um</a:t>
            </a:r>
            <a:r>
              <a:rPr lang="pt-BR" altLang="pt-BR" sz="4000" b="1" dirty="0">
                <a:solidFill>
                  <a:srgbClr val="002060"/>
                </a:solidFill>
                <a:latin typeface="Tw Cen MT" panose="020B0602020104020603" pitchFamily="34" charset="0"/>
              </a:rPr>
              <a:t> Aluno</a:t>
            </a: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 pode cursar pelo menos uma ou mais </a:t>
            </a:r>
            <a:r>
              <a:rPr lang="pt-BR" altLang="pt-BR" sz="4000" b="1" dirty="0">
                <a:solidFill>
                  <a:srgbClr val="002060"/>
                </a:solidFill>
                <a:latin typeface="Tw Cen MT" panose="020B0602020104020603" pitchFamily="34" charset="0"/>
              </a:rPr>
              <a:t>Disciplinas </a:t>
            </a: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de um Curso (1,N)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Uma </a:t>
            </a:r>
            <a:r>
              <a:rPr lang="pt-BR" altLang="pt-BR" sz="4000" b="1" dirty="0">
                <a:solidFill>
                  <a:srgbClr val="002060"/>
                </a:solidFill>
                <a:latin typeface="Tw Cen MT" panose="020B0602020104020603" pitchFamily="34" charset="0"/>
              </a:rPr>
              <a:t>Empresa</a:t>
            </a: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 emprega nenhum, um ou muitos </a:t>
            </a:r>
            <a:r>
              <a:rPr lang="pt-BR" altLang="pt-BR" sz="4000" b="1" dirty="0">
                <a:solidFill>
                  <a:srgbClr val="002060"/>
                </a:solidFill>
                <a:latin typeface="Tw Cen MT" panose="020B0602020104020603" pitchFamily="34" charset="0"/>
              </a:rPr>
              <a:t>Empregados </a:t>
            </a:r>
            <a:r>
              <a:rPr lang="pt-BR" altLang="pt-BR" sz="4000" dirty="0">
                <a:solidFill>
                  <a:srgbClr val="002060"/>
                </a:solidFill>
                <a:latin typeface="Tw Cen MT" panose="020B0602020104020603" pitchFamily="34" charset="0"/>
              </a:rPr>
              <a:t>(0,N)</a:t>
            </a:r>
          </a:p>
          <a:p>
            <a:pPr lvl="1" eaLnBrk="1" hangingPunct="1"/>
            <a:endParaRPr lang="pt-BR" altLang="pt-BR" sz="4000" b="1" dirty="0">
              <a:solidFill>
                <a:srgbClr val="203864"/>
              </a:solidFill>
              <a:latin typeface="Tw Cen MT" panose="020B0602020104020603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19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3" y="2852738"/>
            <a:ext cx="23966487" cy="108632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Relacionamento</a:t>
            </a: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endParaRPr lang="pt-BR" alt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7">
            <a:extLst>
              <a:ext uri="{FF2B5EF4-FFF2-40B4-BE49-F238E27FC236}">
                <a16:creationId xmlns:a16="http://schemas.microsoft.com/office/drawing/2014/main" id="{2FBA15F2-7577-4ECE-8A46-DF2E8C7F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24401463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1" name="Retângulo 7">
            <a:extLst>
              <a:ext uri="{FF2B5EF4-FFF2-40B4-BE49-F238E27FC236}">
                <a16:creationId xmlns:a16="http://schemas.microsoft.com/office/drawing/2014/main" id="{BE1D97D1-5F1C-4B30-B9CD-DB11CE316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016" y="3391646"/>
            <a:ext cx="217106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 err="1">
                <a:solidFill>
                  <a:srgbClr val="002060"/>
                </a:solidFill>
                <a:latin typeface="Tw Cen MT" panose="020B0602020104020603" pitchFamily="34" charset="0"/>
              </a:rPr>
              <a:t>Opcionalidade</a:t>
            </a:r>
            <a:r>
              <a:rPr lang="pt-BR" altLang="pt-BR" sz="4800" b="1" dirty="0">
                <a:solidFill>
                  <a:srgbClr val="002060"/>
                </a:solidFill>
                <a:latin typeface="Tw Cen MT" panose="020B0602020104020603" pitchFamily="34" charset="0"/>
              </a:rPr>
              <a:t>: Representação</a:t>
            </a:r>
          </a:p>
          <a:p>
            <a:pPr lvl="1" eaLnBrk="1" hangingPunct="1"/>
            <a:endParaRPr lang="pt-BR" altLang="pt-BR" sz="44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11D87F66-7B7E-4D99-8624-8F66072946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062945"/>
              </p:ext>
            </p:extLst>
          </p:nvPr>
        </p:nvGraphicFramePr>
        <p:xfrm>
          <a:off x="42978" y="5953871"/>
          <a:ext cx="11509376" cy="491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006487" imgH="2136543" progId="Visio.Drawing.6">
                  <p:embed/>
                </p:oleObj>
              </mc:Choice>
              <mc:Fallback>
                <p:oleObj name="Visio" r:id="rId2" imgW="5006487" imgH="2136543" progId="Visio.Drawing.6">
                  <p:embed/>
                  <p:pic>
                    <p:nvPicPr>
                      <p:cNvPr id="58373" name="Object 3">
                        <a:extLst>
                          <a:ext uri="{FF2B5EF4-FFF2-40B4-BE49-F238E27FC236}">
                            <a16:creationId xmlns:a16="http://schemas.microsoft.com/office/drawing/2014/main" id="{9B7D49C5-545E-4E8D-BE87-B5389F52BE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8" y="5953871"/>
                        <a:ext cx="11509376" cy="491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0">
            <a:extLst>
              <a:ext uri="{FF2B5EF4-FFF2-40B4-BE49-F238E27FC236}">
                <a16:creationId xmlns:a16="http://schemas.microsoft.com/office/drawing/2014/main" id="{4DB3CD8F-1432-4529-B247-CF35647F83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009383"/>
              </p:ext>
            </p:extLst>
          </p:nvPr>
        </p:nvGraphicFramePr>
        <p:xfrm>
          <a:off x="14519391" y="5271246"/>
          <a:ext cx="6561138" cy="583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918418" imgH="3482468" progId="Visio.Drawing.6">
                  <p:embed/>
                </p:oleObj>
              </mc:Choice>
              <mc:Fallback>
                <p:oleObj name="Visio" r:id="rId4" imgW="3918418" imgH="3482468" progId="Visio.Drawing.6">
                  <p:embed/>
                  <p:pic>
                    <p:nvPicPr>
                      <p:cNvPr id="58374" name="Object 30">
                        <a:extLst>
                          <a:ext uri="{FF2B5EF4-FFF2-40B4-BE49-F238E27FC236}">
                            <a16:creationId xmlns:a16="http://schemas.microsoft.com/office/drawing/2014/main" id="{0420FE8D-4290-475D-B1B2-C662F463C7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19391" y="5271246"/>
                        <a:ext cx="6561138" cy="583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eta: Curva para Baixo 14">
            <a:extLst>
              <a:ext uri="{FF2B5EF4-FFF2-40B4-BE49-F238E27FC236}">
                <a16:creationId xmlns:a16="http://schemas.microsoft.com/office/drawing/2014/main" id="{B509DDB1-83FA-4DD0-8250-CAB66BFA7051}"/>
              </a:ext>
            </a:extLst>
          </p:cNvPr>
          <p:cNvSpPr/>
          <p:nvPr/>
        </p:nvSpPr>
        <p:spPr>
          <a:xfrm flipH="1">
            <a:off x="18777066" y="4448921"/>
            <a:ext cx="4287838" cy="122078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82AF84E9-E34A-47AB-B42C-D75A8377E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88516" y="5869733"/>
            <a:ext cx="31432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/>
              <a:t>Relacionamento Mandatório</a:t>
            </a:r>
          </a:p>
        </p:txBody>
      </p:sp>
      <p:sp>
        <p:nvSpPr>
          <p:cNvPr id="17" name="Seta: Curva para Baixo 16">
            <a:extLst>
              <a:ext uri="{FF2B5EF4-FFF2-40B4-BE49-F238E27FC236}">
                <a16:creationId xmlns:a16="http://schemas.microsoft.com/office/drawing/2014/main" id="{BAFF3A6A-F98C-4B82-BB3A-ED9C1D653E14}"/>
              </a:ext>
            </a:extLst>
          </p:cNvPr>
          <p:cNvSpPr/>
          <p:nvPr/>
        </p:nvSpPr>
        <p:spPr>
          <a:xfrm flipH="1">
            <a:off x="18772304" y="7577883"/>
            <a:ext cx="4287837" cy="122078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CaixaDeTexto 12">
            <a:extLst>
              <a:ext uri="{FF2B5EF4-FFF2-40B4-BE49-F238E27FC236}">
                <a16:creationId xmlns:a16="http://schemas.microsoft.com/office/drawing/2014/main" id="{6D3CD771-748B-4A53-9C5B-E0C2994B9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88516" y="8874871"/>
            <a:ext cx="31432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/>
              <a:t>Relacionamento Opcional</a:t>
            </a:r>
          </a:p>
        </p:txBody>
      </p:sp>
      <p:sp>
        <p:nvSpPr>
          <p:cNvPr id="19" name="CaixaDeTexto 1">
            <a:extLst>
              <a:ext uri="{FF2B5EF4-FFF2-40B4-BE49-F238E27FC236}">
                <a16:creationId xmlns:a16="http://schemas.microsoft.com/office/drawing/2014/main" id="{8CF0D63D-0B6A-4C96-8E94-60AEFE335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004" y="11559333"/>
            <a:ext cx="2047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Peter Chen</a:t>
            </a:r>
          </a:p>
        </p:txBody>
      </p:sp>
      <p:sp>
        <p:nvSpPr>
          <p:cNvPr id="20" name="CaixaDeTexto 13">
            <a:extLst>
              <a:ext uri="{FF2B5EF4-FFF2-40B4-BE49-F238E27FC236}">
                <a16:creationId xmlns:a16="http://schemas.microsoft.com/office/drawing/2014/main" id="{8FBF783A-0D87-40EF-96DA-7708947FE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8228" y="11559333"/>
            <a:ext cx="2489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James Martin</a:t>
            </a:r>
          </a:p>
        </p:txBody>
      </p:sp>
    </p:spTree>
    <p:extLst>
      <p:ext uri="{BB962C8B-B14F-4D97-AF65-F5344CB8AC3E}">
        <p14:creationId xmlns:p14="http://schemas.microsoft.com/office/powerpoint/2010/main" val="41358604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52738"/>
            <a:ext cx="23702376" cy="1059021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endParaRPr lang="pt-BR" alt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7">
            <a:extLst>
              <a:ext uri="{FF2B5EF4-FFF2-40B4-BE49-F238E27FC236}">
                <a16:creationId xmlns:a16="http://schemas.microsoft.com/office/drawing/2014/main" id="{2FBA15F2-7577-4ECE-8A46-DF2E8C7F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24401463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1" name="Retângulo 7">
            <a:extLst>
              <a:ext uri="{FF2B5EF4-FFF2-40B4-BE49-F238E27FC236}">
                <a16:creationId xmlns:a16="http://schemas.microsoft.com/office/drawing/2014/main" id="{F4D635D5-32C9-4570-86D8-83CE74CF4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7389" y="4049488"/>
            <a:ext cx="21710650" cy="1714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lvl="1" eaLnBrk="1" hangingPunct="1"/>
            <a:endParaRPr lang="pt-BR" altLang="pt-BR" sz="44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ED4CBEC-330A-4AF4-9930-D1662BA783E0}"/>
              </a:ext>
            </a:extLst>
          </p:cNvPr>
          <p:cNvSpPr/>
          <p:nvPr/>
        </p:nvSpPr>
        <p:spPr>
          <a:xfrm>
            <a:off x="921771" y="3184266"/>
            <a:ext cx="23966488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685800" indent="-685800" defTabSz="242888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Informações que caracterizam um conjunto de Entidades.</a:t>
            </a:r>
            <a:endParaRPr lang="pt-BR" altLang="pt-BR" sz="4800" dirty="0">
              <a:latin typeface="+mn-lt"/>
            </a:endParaRPr>
          </a:p>
        </p:txBody>
      </p:sp>
      <p:sp>
        <p:nvSpPr>
          <p:cNvPr id="13" name="Espaço Reservado para Número de Slide 5">
            <a:extLst>
              <a:ext uri="{FF2B5EF4-FFF2-40B4-BE49-F238E27FC236}">
                <a16:creationId xmlns:a16="http://schemas.microsoft.com/office/drawing/2014/main" id="{A3137A82-2D54-A604-C809-25F737531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52515" y="9639654"/>
            <a:ext cx="1905000" cy="457200"/>
          </a:xfrm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9A98A3A-CAFC-40E7-9209-A8AD1175EE68}" type="slidenum">
              <a:rPr lang="pt-BR" altLang="pt-BR" sz="1400">
                <a:latin typeface="Tahoma" panose="020B0604030504040204" pitchFamily="34" charset="0"/>
              </a:rPr>
              <a:pPr eaLnBrk="1" hangingPunct="1"/>
              <a:t>44</a:t>
            </a:fld>
            <a:endParaRPr lang="pt-BR" altLang="pt-BR" sz="1400">
              <a:latin typeface="Tahoma" panose="020B0604030504040204" pitchFamily="34" charset="0"/>
            </a:endParaRP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9FC59764-A2F9-1C3B-2197-B9C499349C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802856"/>
              </p:ext>
            </p:extLst>
          </p:nvPr>
        </p:nvGraphicFramePr>
        <p:xfrm>
          <a:off x="1189896" y="4711057"/>
          <a:ext cx="13610570" cy="807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12760" imgH="4655160" progId="Visio.Drawing.6">
                  <p:embed/>
                </p:oleObj>
              </mc:Choice>
              <mc:Fallback>
                <p:oleObj name="Visio" r:id="rId2" imgW="8312760" imgH="4655160" progId="Visio.Drawing.6">
                  <p:embed/>
                  <p:pic>
                    <p:nvPicPr>
                      <p:cNvPr id="15362" name="Object 4">
                        <a:extLst>
                          <a:ext uri="{FF2B5EF4-FFF2-40B4-BE49-F238E27FC236}">
                            <a16:creationId xmlns:a16="http://schemas.microsoft.com/office/drawing/2014/main" id="{53C71821-CCB8-8EF2-C14D-2A7B6C8E5CD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896" y="4711057"/>
                        <a:ext cx="13610570" cy="80779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5">
            <a:extLst>
              <a:ext uri="{FF2B5EF4-FFF2-40B4-BE49-F238E27FC236}">
                <a16:creationId xmlns:a16="http://schemas.microsoft.com/office/drawing/2014/main" id="{670FBD9B-B5A0-9E23-30B7-699586A36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762" y="7478481"/>
            <a:ext cx="274947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pt-BR" altLang="pt-BR" sz="3600" b="1" dirty="0">
                <a:solidFill>
                  <a:srgbClr val="000099"/>
                </a:solidFill>
              </a:rPr>
              <a:t>Conjunto de </a:t>
            </a:r>
          </a:p>
          <a:p>
            <a:pPr algn="ctr" eaLnBrk="1" hangingPunct="1"/>
            <a:r>
              <a:rPr lang="pt-BR" altLang="pt-BR" sz="3600" b="1" dirty="0">
                <a:solidFill>
                  <a:srgbClr val="000099"/>
                </a:solidFill>
              </a:rPr>
              <a:t>Entidades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18C8E879-3387-FF28-8AAB-6A7CE8739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05916" y="7448846"/>
            <a:ext cx="274947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pt-BR" altLang="pt-BR" sz="3600" b="1" dirty="0">
                <a:solidFill>
                  <a:srgbClr val="FF0000"/>
                </a:solidFill>
              </a:rPr>
              <a:t>Conjunto de </a:t>
            </a:r>
          </a:p>
          <a:p>
            <a:pPr algn="ctr" eaLnBrk="1" hangingPunct="1"/>
            <a:r>
              <a:rPr lang="pt-BR" altLang="pt-BR" sz="3600" b="1" dirty="0">
                <a:solidFill>
                  <a:srgbClr val="FF0000"/>
                </a:solidFill>
              </a:rPr>
              <a:t>Valores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C548131B-307A-A217-B4BF-E21C4006B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3085" y="11823747"/>
            <a:ext cx="31350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pt-BR" altLang="pt-BR" sz="3600" b="1" dirty="0">
                <a:solidFill>
                  <a:srgbClr val="FA6500"/>
                </a:solidFill>
              </a:rPr>
              <a:t>Funções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2F16197-945E-8CFB-A4ED-21F173A4CAFD}"/>
              </a:ext>
            </a:extLst>
          </p:cNvPr>
          <p:cNvSpPr txBox="1"/>
          <p:nvPr/>
        </p:nvSpPr>
        <p:spPr>
          <a:xfrm>
            <a:off x="15043592" y="4272959"/>
            <a:ext cx="9634715" cy="806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4800" b="1" dirty="0">
                <a:solidFill>
                  <a:srgbClr val="002060"/>
                </a:solidFill>
                <a:latin typeface="Tw Cen MT" panose="020B0602020104020603" pitchFamily="34" charset="0"/>
              </a:rPr>
              <a:t>Exemplos:</a:t>
            </a: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			</a:t>
            </a:r>
          </a:p>
          <a:p>
            <a:pPr lvl="1"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48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lvl="1"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Entidade : 	</a:t>
            </a:r>
            <a:r>
              <a:rPr lang="pt-BR" altLang="pt-BR" sz="4800" b="1" dirty="0">
                <a:solidFill>
                  <a:srgbClr val="002060"/>
                </a:solidFill>
                <a:latin typeface="Tw Cen MT" panose="020B0602020104020603" pitchFamily="34" charset="0"/>
              </a:rPr>
              <a:t>Aluno</a:t>
            </a: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			  								</a:t>
            </a:r>
            <a:endParaRPr lang="pt-BR" altLang="pt-BR" sz="4800" b="1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lvl="1"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Atributos:	Nome </a:t>
            </a:r>
          </a:p>
          <a:p>
            <a:pPr lvl="1"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											Endereço	</a:t>
            </a:r>
          </a:p>
          <a:p>
            <a:pPr lvl="1"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               Data de nascimento 		  			  									</a:t>
            </a:r>
          </a:p>
          <a:p>
            <a:pPr lvl="1"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48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lvl="1"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Entidade : </a:t>
            </a:r>
            <a:r>
              <a:rPr lang="pt-BR" altLang="pt-BR" sz="4800" b="1" dirty="0">
                <a:solidFill>
                  <a:srgbClr val="002060"/>
                </a:solidFill>
                <a:latin typeface="Tw Cen MT" panose="020B0602020104020603" pitchFamily="34" charset="0"/>
              </a:rPr>
              <a:t>Casamento</a:t>
            </a:r>
            <a:endParaRPr lang="pt-BR" altLang="pt-BR" sz="48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lvl="1"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Atributos: Data</a:t>
            </a:r>
          </a:p>
          <a:p>
            <a:pPr lvl="1"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 						 			Regime de Bens</a:t>
            </a:r>
          </a:p>
          <a:p>
            <a:pPr lvl="1" defTabSz="242888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4800" dirty="0">
                <a:solidFill>
                  <a:srgbClr val="002060"/>
                </a:solidFill>
                <a:latin typeface="Tw Cen MT" panose="020B0602020104020603" pitchFamily="34" charset="0"/>
              </a:rPr>
              <a:t> 							</a:t>
            </a:r>
          </a:p>
        </p:txBody>
      </p:sp>
    </p:spTree>
    <p:extLst>
      <p:ext uri="{BB962C8B-B14F-4D97-AF65-F5344CB8AC3E}">
        <p14:creationId xmlns:p14="http://schemas.microsoft.com/office/powerpoint/2010/main" val="16415185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52738"/>
            <a:ext cx="23702376" cy="1059021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endParaRPr lang="pt-BR" alt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7">
            <a:extLst>
              <a:ext uri="{FF2B5EF4-FFF2-40B4-BE49-F238E27FC236}">
                <a16:creationId xmlns:a16="http://schemas.microsoft.com/office/drawing/2014/main" id="{2FBA15F2-7577-4ECE-8A46-DF2E8C7F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24401463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DAC3BA9-5696-41FF-8CA9-67E56C6BBA6C}"/>
              </a:ext>
            </a:extLst>
          </p:cNvPr>
          <p:cNvSpPr/>
          <p:nvPr/>
        </p:nvSpPr>
        <p:spPr>
          <a:xfrm>
            <a:off x="1264314" y="2852738"/>
            <a:ext cx="23966488" cy="10802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4800" b="1" dirty="0">
                <a:solidFill>
                  <a:srgbClr val="002060"/>
                </a:solidFill>
                <a:latin typeface="Tw Cen MT" panose="020B0602020104020603" pitchFamily="34" charset="0"/>
              </a:rPr>
              <a:t>Classificação dos Atributos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Simples ou Atômicos: São os atributos que não são divisíveis.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     </a:t>
            </a: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Ex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: O atributo CPF não pode ser dividido em mais atributos.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36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Compostos: Podem ser divididos em várias partes com significados independentes.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     </a:t>
            </a: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Ex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: O atributo Endereço pode ser dividido em Rua, Número e Bairro.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36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Monovalorados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: São aqueles que possuem apenas um valor para uma determinada entidade.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    </a:t>
            </a: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Ex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: O atributo número da casa só pode receber um valor.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36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Multivalorados: podem assumir diversos valores.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    </a:t>
            </a: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Ex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: O atributo telefone pode assumir diversos valores.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36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Derivados: Quando dois ou mais atributos estão relacionados.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     </a:t>
            </a: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Ex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: A idade e data de nascimento. Podemos determinar a idade por meio da data de nascimento e da data atual.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altLang="pt-BR" sz="36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Atributo-chave: Tipo de atributo cujos valores são distintos para cada entidade em um conjunto de entidades.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    </a:t>
            </a: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Ex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: O RG de um funcionário, por exemplo, constitui um atributo-chave para o tipo de entidades FUNCIONÁRIO.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          Um conjunto de atributos pode formar uma chave. </a:t>
            </a:r>
            <a:endParaRPr lang="pt-BR" sz="3600" b="1" dirty="0">
              <a:solidFill>
                <a:srgbClr val="002060"/>
              </a:solidFill>
              <a:latin typeface="Tw Cen MT" panose="020B0602020104020603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82487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49544" y="2852738"/>
            <a:ext cx="23702376" cy="1059021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Atributo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endParaRPr lang="pt-BR" alt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7">
            <a:extLst>
              <a:ext uri="{FF2B5EF4-FFF2-40B4-BE49-F238E27FC236}">
                <a16:creationId xmlns:a16="http://schemas.microsoft.com/office/drawing/2014/main" id="{2FBA15F2-7577-4ECE-8A46-DF2E8C7F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24401463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2" name="Retângulo 7">
            <a:extLst>
              <a:ext uri="{FF2B5EF4-FFF2-40B4-BE49-F238E27FC236}">
                <a16:creationId xmlns:a16="http://schemas.microsoft.com/office/drawing/2014/main" id="{64DB2365-FA9F-4D4E-92AC-25FE82ED6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454275"/>
            <a:ext cx="22614530" cy="12499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endParaRPr lang="pt-BR" altLang="pt-BR" sz="4800" b="1" dirty="0"/>
          </a:p>
          <a:p>
            <a:pPr algn="ctr"/>
            <a:r>
              <a:rPr lang="pt-BR" altLang="pt-BR" sz="4800" b="1" dirty="0">
                <a:solidFill>
                  <a:srgbClr val="002060"/>
                </a:solidFill>
                <a:latin typeface="Tw Cen MT" panose="020B0602020104020603" pitchFamily="34" charset="0"/>
              </a:rPr>
              <a:t>Propriedades do Atributo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Nome</a:t>
            </a:r>
          </a:p>
          <a:p>
            <a:pPr lvl="2">
              <a:lnSpc>
                <a:spcPct val="80000"/>
              </a:lnSpc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Classe do Dado + Termo 1 + ... + Termo n + Entidade.</a:t>
            </a:r>
          </a:p>
          <a:p>
            <a:pPr lvl="1">
              <a:lnSpc>
                <a:spcPct val="80000"/>
              </a:lnSpc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Domínio</a:t>
            </a:r>
          </a:p>
          <a:p>
            <a:pPr>
              <a:lnSpc>
                <a:spcPct val="80000"/>
              </a:lnSpc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		Descreve a natureza do dado. </a:t>
            </a:r>
          </a:p>
          <a:p>
            <a:pPr>
              <a:lnSpc>
                <a:spcPct val="80000"/>
              </a:lnSpc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        </a:t>
            </a: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Ex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: Alfanumérico, Numérico, Data, Booleano.</a:t>
            </a:r>
          </a:p>
          <a:p>
            <a:pPr>
              <a:lnSpc>
                <a:spcPct val="80000"/>
              </a:lnSpc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Descrição</a:t>
            </a:r>
          </a:p>
          <a:p>
            <a:pPr lvl="2">
              <a:lnSpc>
                <a:spcPct val="80000"/>
              </a:lnSpc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Descreve a finalidade do atributo em texto livre.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36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Regras de Formação ou Formulas</a:t>
            </a:r>
          </a:p>
          <a:p>
            <a:pPr lvl="1">
              <a:lnSpc>
                <a:spcPct val="80000"/>
              </a:lnSpc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	Descreve a regra em texto livre.</a:t>
            </a:r>
          </a:p>
          <a:p>
            <a:pPr lvl="1">
              <a:lnSpc>
                <a:spcPct val="80000"/>
              </a:lnSpc>
              <a:defRPr/>
            </a:pPr>
            <a:endParaRPr lang="pt-BR" altLang="pt-BR" sz="36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Valores próprios ou derivados</a:t>
            </a:r>
          </a:p>
          <a:p>
            <a:pPr>
              <a:lnSpc>
                <a:spcPct val="80000"/>
              </a:lnSpc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		Representa um valor para uma ocorrência (próprio) ou para um conjunto de ocorrências (derivado).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36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3600" dirty="0" err="1">
                <a:solidFill>
                  <a:srgbClr val="002060"/>
                </a:solidFill>
                <a:latin typeface="Tw Cen MT" panose="020B0602020104020603" pitchFamily="34" charset="0"/>
              </a:rPr>
              <a:t>Determinância</a:t>
            </a: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 </a:t>
            </a:r>
          </a:p>
          <a:p>
            <a:pPr>
              <a:lnSpc>
                <a:spcPct val="80000"/>
              </a:lnSpc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		Indica se o atributo é chave primária, secundária,  estrangeira.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endParaRPr lang="pt-BR" altLang="pt-BR" sz="3600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Valores nulos</a:t>
            </a:r>
          </a:p>
          <a:p>
            <a:pPr lvl="1">
              <a:lnSpc>
                <a:spcPct val="80000"/>
              </a:lnSpc>
              <a:defRPr/>
            </a:pPr>
            <a:r>
              <a:rPr lang="pt-BR" altLang="pt-BR" sz="3600" dirty="0">
                <a:solidFill>
                  <a:srgbClr val="002060"/>
                </a:solidFill>
                <a:latin typeface="Tw Cen MT" panose="020B0602020104020603" pitchFamily="34" charset="0"/>
              </a:rPr>
              <a:t>	Indica se o atributo permite valores nulos, representado como opcional.</a:t>
            </a:r>
          </a:p>
          <a:p>
            <a:pPr eaLnBrk="1" hangingPunct="1"/>
            <a:endParaRPr lang="pt-BR" altLang="pt-BR" sz="4800" b="1" dirty="0"/>
          </a:p>
          <a:p>
            <a:pPr lvl="1" eaLnBrk="1" hangingPunct="1"/>
            <a:endParaRPr lang="pt-BR" altLang="pt-BR" sz="44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2223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-19607" y="2798763"/>
            <a:ext cx="23702376" cy="1059021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Chave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Primária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endParaRPr lang="pt-BR" alt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7">
            <a:extLst>
              <a:ext uri="{FF2B5EF4-FFF2-40B4-BE49-F238E27FC236}">
                <a16:creationId xmlns:a16="http://schemas.microsoft.com/office/drawing/2014/main" id="{2FBA15F2-7577-4ECE-8A46-DF2E8C7F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24401463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AE864E8-9421-47BA-A81E-3A50215A8F02}"/>
              </a:ext>
            </a:extLst>
          </p:cNvPr>
          <p:cNvSpPr/>
          <p:nvPr/>
        </p:nvSpPr>
        <p:spPr>
          <a:xfrm>
            <a:off x="1007536" y="2959626"/>
            <a:ext cx="20115213" cy="61247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sz="4000" b="1" dirty="0">
              <a:latin typeface="+mn-lt"/>
            </a:endParaRPr>
          </a:p>
          <a:p>
            <a:pPr marL="571500" indent="-5715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Identificador único para cada ocorrência da Entidade</a:t>
            </a:r>
          </a:p>
          <a:p>
            <a:pPr marL="1314450" lvl="2" indent="-8572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Pode ser composta por mais de um atributo;</a:t>
            </a:r>
          </a:p>
          <a:p>
            <a:pPr marL="1314450" lvl="2" indent="-8572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Chave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Surrogate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é uma boa opção;</a:t>
            </a:r>
          </a:p>
          <a:p>
            <a:pPr marL="1771650" lvl="4" indent="-8572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Coluna numérica sem significado atuando como chave primária;</a:t>
            </a:r>
          </a:p>
          <a:p>
            <a:pPr marL="1771650" lvl="4" indent="-8572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CNPJ, CPF, Identidade, PIS podem mudar e existem repetidos.</a:t>
            </a:r>
          </a:p>
          <a:p>
            <a:pPr marL="1657350" lvl="2" indent="-5715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endParaRPr lang="pt-BR" altLang="pt-BR" sz="4000" dirty="0">
              <a:latin typeface="+mn-lt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4000" b="1" dirty="0">
              <a:solidFill>
                <a:schemeClr val="accent1">
                  <a:lumMod val="50000"/>
                </a:schemeClr>
              </a:solidFill>
              <a:latin typeface="+mn-lt"/>
              <a:cs typeface="Calibri"/>
            </a:endParaRPr>
          </a:p>
        </p:txBody>
      </p:sp>
      <p:sp>
        <p:nvSpPr>
          <p:cNvPr id="14" name="Retângulo 1">
            <a:extLst>
              <a:ext uri="{FF2B5EF4-FFF2-40B4-BE49-F238E27FC236}">
                <a16:creationId xmlns:a16="http://schemas.microsoft.com/office/drawing/2014/main" id="{9733A1E7-2486-4CCF-9C65-671E36B7F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388" y="6969338"/>
            <a:ext cx="19202400" cy="5533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857250" lvl="2" indent="0">
              <a:lnSpc>
                <a:spcPct val="150000"/>
              </a:lnSpc>
            </a:pPr>
            <a:endParaRPr lang="pt-BR" altLang="pt-BR" sz="40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Valor Único: não pode conter valor nulo;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Inteligente: não deve ter valor semântico;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Imutável: não deve variar seu valor ao longo do tempo;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Preferencialmente numérica: possibilidade de uso de numeração automática;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Segurança: a chave primária não deve expor dados de segurança.</a:t>
            </a:r>
          </a:p>
        </p:txBody>
      </p:sp>
      <p:pic>
        <p:nvPicPr>
          <p:cNvPr id="15" name="Picture 6" descr="Key and Lock">
            <a:hlinkClick r:id="rId2"/>
            <a:extLst>
              <a:ext uri="{FF2B5EF4-FFF2-40B4-BE49-F238E27FC236}">
                <a16:creationId xmlns:a16="http://schemas.microsoft.com/office/drawing/2014/main" id="{C3251BB4-0DB0-4E89-BBA9-AA54AEB87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8268" y="9813217"/>
            <a:ext cx="3128962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3586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-19607" y="2798763"/>
            <a:ext cx="23702376" cy="10590213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2.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Chave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Parcial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23" name="Retângulo 7">
            <a:extLst>
              <a:ext uri="{FF2B5EF4-FFF2-40B4-BE49-F238E27FC236}">
                <a16:creationId xmlns:a16="http://schemas.microsoft.com/office/drawing/2014/main" id="{9F04763E-BC00-47C8-B433-AB0C4AD7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02414" y="303600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pt-BR" altLang="pt-BR" sz="4800" b="1" dirty="0"/>
              <a:t> </a:t>
            </a:r>
            <a:endParaRPr lang="pt-BR" altLang="pt-BR" sz="7200" b="1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7">
            <a:extLst>
              <a:ext uri="{FF2B5EF4-FFF2-40B4-BE49-F238E27FC236}">
                <a16:creationId xmlns:a16="http://schemas.microsoft.com/office/drawing/2014/main" id="{2FBA15F2-7577-4ECE-8A46-DF2E8C7F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24401463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AE864E8-9421-47BA-A81E-3A50215A8F02}"/>
              </a:ext>
            </a:extLst>
          </p:cNvPr>
          <p:cNvSpPr/>
          <p:nvPr/>
        </p:nvSpPr>
        <p:spPr>
          <a:xfrm>
            <a:off x="551347" y="2772594"/>
            <a:ext cx="20115213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pt-BR" sz="4000" b="1" dirty="0">
              <a:latin typeface="+mn-lt"/>
            </a:endParaRPr>
          </a:p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chave parcial identifica parcialmente as ocorrências de uma Entidade Fraca;</a:t>
            </a:r>
          </a:p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chave primária é composta pela chave parcial + chave primária da Entidade Forte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chave parcial pode ser composta por mais de um atributo da Entidade Fraca;</a:t>
            </a:r>
          </a:p>
          <a:p>
            <a:pPr marL="1028700" lvl="1" indent="-5715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Chave </a:t>
            </a:r>
            <a:r>
              <a:rPr lang="pt-BR" altLang="pt-BR" sz="60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Surrogate</a:t>
            </a: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é uma boa opção.</a:t>
            </a:r>
            <a:endParaRPr lang="pt-BR" sz="4000" b="1" dirty="0">
              <a:solidFill>
                <a:schemeClr val="accent1">
                  <a:lumMod val="50000"/>
                </a:schemeClr>
              </a:solidFill>
              <a:latin typeface="+mn-lt"/>
              <a:cs typeface="Calibri"/>
            </a:endParaRPr>
          </a:p>
        </p:txBody>
      </p:sp>
      <p:sp>
        <p:nvSpPr>
          <p:cNvPr id="14" name="Retângulo 1">
            <a:extLst>
              <a:ext uri="{FF2B5EF4-FFF2-40B4-BE49-F238E27FC236}">
                <a16:creationId xmlns:a16="http://schemas.microsoft.com/office/drawing/2014/main" id="{9733A1E7-2486-4CCF-9C65-671E36B7F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47" y="6015873"/>
            <a:ext cx="19202400" cy="5533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715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BR" altLang="pt-BR" sz="4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Valor Único: não pode conter valor nulo;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Inteligente: não deve ter valor semântico;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Imutável: não deve variar seu valor ao longo do tempo;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Preferencialmente numérica: possibilidade de uso de numeração automática;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Segurança: a chave primária não deve expor dados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36297214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276446" y="273049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 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49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3878808" y="3323582"/>
            <a:ext cx="16110401" cy="9609006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5EC804-048B-41CE-AB22-B07C3BB40162}"/>
              </a:ext>
            </a:extLst>
          </p:cNvPr>
          <p:cNvSpPr txBox="1"/>
          <p:nvPr/>
        </p:nvSpPr>
        <p:spPr>
          <a:xfrm>
            <a:off x="5228431" y="5579182"/>
            <a:ext cx="13944600" cy="509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3.1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Introdução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</a:t>
            </a: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3.2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Princípios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da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Modelagem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Relacional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3.3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Representação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gráfica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do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Diagrama</a:t>
            </a:r>
            <a:r>
              <a:rPr lang="en-US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</a:t>
            </a:r>
            <a:r>
              <a:rPr lang="en-US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Relacional</a:t>
            </a: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endParaRPr lang="en-US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8330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Introdução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435655" y="3049589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01990F8-8634-41C5-9E77-BB2B50A83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977" y="3676629"/>
            <a:ext cx="21710650" cy="11256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0287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Representação Gráfica do Modelo Entidade – Relacionamento;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Representa a Modelagem Conceitual do Projeto de Banco de Dados;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Captura as necessidades da Organização em termos de armazenamento de dados de forma independente de implementação;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Facilita a comunicação entre todos envolvidos no processo de desenvolvimento de sistemas.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40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4000" dirty="0"/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pt-BR" altLang="pt-BR" sz="4000" dirty="0"/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pt-BR" altLang="pt-BR" sz="4000" dirty="0"/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pt-BR" altLang="pt-BR" sz="4000" dirty="0"/>
          </a:p>
          <a:p>
            <a:pPr eaLnBrk="1" hangingPunct="1"/>
            <a:endParaRPr lang="pt-BR" altLang="pt-BR" sz="4000" dirty="0"/>
          </a:p>
          <a:p>
            <a:pPr lvl="1" eaLnBrk="1" hangingPunct="1"/>
            <a:endParaRPr lang="pt-BR" altLang="pt-BR" sz="40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0393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Princípios</a:t>
            </a:r>
            <a:r>
              <a:rPr lang="en-US" sz="6600" dirty="0">
                <a:latin typeface="Tw Cen MT" panose="020B0602020104020603" pitchFamily="34" charset="77"/>
              </a:rPr>
              <a:t> da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Relacional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522514" y="3200400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01990F8-8634-41C5-9E77-BB2B50A83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977" y="3676629"/>
            <a:ext cx="21710650" cy="11256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0287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Entidade Associativa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Entidade Complexa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Relacionamento 1:1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 err="1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Autorelacionamento</a:t>
            </a: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Generalização e Especialização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Tipos Especiais de Entidades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4000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4000" dirty="0"/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pt-BR" altLang="pt-BR" sz="4000" dirty="0"/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pt-BR" altLang="pt-BR" sz="4000" dirty="0"/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pt-BR" altLang="pt-BR" sz="4000" dirty="0"/>
          </a:p>
          <a:p>
            <a:pPr eaLnBrk="1" hangingPunct="1"/>
            <a:endParaRPr lang="pt-BR" altLang="pt-BR" sz="4000" dirty="0"/>
          </a:p>
          <a:p>
            <a:pPr lvl="1" eaLnBrk="1" hangingPunct="1"/>
            <a:endParaRPr lang="pt-BR" altLang="pt-BR" sz="40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3482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Associativa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522514" y="3200400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10">
            <a:extLst>
              <a:ext uri="{FF2B5EF4-FFF2-40B4-BE49-F238E27FC236}">
                <a16:creationId xmlns:a16="http://schemas.microsoft.com/office/drawing/2014/main" id="{7ED64E41-B7AB-4C10-BB05-AB8B08E82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349" y="3555063"/>
            <a:ext cx="22834600" cy="707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 dirty="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Não deve ser representada por atributos ou por relacionamentos;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chave primária da entidade associativa é composta pelos atributos chaves de cada entidade que participa do relacionamento;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Poderá ser utilizada para armazenar dados históricos.</a:t>
            </a:r>
          </a:p>
          <a:p>
            <a:pPr lvl="1" eaLnBrk="1" hangingPunct="1"/>
            <a:endParaRPr lang="pt-BR" altLang="pt-BR" sz="4400" dirty="0"/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ü"/>
            </a:pPr>
            <a:endParaRPr lang="pt-BR" altLang="pt-BR" sz="3800" dirty="0"/>
          </a:p>
          <a:p>
            <a:pPr lvl="1" eaLnBrk="1" hangingPunct="1">
              <a:lnSpc>
                <a:spcPct val="80000"/>
              </a:lnSpc>
            </a:pPr>
            <a:endParaRPr lang="pt-BR" altLang="pt-BR" sz="3600" dirty="0"/>
          </a:p>
          <a:p>
            <a:pPr eaLnBrk="1" hangingPunct="1"/>
            <a:endParaRPr lang="pt-BR" altLang="pt-BR" sz="4800" b="1" dirty="0"/>
          </a:p>
          <a:p>
            <a:pPr lvl="1" eaLnBrk="1" hangingPunct="1"/>
            <a:endParaRPr lang="pt-BR" altLang="pt-BR" sz="44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9" name="Imagem 1">
            <a:extLst>
              <a:ext uri="{FF2B5EF4-FFF2-40B4-BE49-F238E27FC236}">
                <a16:creationId xmlns:a16="http://schemas.microsoft.com/office/drawing/2014/main" id="{2E430E52-FA6A-4543-A593-14127219A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8474075"/>
            <a:ext cx="12642850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41440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Entidade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Associativa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522514" y="3213895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5A312432-8D34-45B8-A9EF-2DE90E680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705" y="6287986"/>
            <a:ext cx="8339137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F8324DC8-3FD8-4C3A-B264-A86C77E9B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9138" y="11801475"/>
            <a:ext cx="992505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3" name="Retângulo 1">
            <a:extLst>
              <a:ext uri="{FF2B5EF4-FFF2-40B4-BE49-F238E27FC236}">
                <a16:creationId xmlns:a16="http://schemas.microsoft.com/office/drawing/2014/main" id="{63C0BCE2-E794-486A-B787-71AB13479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873" y="3737615"/>
            <a:ext cx="21762415" cy="2189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Modele as Entidades e os Relacionamentos existentes no processo de Inscrição em Disciplinas de um Curso em uma Universidade.</a:t>
            </a: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F41B2A0A-65AF-4D03-B91C-A50D38A10E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3543910"/>
              </p:ext>
            </p:extLst>
          </p:nvPr>
        </p:nvGraphicFramePr>
        <p:xfrm>
          <a:off x="6482678" y="8268290"/>
          <a:ext cx="6671401" cy="3068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8084352" imgH="2756353" progId="Visio.Drawing.11">
                  <p:embed/>
                </p:oleObj>
              </mc:Choice>
              <mc:Fallback>
                <p:oleObj name="Visio" r:id="rId4" imgW="8084352" imgH="2756353" progId="Visio.Drawing.11">
                  <p:embed/>
                  <p:pic>
                    <p:nvPicPr>
                      <p:cNvPr id="33" name="Object 4">
                        <a:extLst>
                          <a:ext uri="{FF2B5EF4-FFF2-40B4-BE49-F238E27FC236}">
                            <a16:creationId xmlns:a16="http://schemas.microsoft.com/office/drawing/2014/main" id="{1C116742-DA46-48F1-A028-E9A00676D9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2678" y="8268290"/>
                        <a:ext cx="6671401" cy="3068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09375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Entidades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Complexas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54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522514" y="3213895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0">
            <a:extLst>
              <a:ext uri="{FF2B5EF4-FFF2-40B4-BE49-F238E27FC236}">
                <a16:creationId xmlns:a16="http://schemas.microsoft.com/office/drawing/2014/main" id="{8785247E-0F18-40A0-9BDC-9048BC7D9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73" y="3278766"/>
            <a:ext cx="18607973" cy="492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 dirty="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72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Todo atributo complexo é uma Entidade de Referência em potencial.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ü"/>
            </a:pPr>
            <a:endParaRPr lang="pt-BR" altLang="pt-BR" sz="3800" dirty="0"/>
          </a:p>
          <a:p>
            <a:pPr lvl="1" eaLnBrk="1" hangingPunct="1">
              <a:lnSpc>
                <a:spcPct val="80000"/>
              </a:lnSpc>
            </a:pPr>
            <a:endParaRPr lang="pt-BR" altLang="pt-BR" sz="3600" dirty="0"/>
          </a:p>
          <a:p>
            <a:pPr eaLnBrk="1" hangingPunct="1"/>
            <a:endParaRPr lang="pt-BR" altLang="pt-BR" sz="4800" b="1" dirty="0"/>
          </a:p>
          <a:p>
            <a:pPr lvl="1" eaLnBrk="1" hangingPunct="1"/>
            <a:endParaRPr lang="pt-BR" altLang="pt-BR" sz="44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15" name="Imagem 3">
            <a:extLst>
              <a:ext uri="{FF2B5EF4-FFF2-40B4-BE49-F238E27FC236}">
                <a16:creationId xmlns:a16="http://schemas.microsoft.com/office/drawing/2014/main" id="{53181E96-21AD-4FB2-AD56-9983C0AE5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318" y="6820678"/>
            <a:ext cx="5948542" cy="5267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Imagem 6">
            <a:extLst>
              <a:ext uri="{FF2B5EF4-FFF2-40B4-BE49-F238E27FC236}">
                <a16:creationId xmlns:a16="http://schemas.microsoft.com/office/drawing/2014/main" id="{27816E8B-26A9-4DBD-BB66-C90A67A45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6926" y="4758930"/>
            <a:ext cx="10207772" cy="7789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05E6519F-4A2C-442C-887F-29C65DC55A8D}"/>
              </a:ext>
            </a:extLst>
          </p:cNvPr>
          <p:cNvSpPr/>
          <p:nvPr/>
        </p:nvSpPr>
        <p:spPr>
          <a:xfrm>
            <a:off x="8602664" y="8776892"/>
            <a:ext cx="1960996" cy="13554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9834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Relacionamento 1:1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55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522514" y="3213895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10">
            <a:extLst>
              <a:ext uri="{FF2B5EF4-FFF2-40B4-BE49-F238E27FC236}">
                <a16:creationId xmlns:a16="http://schemas.microsoft.com/office/drawing/2014/main" id="{22EBDB99-FB49-4FAF-B342-1B1281CEA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383" y="3796527"/>
            <a:ext cx="20526375" cy="703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0287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 dirty="0"/>
          </a:p>
          <a:p>
            <a:pPr eaLnBrk="1" hangingPunct="1"/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SITUAÇÂO 1</a:t>
            </a:r>
          </a:p>
          <a:p>
            <a:pPr eaLnBrk="1" hangingPunct="1"/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dois lados do Relacionamento são opcionais:</a:t>
            </a:r>
          </a:p>
          <a:p>
            <a:pPr lvl="1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Escolher a FK com menos valores nulos;</a:t>
            </a:r>
          </a:p>
          <a:p>
            <a:pPr lvl="1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Escolher a FK onde o relacionamento é gerado.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pt-BR" altLang="pt-BR" sz="3600" dirty="0"/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ü"/>
            </a:pPr>
            <a:endParaRPr lang="pt-BR" altLang="pt-BR" sz="3600" dirty="0"/>
          </a:p>
          <a:p>
            <a:pPr lvl="1" eaLnBrk="1" hangingPunct="1">
              <a:lnSpc>
                <a:spcPct val="80000"/>
              </a:lnSpc>
            </a:pPr>
            <a:endParaRPr lang="pt-BR" altLang="pt-BR" sz="3600" dirty="0"/>
          </a:p>
          <a:p>
            <a:pPr eaLnBrk="1" hangingPunct="1"/>
            <a:endParaRPr lang="pt-BR" altLang="pt-BR" sz="4800" b="1" dirty="0"/>
          </a:p>
          <a:p>
            <a:pPr lvl="1" eaLnBrk="1" hangingPunct="1"/>
            <a:endParaRPr lang="pt-BR" altLang="pt-BR" sz="44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411B840-12D1-4619-9555-B2093368BE4D}"/>
              </a:ext>
            </a:extLst>
          </p:cNvPr>
          <p:cNvSpPr/>
          <p:nvPr/>
        </p:nvSpPr>
        <p:spPr>
          <a:xfrm>
            <a:off x="12148889" y="6434813"/>
            <a:ext cx="108331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SITUACAO 2</a:t>
            </a:r>
          </a:p>
          <a:p>
            <a:pPr marL="1028700" lvl="1" indent="-571500" algn="just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 algn="just" fontAlgn="auto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Um dos lados do relacionamento é opcional e o outro é obrigatório:</a:t>
            </a:r>
          </a:p>
          <a:p>
            <a:pPr marL="1485900" lvl="2" indent="-571500" algn="just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Colocar a PK na Entidade obrigatória e coloque a FK na Entidade opcional e faça esta FK não nula (obrigatória).</a:t>
            </a:r>
          </a:p>
        </p:txBody>
      </p:sp>
      <p:pic>
        <p:nvPicPr>
          <p:cNvPr id="12" name="Imagem 9">
            <a:extLst>
              <a:ext uri="{FF2B5EF4-FFF2-40B4-BE49-F238E27FC236}">
                <a16:creationId xmlns:a16="http://schemas.microsoft.com/office/drawing/2014/main" id="{E1CFCA3F-2B09-4475-9611-44823165F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" y="7910401"/>
            <a:ext cx="1083310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m 11">
            <a:extLst>
              <a:ext uri="{FF2B5EF4-FFF2-40B4-BE49-F238E27FC236}">
                <a16:creationId xmlns:a16="http://schemas.microsoft.com/office/drawing/2014/main" id="{4AC72A7E-C275-4E16-BDEC-2F0244756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140" y="11457183"/>
            <a:ext cx="11901487" cy="145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77565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Relacionamento 1:1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56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522514" y="3213895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0">
            <a:extLst>
              <a:ext uri="{FF2B5EF4-FFF2-40B4-BE49-F238E27FC236}">
                <a16:creationId xmlns:a16="http://schemas.microsoft.com/office/drawing/2014/main" id="{9D5F42CE-48EA-46B5-AD80-1652B1312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439" y="4139829"/>
            <a:ext cx="20526375" cy="8178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042988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314450" lvl="1" indent="-857250">
              <a:buClr>
                <a:schemeClr val="tx1"/>
              </a:buClr>
              <a:buFont typeface="Wingdings" panose="05000000000000000000" pitchFamily="2" charset="2"/>
              <a:buChar char="ü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Clr>
                <a:schemeClr val="tx1"/>
              </a:buClr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SITUAÇÂO 3</a:t>
            </a:r>
          </a:p>
          <a:p>
            <a:pPr marL="1314450" lvl="1" indent="-857250">
              <a:buClr>
                <a:schemeClr val="tx1"/>
              </a:buClr>
              <a:buFont typeface="Wingdings" panose="05000000000000000000" pitchFamily="2" charset="2"/>
              <a:buChar char="ü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Os dois lados são obrigatórios</a:t>
            </a:r>
          </a:p>
          <a:p>
            <a:pPr marL="1314450" lvl="1" indent="-85725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Normalmente indica uma única Entidade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pt-BR" altLang="pt-BR" sz="3600" dirty="0"/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pt-BR" altLang="pt-BR" sz="3600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pt-BR" altLang="pt-BR" sz="3600" dirty="0"/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ü"/>
            </a:pPr>
            <a:endParaRPr lang="pt-BR" altLang="pt-BR" sz="3600" dirty="0"/>
          </a:p>
          <a:p>
            <a:pPr lvl="1" eaLnBrk="1" hangingPunct="1">
              <a:lnSpc>
                <a:spcPct val="80000"/>
              </a:lnSpc>
            </a:pPr>
            <a:endParaRPr lang="pt-BR" altLang="pt-BR" sz="3600" dirty="0"/>
          </a:p>
          <a:p>
            <a:pPr eaLnBrk="1" hangingPunct="1"/>
            <a:endParaRPr lang="pt-BR" altLang="pt-BR" sz="4800" b="1" dirty="0"/>
          </a:p>
          <a:p>
            <a:pPr lvl="1" eaLnBrk="1" hangingPunct="1"/>
            <a:endParaRPr lang="pt-BR" altLang="pt-BR" sz="44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15" name="Imagem 1">
            <a:extLst>
              <a:ext uri="{FF2B5EF4-FFF2-40B4-BE49-F238E27FC236}">
                <a16:creationId xmlns:a16="http://schemas.microsoft.com/office/drawing/2014/main" id="{96A8B7FF-49A1-434A-8D73-67C0ACBFA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5099" y="9867442"/>
            <a:ext cx="5097463" cy="200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D1A0636E-5127-4509-8C86-8172331578F7}"/>
              </a:ext>
            </a:extLst>
          </p:cNvPr>
          <p:cNvSpPr/>
          <p:nvPr/>
        </p:nvSpPr>
        <p:spPr>
          <a:xfrm>
            <a:off x="13254718" y="10156369"/>
            <a:ext cx="2382837" cy="1047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/>
          </a:p>
        </p:txBody>
      </p:sp>
      <p:pic>
        <p:nvPicPr>
          <p:cNvPr id="17" name="Imagem 8">
            <a:extLst>
              <a:ext uri="{FF2B5EF4-FFF2-40B4-BE49-F238E27FC236}">
                <a16:creationId xmlns:a16="http://schemas.microsoft.com/office/drawing/2014/main" id="{7AE59F3A-753A-4C0B-A90D-C46321AE0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923" y="9918471"/>
            <a:ext cx="11928475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88847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Autorelacionamento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57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468199" y="3212648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10">
            <a:extLst>
              <a:ext uri="{FF2B5EF4-FFF2-40B4-BE49-F238E27FC236}">
                <a16:creationId xmlns:a16="http://schemas.microsoft.com/office/drawing/2014/main" id="{79049AF2-EDCD-4096-A8AC-1351E25FD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379" y="3648416"/>
            <a:ext cx="20526375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 dirty="0"/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4000" dirty="0"/>
          </a:p>
          <a:p>
            <a:pPr marL="1314450" lvl="1" indent="-857250">
              <a:buClr>
                <a:schemeClr val="tx1"/>
              </a:buClr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Associação entre elementos pertencentes ao mesmo conjunto de Entidades</a:t>
            </a:r>
          </a:p>
          <a:p>
            <a:pPr marL="457200" lvl="1" indent="0">
              <a:buClr>
                <a:schemeClr val="tx1"/>
              </a:buClr>
              <a:defRPr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       Exemplo: Disciplina possui pré-requisitos</a:t>
            </a: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10" name="Imagem 1">
            <a:extLst>
              <a:ext uri="{FF2B5EF4-FFF2-40B4-BE49-F238E27FC236}">
                <a16:creationId xmlns:a16="http://schemas.microsoft.com/office/drawing/2014/main" id="{3B76A452-5369-4C6C-B4F6-698410B84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765" y="9174504"/>
            <a:ext cx="6254750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4C05D1F8-5BE2-4177-B646-27B1BFB13678}"/>
              </a:ext>
            </a:extLst>
          </p:cNvPr>
          <p:cNvSpPr/>
          <p:nvPr/>
        </p:nvSpPr>
        <p:spPr>
          <a:xfrm>
            <a:off x="13350542" y="7683276"/>
            <a:ext cx="13617575" cy="646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+mn-lt"/>
              </a:rPr>
              <a:t>Auto relacionamento com atributos</a:t>
            </a:r>
            <a:endParaRPr lang="pt-BR" sz="1200" b="1" dirty="0">
              <a:solidFill>
                <a:schemeClr val="accent1">
                  <a:lumMod val="50000"/>
                </a:schemeClr>
              </a:solidFill>
              <a:latin typeface="+mn-lt"/>
              <a:cs typeface="Calibri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9D9BD58-93C5-4B2B-94CD-127C7AD16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614" y="13119441"/>
            <a:ext cx="2052796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/>
          </a:p>
          <a:p>
            <a:pPr lvl="1" eaLnBrk="1" hangingPunct="1">
              <a:lnSpc>
                <a:spcPct val="80000"/>
              </a:lnSpc>
            </a:pPr>
            <a:endParaRPr lang="pt-BR" altLang="pt-BR" sz="3600"/>
          </a:p>
          <a:p>
            <a:pPr eaLnBrk="1" hangingPunct="1"/>
            <a:endParaRPr lang="pt-BR" altLang="pt-BR" sz="4800" b="1"/>
          </a:p>
          <a:p>
            <a:pPr lvl="1" eaLnBrk="1" hangingPunct="1"/>
            <a:endParaRPr lang="pt-BR" altLang="pt-BR" sz="4400" b="1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D9F833C-055C-4712-8D02-23B8C10FC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2517" y="8972326"/>
            <a:ext cx="524510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7C5E377-5727-4EDC-8887-38C8BB09F743}"/>
              </a:ext>
            </a:extLst>
          </p:cNvPr>
          <p:cNvSpPr/>
          <p:nvPr/>
        </p:nvSpPr>
        <p:spPr>
          <a:xfrm>
            <a:off x="1301977" y="7761629"/>
            <a:ext cx="13615988" cy="647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b="1" dirty="0">
                <a:latin typeface="+mn-lt"/>
              </a:rPr>
              <a:t>Auto relacionamento sem atributos</a:t>
            </a:r>
            <a:endParaRPr lang="pt-BR" sz="1200" b="1" dirty="0">
              <a:solidFill>
                <a:schemeClr val="accent1">
                  <a:lumMod val="50000"/>
                </a:schemeClr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59163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Generalização</a:t>
            </a:r>
            <a:r>
              <a:rPr lang="en-US" sz="6600" dirty="0">
                <a:latin typeface="Tw Cen MT" panose="020B0602020104020603" pitchFamily="34" charset="77"/>
              </a:rPr>
              <a:t> e </a:t>
            </a:r>
            <a:r>
              <a:rPr lang="en-US" sz="6600" dirty="0" err="1">
                <a:latin typeface="Tw Cen MT" panose="020B0602020104020603" pitchFamily="34" charset="77"/>
              </a:rPr>
              <a:t>Especialização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58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588736" y="2958645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9D9BD58-93C5-4B2B-94CD-127C7AD16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614" y="13119441"/>
            <a:ext cx="2052796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/>
          </a:p>
          <a:p>
            <a:pPr lvl="1" eaLnBrk="1" hangingPunct="1">
              <a:lnSpc>
                <a:spcPct val="80000"/>
              </a:lnSpc>
            </a:pPr>
            <a:endParaRPr lang="pt-BR" altLang="pt-BR" sz="3600"/>
          </a:p>
          <a:p>
            <a:pPr eaLnBrk="1" hangingPunct="1"/>
            <a:endParaRPr lang="pt-BR" altLang="pt-BR" sz="4800" b="1"/>
          </a:p>
          <a:p>
            <a:pPr lvl="1" eaLnBrk="1" hangingPunct="1"/>
            <a:endParaRPr lang="pt-BR" altLang="pt-BR" sz="4400" b="1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14" name="Retângulo 7">
            <a:extLst>
              <a:ext uri="{FF2B5EF4-FFF2-40B4-BE49-F238E27FC236}">
                <a16:creationId xmlns:a16="http://schemas.microsoft.com/office/drawing/2014/main" id="{1D6C677F-AAFE-4943-B224-65B365A85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539" y="3332163"/>
            <a:ext cx="14993938" cy="10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lvl="1" indent="0" algn="just">
              <a:buClr>
                <a:schemeClr val="tx1"/>
              </a:buClr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marL="1314450" lvl="1" indent="-85725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Generalização e Especialização são conceitos usados para representar objetos do mundo real que possuem um ou mais atributos em comum e que podem ser categorizados;</a:t>
            </a:r>
          </a:p>
          <a:p>
            <a:pPr marL="1314450" lvl="1" indent="-85725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Podem ser representados em uma hierarquia que mostra as dependências entre entidades de uma mesma categoria;</a:t>
            </a:r>
          </a:p>
          <a:p>
            <a:pPr marL="1314450" lvl="1" indent="-85725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O supertipo é indicado quando existe algum atributo que seja aplicável a mais de uma entidade no Modelo de dados;</a:t>
            </a:r>
          </a:p>
          <a:p>
            <a:pPr marL="1314450" lvl="1" indent="-857250"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  <a:defRPr/>
            </a:pPr>
            <a:r>
              <a:rPr lang="pt-BR" altLang="pt-BR" sz="60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O subtipo é indicado quando existem atributos ou relacionamentos específicos para um determinado subconjunto de ocorrências dentro de uma Entidade.</a:t>
            </a:r>
          </a:p>
          <a:p>
            <a:pPr marL="457200" lvl="1" indent="0" algn="just">
              <a:buClr>
                <a:schemeClr val="tx1"/>
              </a:buClr>
              <a:defRPr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algn="just"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96E50269-37B2-4029-B4C2-156C25119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9357" y="7228570"/>
            <a:ext cx="6293601" cy="5687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01767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Generalização</a:t>
            </a:r>
            <a:r>
              <a:rPr lang="en-US" sz="6600" dirty="0">
                <a:latin typeface="Tw Cen MT" panose="020B0602020104020603" pitchFamily="34" charset="77"/>
              </a:rPr>
              <a:t> e </a:t>
            </a:r>
            <a:r>
              <a:rPr lang="en-US" sz="6600" dirty="0" err="1">
                <a:latin typeface="Tw Cen MT" panose="020B0602020104020603" pitchFamily="34" charset="77"/>
              </a:rPr>
              <a:t>Especialização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59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755877" y="3049589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9D9BD58-93C5-4B2B-94CD-127C7AD16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614" y="13119441"/>
            <a:ext cx="2052796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/>
          </a:p>
          <a:p>
            <a:pPr lvl="1" eaLnBrk="1" hangingPunct="1">
              <a:lnSpc>
                <a:spcPct val="80000"/>
              </a:lnSpc>
            </a:pPr>
            <a:endParaRPr lang="pt-BR" altLang="pt-BR" sz="3600"/>
          </a:p>
          <a:p>
            <a:pPr eaLnBrk="1" hangingPunct="1"/>
            <a:endParaRPr lang="pt-BR" altLang="pt-BR" sz="4800" b="1"/>
          </a:p>
          <a:p>
            <a:pPr lvl="1" eaLnBrk="1" hangingPunct="1"/>
            <a:endParaRPr lang="pt-BR" altLang="pt-BR" sz="4400" b="1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8" name="Retângulo 17">
            <a:extLst>
              <a:ext uri="{FF2B5EF4-FFF2-40B4-BE49-F238E27FC236}">
                <a16:creationId xmlns:a16="http://schemas.microsoft.com/office/drawing/2014/main" id="{27E9C0DF-E7F8-403D-B687-4D170ED6C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283" y="3729538"/>
            <a:ext cx="22046566" cy="867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6600" b="1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Restrições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Restrição de disjunção</a:t>
            </a:r>
          </a:p>
          <a:p>
            <a:pPr marL="1771650" lvl="2" indent="-8572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Mutuamente exclusiva (representada por um ‘X’): uma entidade supertipo deve ser membro no máximo de uma única entidade subtipo;</a:t>
            </a:r>
          </a:p>
          <a:p>
            <a:pPr marL="1771650" lvl="2" indent="-8572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Sobreposição: uma entidade supertipo pode ser membro de mais do que uma entidade subtipo.</a:t>
            </a:r>
          </a:p>
          <a:p>
            <a:pPr lvl="2" eaLnBrk="1" hangingPunct="1">
              <a:lnSpc>
                <a:spcPct val="150000"/>
              </a:lnSpc>
            </a:pPr>
            <a:endParaRPr lang="pt-BR" altLang="pt-BR" sz="6000" baseline="30000" dirty="0">
              <a:solidFill>
                <a:srgbClr val="002060"/>
              </a:solidFill>
              <a:latin typeface="Tw Cen MT" panose="020B0602020104020603" pitchFamily="34" charset="77"/>
              <a:cs typeface="Arial" charset="0"/>
            </a:endParaRP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Restrição de completude</a:t>
            </a:r>
          </a:p>
          <a:p>
            <a:pPr marL="1771650" lvl="2" indent="-8572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Total: cada entidade de um supertipo deve ser membro de alguma entidade subtipo;</a:t>
            </a:r>
          </a:p>
          <a:p>
            <a:pPr marL="1771650" lvl="2" indent="-857250" eaLnBrk="1" hangingPunct="1">
              <a:buFont typeface="Arial" panose="020B0604020202020204" pitchFamily="34" charset="0"/>
              <a:buChar char="•"/>
            </a:pPr>
            <a:r>
              <a:rPr lang="pt-BR" altLang="pt-BR" sz="60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Parcial: uma entidade supertipo pode não pertencer a qualquer uma das entidades subtipo.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sz="6000" baseline="30000" dirty="0">
              <a:solidFill>
                <a:srgbClr val="002060"/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6155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60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58445" y="2897949"/>
            <a:ext cx="23799870" cy="10213185"/>
          </a:xfrm>
          <a:prstGeom prst="roundRect">
            <a:avLst/>
          </a:prstGeom>
          <a:solidFill>
            <a:schemeClr val="bg2">
              <a:alpha val="45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2" algn="just">
              <a:lnSpc>
                <a:spcPct val="150000"/>
              </a:lnSpc>
              <a:spcAft>
                <a:spcPts val="1800"/>
              </a:spcAft>
              <a:defRPr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6B96411-25DE-4D51-B6A4-EDDBB88D5B2B}"/>
              </a:ext>
            </a:extLst>
          </p:cNvPr>
          <p:cNvSpPr/>
          <p:nvPr/>
        </p:nvSpPr>
        <p:spPr>
          <a:xfrm>
            <a:off x="1079205" y="3494347"/>
            <a:ext cx="22034500" cy="2773644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1500" indent="-571500" eaLnBrk="1" fontAlgn="auto" hangingPunct="1">
              <a:spcBef>
                <a:spcPct val="72000"/>
              </a:spcBef>
              <a:spcAft>
                <a:spcPct val="2400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Entidade Isolada</a:t>
            </a:r>
          </a:p>
          <a:p>
            <a:pPr marL="1314450" lvl="1" indent="-857250">
              <a:spcBef>
                <a:spcPct val="72000"/>
              </a:spcBef>
              <a:spcAft>
                <a:spcPct val="24000"/>
              </a:spcAft>
              <a:buFont typeface="Arial" panose="020B0604020202020204" pitchFamily="34" charset="0"/>
              <a:buChar char="•"/>
              <a:defRPr/>
            </a:pPr>
            <a:r>
              <a:rPr lang="pt-PT" altLang="pt-BR" sz="66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Entidade com existência própria, mas que não se relaciona com nenhuma outra entidade do Modelo de Dados. </a:t>
            </a:r>
            <a:endParaRPr lang="pt-BR" altLang="pt-BR" sz="6600" baseline="30000" dirty="0">
              <a:solidFill>
                <a:srgbClr val="002060"/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615ADF-68F0-492C-BA51-8F3423BE0731}"/>
              </a:ext>
            </a:extLst>
          </p:cNvPr>
          <p:cNvSpPr txBox="1">
            <a:spLocks/>
          </p:cNvSpPr>
          <p:nvPr/>
        </p:nvSpPr>
        <p:spPr>
          <a:xfrm>
            <a:off x="252049" y="1819187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6600" dirty="0">
                <a:latin typeface="Tw Cen MT" panose="020B0602020104020603" pitchFamily="34" charset="77"/>
              </a:rPr>
              <a:t>4. </a:t>
            </a:r>
            <a:r>
              <a:rPr lang="en-US" sz="6600" dirty="0" err="1">
                <a:latin typeface="Tw Cen MT" panose="020B0602020104020603" pitchFamily="34" charset="77"/>
              </a:rPr>
              <a:t>Princípios</a:t>
            </a:r>
            <a:r>
              <a:rPr lang="en-US" sz="6600" dirty="0">
                <a:latin typeface="Tw Cen MT" panose="020B0602020104020603" pitchFamily="34" charset="77"/>
              </a:rPr>
              <a:t> da </a:t>
            </a:r>
            <a:r>
              <a:rPr lang="en-US" sz="6600" dirty="0" err="1">
                <a:latin typeface="Tw Cen MT" panose="020B0602020104020603" pitchFamily="34" charset="77"/>
              </a:rPr>
              <a:t>Modelagem</a:t>
            </a:r>
            <a:endParaRPr lang="en-US" sz="66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Tipos </a:t>
            </a:r>
            <a:r>
              <a:rPr lang="en-US" sz="6000" dirty="0" err="1">
                <a:latin typeface="Tw Cen MT" panose="020B0602020104020603" pitchFamily="34" charset="77"/>
              </a:rPr>
              <a:t>Especiais</a:t>
            </a:r>
            <a:r>
              <a:rPr lang="en-US" sz="6000" dirty="0">
                <a:latin typeface="Tw Cen MT" panose="020B0602020104020603" pitchFamily="34" charset="77"/>
              </a:rPr>
              <a:t> de </a:t>
            </a:r>
            <a:r>
              <a:rPr lang="en-US" sz="6000" dirty="0" err="1">
                <a:latin typeface="Tw Cen MT" panose="020B0602020104020603" pitchFamily="34" charset="77"/>
              </a:rPr>
              <a:t>Entidades</a:t>
            </a:r>
            <a:endParaRPr lang="en-US" sz="6000" dirty="0">
              <a:latin typeface="Tw Cen MT" panose="020B0602020104020603" pitchFamily="34" charset="77"/>
            </a:endParaRPr>
          </a:p>
          <a:p>
            <a:pPr algn="ctr">
              <a:lnSpc>
                <a:spcPct val="100000"/>
              </a:lnSpc>
            </a:pPr>
            <a:r>
              <a:rPr lang="en-US" sz="6000" dirty="0">
                <a:latin typeface="Tw Cen MT" panose="020B0602020104020603" pitchFamily="34" charset="77"/>
              </a:rPr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9C1E933-FC24-42F8-A6EF-BF9F171E5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740" y="6040009"/>
            <a:ext cx="3098640" cy="192150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A5918549-7835-4A42-9458-1ED28E7B7004}"/>
              </a:ext>
            </a:extLst>
          </p:cNvPr>
          <p:cNvSpPr txBox="1"/>
          <p:nvPr/>
        </p:nvSpPr>
        <p:spPr>
          <a:xfrm>
            <a:off x="857512" y="8951450"/>
            <a:ext cx="23185506" cy="2435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eaLnBrk="1" fontAlgn="auto" hangingPunct="1">
              <a:lnSpc>
                <a:spcPct val="50000"/>
              </a:lnSpc>
              <a:spcBef>
                <a:spcPct val="72000"/>
              </a:spcBef>
              <a:spcAft>
                <a:spcPct val="24000"/>
              </a:spcAft>
              <a:buFont typeface="Wingdings" panose="05000000000000000000" pitchFamily="2" charset="2"/>
              <a:buChar char="ü"/>
              <a:defRPr/>
            </a:pPr>
            <a:r>
              <a:rPr lang="pt-BR" altLang="pt-BR" sz="66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Entidade Solitária: possui apenas uma ocorrência</a:t>
            </a:r>
          </a:p>
          <a:p>
            <a:pPr marL="1771650" lvl="2" indent="-857250">
              <a:spcBef>
                <a:spcPct val="72000"/>
              </a:spcBef>
              <a:spcAft>
                <a:spcPct val="24000"/>
              </a:spcAft>
              <a:buFont typeface="Arial" panose="020B0604020202020204" pitchFamily="34" charset="0"/>
              <a:buChar char="•"/>
              <a:defRPr/>
            </a:pPr>
            <a:r>
              <a:rPr lang="pt-PT" altLang="pt-BR" sz="6600" baseline="30000" dirty="0">
                <a:solidFill>
                  <a:srgbClr val="002060"/>
                </a:solidFill>
                <a:latin typeface="Tw Cen MT" panose="020B0602020104020603" pitchFamily="34" charset="77"/>
                <a:cs typeface="Arial" charset="0"/>
              </a:rPr>
              <a:t>Entidade com existência própria, mas que possui uma única ocorrência. Pode ter ou não relacionamento.</a:t>
            </a:r>
            <a:endParaRPr lang="pt-BR" altLang="pt-BR" sz="6600" baseline="30000" dirty="0">
              <a:solidFill>
                <a:srgbClr val="002060"/>
              </a:solidFill>
              <a:latin typeface="Tw Cen MT" panose="020B0602020104020603" pitchFamily="34" charset="77"/>
              <a:cs typeface="Arial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7D2E873-F696-4682-A83B-48E745711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255" y="11079792"/>
            <a:ext cx="2930476" cy="181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094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191386" y="4121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–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Representação</a:t>
            </a:r>
            <a:r>
              <a:rPr lang="en-US" sz="6600" dirty="0">
                <a:latin typeface="Tw Cen MT" panose="020B0602020104020603" pitchFamily="34" charset="77"/>
              </a:rPr>
              <a:t> </a:t>
            </a:r>
            <a:r>
              <a:rPr lang="en-US" sz="6600" dirty="0" err="1">
                <a:latin typeface="Tw Cen MT" panose="020B0602020104020603" pitchFamily="34" charset="77"/>
              </a:rPr>
              <a:t>gráfica</a:t>
            </a:r>
            <a:r>
              <a:rPr lang="en-US" sz="6600" dirty="0">
                <a:latin typeface="Tw Cen MT" panose="020B0602020104020603" pitchFamily="34" charset="77"/>
              </a:rPr>
              <a:t> do </a:t>
            </a:r>
            <a:r>
              <a:rPr lang="en-US" sz="6600" dirty="0" err="1">
                <a:latin typeface="Tw Cen MT" panose="020B0602020104020603" pitchFamily="34" charset="77"/>
              </a:rPr>
              <a:t>Modelo</a:t>
            </a:r>
            <a:r>
              <a:rPr lang="en-US" sz="6600" dirty="0">
                <a:latin typeface="Tw Cen MT" panose="020B0602020104020603" pitchFamily="34" charset="77"/>
              </a:rPr>
              <a:t> de dados </a:t>
            </a:r>
            <a:r>
              <a:rPr lang="en-US" sz="6600" dirty="0" err="1">
                <a:latin typeface="Tw Cen MT" panose="020B0602020104020603" pitchFamily="34" charset="77"/>
              </a:rPr>
              <a:t>Conceitual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61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1068614" y="2424678"/>
            <a:ext cx="22576972" cy="1039336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9D9BD58-93C5-4B2B-94CD-127C7AD16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614" y="13119441"/>
            <a:ext cx="2052796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3800" b="1"/>
          </a:p>
          <a:p>
            <a:pPr lvl="1" eaLnBrk="1" hangingPunct="1">
              <a:lnSpc>
                <a:spcPct val="80000"/>
              </a:lnSpc>
            </a:pPr>
            <a:endParaRPr lang="pt-BR" altLang="pt-BR" sz="3600"/>
          </a:p>
          <a:p>
            <a:pPr eaLnBrk="1" hangingPunct="1"/>
            <a:endParaRPr lang="pt-BR" altLang="pt-BR" sz="4800" b="1"/>
          </a:p>
          <a:p>
            <a:pPr lvl="1" eaLnBrk="1" hangingPunct="1"/>
            <a:endParaRPr lang="pt-BR" altLang="pt-BR" sz="4400" b="1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73AAD1-7CF3-41D9-ACD2-B3EA4CAA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894" y="3722462"/>
            <a:ext cx="7902138" cy="827645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E3948EB-640F-4ECF-A756-B9851441D82A}"/>
              </a:ext>
            </a:extLst>
          </p:cNvPr>
          <p:cNvSpPr/>
          <p:nvPr/>
        </p:nvSpPr>
        <p:spPr>
          <a:xfrm>
            <a:off x="14757991" y="3722462"/>
            <a:ext cx="7336465" cy="82764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E3DAD1E-20A6-4642-955C-248BC4E57E26}"/>
              </a:ext>
            </a:extLst>
          </p:cNvPr>
          <p:cNvCxnSpPr/>
          <p:nvPr/>
        </p:nvCxnSpPr>
        <p:spPr>
          <a:xfrm>
            <a:off x="14757990" y="4837124"/>
            <a:ext cx="7336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m 12">
            <a:extLst>
              <a:ext uri="{FF2B5EF4-FFF2-40B4-BE49-F238E27FC236}">
                <a16:creationId xmlns:a16="http://schemas.microsoft.com/office/drawing/2014/main" id="{17E26D81-F104-4E75-90F3-14E2F9BE6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960554" y="5129270"/>
            <a:ext cx="249382" cy="113078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22E94E5-3A98-467F-8D93-62ECE1446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714308" y="4790202"/>
            <a:ext cx="145473" cy="68405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D021C6A-730C-48E5-87FB-802527EBB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064150" y="4828898"/>
            <a:ext cx="173182" cy="684055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4A385E9C-436B-4584-926B-1CBBC51CD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9262080" y="4828899"/>
            <a:ext cx="173182" cy="684055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8AE6DB9D-B97F-4E4B-BF75-8BE9F863EF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6541711" y="5123468"/>
            <a:ext cx="249382" cy="1130785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D540956D-39FC-49E3-86F4-60AFF19D66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9217014" y="5123468"/>
            <a:ext cx="249382" cy="1130785"/>
          </a:xfrm>
          <a:prstGeom prst="rect">
            <a:avLst/>
          </a:prstGeom>
        </p:spPr>
      </p:pic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47E17FC7-559C-414A-8F77-45E3A5507230}"/>
              </a:ext>
            </a:extLst>
          </p:cNvPr>
          <p:cNvCxnSpPr/>
          <p:nvPr/>
        </p:nvCxnSpPr>
        <p:spPr>
          <a:xfrm>
            <a:off x="14824536" y="5813552"/>
            <a:ext cx="7336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m 27">
            <a:extLst>
              <a:ext uri="{FF2B5EF4-FFF2-40B4-BE49-F238E27FC236}">
                <a16:creationId xmlns:a16="http://schemas.microsoft.com/office/drawing/2014/main" id="{829DB197-4DBF-4C04-BA77-0B011566C2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86116" y="3757998"/>
            <a:ext cx="1285285" cy="740013"/>
          </a:xfrm>
          <a:prstGeom prst="rect">
            <a:avLst/>
          </a:prstGeom>
        </p:spPr>
      </p:pic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BAAA6AB1-0836-4316-95EF-7E12E8956EFA}"/>
              </a:ext>
            </a:extLst>
          </p:cNvPr>
          <p:cNvCxnSpPr/>
          <p:nvPr/>
        </p:nvCxnSpPr>
        <p:spPr>
          <a:xfrm>
            <a:off x="14757991" y="6937013"/>
            <a:ext cx="7336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m 29">
            <a:extLst>
              <a:ext uri="{FF2B5EF4-FFF2-40B4-BE49-F238E27FC236}">
                <a16:creationId xmlns:a16="http://schemas.microsoft.com/office/drawing/2014/main" id="{97EE2C10-A0AA-49E7-94F8-E7B51011E6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28786" y="7131217"/>
            <a:ext cx="2512917" cy="749928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2126B913-98A0-40CE-A9F0-A1D0C2715F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29072" y="6118275"/>
            <a:ext cx="1295400" cy="542925"/>
          </a:xfrm>
          <a:prstGeom prst="rect">
            <a:avLst/>
          </a:prstGeom>
        </p:spPr>
      </p:pic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CF6C2045-BA5F-438F-AA1A-A37878B6DFC2}"/>
              </a:ext>
            </a:extLst>
          </p:cNvPr>
          <p:cNvCxnSpPr/>
          <p:nvPr/>
        </p:nvCxnSpPr>
        <p:spPr>
          <a:xfrm>
            <a:off x="14824535" y="7881145"/>
            <a:ext cx="7336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m 34">
            <a:extLst>
              <a:ext uri="{FF2B5EF4-FFF2-40B4-BE49-F238E27FC236}">
                <a16:creationId xmlns:a16="http://schemas.microsoft.com/office/drawing/2014/main" id="{5125704F-CA31-4F46-A284-38379D132C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35240" y="10441861"/>
            <a:ext cx="1828800" cy="1533525"/>
          </a:xfrm>
          <a:prstGeom prst="rect">
            <a:avLst/>
          </a:prstGeom>
        </p:spPr>
      </p:pic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9F820D85-A4D0-4EDD-A21E-F9F2E33ED931}"/>
              </a:ext>
            </a:extLst>
          </p:cNvPr>
          <p:cNvCxnSpPr/>
          <p:nvPr/>
        </p:nvCxnSpPr>
        <p:spPr>
          <a:xfrm>
            <a:off x="14756239" y="10394662"/>
            <a:ext cx="7336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Imagem 37">
            <a:extLst>
              <a:ext uri="{FF2B5EF4-FFF2-40B4-BE49-F238E27FC236}">
                <a16:creationId xmlns:a16="http://schemas.microsoft.com/office/drawing/2014/main" id="{36EE3FDE-7CCD-4FFD-B652-E5F84821C4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666402" y="7984787"/>
            <a:ext cx="1828800" cy="1533525"/>
          </a:xfrm>
          <a:prstGeom prst="rect">
            <a:avLst/>
          </a:prstGeom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2FA5923B-DD74-46F7-90F1-0948F34648B6}"/>
              </a:ext>
            </a:extLst>
          </p:cNvPr>
          <p:cNvCxnSpPr/>
          <p:nvPr/>
        </p:nvCxnSpPr>
        <p:spPr>
          <a:xfrm>
            <a:off x="14824534" y="9518312"/>
            <a:ext cx="73364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B55092BE-7EBE-49F4-8300-61B0C88B9391}"/>
              </a:ext>
            </a:extLst>
          </p:cNvPr>
          <p:cNvCxnSpPr/>
          <p:nvPr/>
        </p:nvCxnSpPr>
        <p:spPr>
          <a:xfrm>
            <a:off x="11036595" y="4498011"/>
            <a:ext cx="2998382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E3282C77-4C9B-4C27-9362-BD18CE2683E4}"/>
              </a:ext>
            </a:extLst>
          </p:cNvPr>
          <p:cNvCxnSpPr/>
          <p:nvPr/>
        </p:nvCxnSpPr>
        <p:spPr>
          <a:xfrm>
            <a:off x="11110617" y="5564169"/>
            <a:ext cx="2998382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EE2C070F-7BFE-49C6-8A68-C3269E13688E}"/>
              </a:ext>
            </a:extLst>
          </p:cNvPr>
          <p:cNvCxnSpPr/>
          <p:nvPr/>
        </p:nvCxnSpPr>
        <p:spPr>
          <a:xfrm>
            <a:off x="11188995" y="6531463"/>
            <a:ext cx="2998382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00051845-1FB4-4830-861B-3D664687D2B3}"/>
              </a:ext>
            </a:extLst>
          </p:cNvPr>
          <p:cNvCxnSpPr/>
          <p:nvPr/>
        </p:nvCxnSpPr>
        <p:spPr>
          <a:xfrm>
            <a:off x="11188995" y="7471986"/>
            <a:ext cx="2998382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A97EFB1B-49B1-4572-A11C-DCDB9CA372F2}"/>
              </a:ext>
            </a:extLst>
          </p:cNvPr>
          <p:cNvCxnSpPr/>
          <p:nvPr/>
        </p:nvCxnSpPr>
        <p:spPr>
          <a:xfrm>
            <a:off x="11188995" y="8778271"/>
            <a:ext cx="2998382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16C0F214-0117-40B5-A1FD-91B637DA3D8B}"/>
              </a:ext>
            </a:extLst>
          </p:cNvPr>
          <p:cNvCxnSpPr/>
          <p:nvPr/>
        </p:nvCxnSpPr>
        <p:spPr>
          <a:xfrm>
            <a:off x="11188995" y="10058428"/>
            <a:ext cx="2998382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3F90D841-4CBC-4E6F-8B5E-314EA90D2A17}"/>
              </a:ext>
            </a:extLst>
          </p:cNvPr>
          <p:cNvCxnSpPr/>
          <p:nvPr/>
        </p:nvCxnSpPr>
        <p:spPr>
          <a:xfrm>
            <a:off x="11110617" y="11416971"/>
            <a:ext cx="2998382" cy="0"/>
          </a:xfrm>
          <a:prstGeom prst="straightConnector1">
            <a:avLst/>
          </a:prstGeom>
          <a:ln w="412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Imagem 54">
            <a:extLst>
              <a:ext uri="{FF2B5EF4-FFF2-40B4-BE49-F238E27FC236}">
                <a16:creationId xmlns:a16="http://schemas.microsoft.com/office/drawing/2014/main" id="{6AE54F55-C529-48DF-8E5A-AD02A65F163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42356" y="9669803"/>
            <a:ext cx="485775" cy="447675"/>
          </a:xfrm>
          <a:prstGeom prst="rect">
            <a:avLst/>
          </a:prstGeom>
        </p:spPr>
      </p:pic>
      <p:sp>
        <p:nvSpPr>
          <p:cNvPr id="6" name="CaixaDeTexto 1">
            <a:extLst>
              <a:ext uri="{FF2B5EF4-FFF2-40B4-BE49-F238E27FC236}">
                <a16:creationId xmlns:a16="http://schemas.microsoft.com/office/drawing/2014/main" id="{7D05F8E8-7A21-78CD-7224-B26EF65DB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906" y="12104975"/>
            <a:ext cx="2047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Peter Chen</a:t>
            </a:r>
          </a:p>
        </p:txBody>
      </p:sp>
      <p:sp>
        <p:nvSpPr>
          <p:cNvPr id="8" name="CaixaDeTexto 13">
            <a:extLst>
              <a:ext uri="{FF2B5EF4-FFF2-40B4-BE49-F238E27FC236}">
                <a16:creationId xmlns:a16="http://schemas.microsoft.com/office/drawing/2014/main" id="{92DFEC2B-547A-9398-345A-3B67A3173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70130" y="12104975"/>
            <a:ext cx="2489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pt-BR" altLang="pt-BR" sz="3200" b="1" dirty="0"/>
              <a:t>James Martin</a:t>
            </a:r>
          </a:p>
        </p:txBody>
      </p:sp>
    </p:spTree>
    <p:extLst>
      <p:ext uri="{BB962C8B-B14F-4D97-AF65-F5344CB8AC3E}">
        <p14:creationId xmlns:p14="http://schemas.microsoft.com/office/powerpoint/2010/main" val="34315534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62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0E9FF12-23FA-413F-B370-82B47D2369F3}"/>
              </a:ext>
            </a:extLst>
          </p:cNvPr>
          <p:cNvSpPr/>
          <p:nvPr/>
        </p:nvSpPr>
        <p:spPr>
          <a:xfrm>
            <a:off x="318977" y="2829203"/>
            <a:ext cx="23732941" cy="10689195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39A226-0634-4A2B-8AB9-4F6EAC012AD5}"/>
              </a:ext>
            </a:extLst>
          </p:cNvPr>
          <p:cNvSpPr txBox="1">
            <a:spLocks noChangeArrowheads="1"/>
          </p:cNvSpPr>
          <p:nvPr/>
        </p:nvSpPr>
        <p:spPr>
          <a:xfrm>
            <a:off x="1714233" y="5414083"/>
            <a:ext cx="18533195" cy="10021860"/>
          </a:xfrm>
          <a:prstGeom prst="rect">
            <a:avLst/>
          </a:prstGeom>
        </p:spPr>
        <p:txBody>
          <a:bodyPr lIns="92075" tIns="46038" rIns="92075" bIns="46038"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0">
              <a:buNone/>
            </a:pPr>
            <a:endParaRPr lang="pt-BR" altLang="pt-BR" sz="72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BEA49D0-4397-4D85-A339-0A23017508F7}"/>
              </a:ext>
            </a:extLst>
          </p:cNvPr>
          <p:cNvSpPr txBox="1">
            <a:spLocks/>
          </p:cNvSpPr>
          <p:nvPr/>
        </p:nvSpPr>
        <p:spPr>
          <a:xfrm>
            <a:off x="698616" y="1037233"/>
            <a:ext cx="19967944" cy="1411850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8000" dirty="0">
                <a:latin typeface="Tw Cen MT" panose="020B0602020104020603" pitchFamily="34" charset="77"/>
              </a:rPr>
              <a:t>3. </a:t>
            </a:r>
            <a:r>
              <a:rPr lang="en-US" sz="8000" dirty="0" err="1">
                <a:latin typeface="Tw Cen MT" panose="020B0602020104020603" pitchFamily="34" charset="77"/>
              </a:rPr>
              <a:t>Diagrama</a:t>
            </a:r>
            <a:r>
              <a:rPr lang="en-US" sz="8000" dirty="0">
                <a:latin typeface="Tw Cen MT" panose="020B0602020104020603" pitchFamily="34" charset="77"/>
              </a:rPr>
              <a:t> </a:t>
            </a:r>
            <a:r>
              <a:rPr lang="en-US" sz="8000" dirty="0" err="1">
                <a:latin typeface="Tw Cen MT" panose="020B0602020104020603" pitchFamily="34" charset="77"/>
              </a:rPr>
              <a:t>Entidade</a:t>
            </a:r>
            <a:r>
              <a:rPr lang="en-US" sz="8000" dirty="0">
                <a:latin typeface="Tw Cen MT" panose="020B0602020104020603" pitchFamily="34" charset="77"/>
              </a:rPr>
              <a:t> - Relacionamento</a:t>
            </a:r>
          </a:p>
          <a:p>
            <a:pPr algn="ctr">
              <a:lnSpc>
                <a:spcPct val="100000"/>
              </a:lnSpc>
            </a:pPr>
            <a:r>
              <a:rPr lang="en-US" sz="6600" dirty="0" err="1">
                <a:latin typeface="Tw Cen MT" panose="020B0602020104020603" pitchFamily="34" charset="77"/>
              </a:rPr>
              <a:t>Atividade</a:t>
            </a:r>
            <a:endParaRPr lang="en-US" sz="6600" dirty="0">
              <a:latin typeface="Tw Cen MT" panose="020B0602020104020603" pitchFamily="34" charset="77"/>
            </a:endParaRPr>
          </a:p>
        </p:txBody>
      </p:sp>
      <p:sp>
        <p:nvSpPr>
          <p:cNvPr id="10" name="Retângulo 7">
            <a:extLst>
              <a:ext uri="{FF2B5EF4-FFF2-40B4-BE49-F238E27FC236}">
                <a16:creationId xmlns:a16="http://schemas.microsoft.com/office/drawing/2014/main" id="{E00FD093-099F-4E5C-B61C-CA3FA36D3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852738"/>
            <a:ext cx="2396648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2" name="Retângulo 7">
            <a:extLst>
              <a:ext uri="{FF2B5EF4-FFF2-40B4-BE49-F238E27FC236}">
                <a16:creationId xmlns:a16="http://schemas.microsoft.com/office/drawing/2014/main" id="{2FBA15F2-7577-4ECE-8A46-DF2E8C7F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2738"/>
            <a:ext cx="24401463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/>
          </a:p>
          <a:p>
            <a:pPr eaLnBrk="1" hangingPunct="1"/>
            <a:endParaRPr lang="pt-BR" altLang="pt-BR" sz="48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/>
            <a:endParaRPr lang="pt-BR" altLang="pt-BR" sz="4000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4400" b="1" dirty="0"/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  <p:sp>
        <p:nvSpPr>
          <p:cNvPr id="21" name="Retângulo 7">
            <a:extLst>
              <a:ext uri="{FF2B5EF4-FFF2-40B4-BE49-F238E27FC236}">
                <a16:creationId xmlns:a16="http://schemas.microsoft.com/office/drawing/2014/main" id="{6D885CA2-0593-46D2-846A-EEE94501E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579" y="3232859"/>
            <a:ext cx="23075339" cy="1162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028700" indent="-5715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pt-BR" altLang="pt-BR" sz="7200" b="1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Crie o Modelo Entidade – Relacionamento para a livraria XYZ</a:t>
            </a:r>
          </a:p>
          <a:p>
            <a:pPr eaLnBrk="1" hangingPunct="1"/>
            <a:endParaRPr lang="pt-BR" altLang="pt-BR" sz="4800" b="1" dirty="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 Livraria XYZ deseja automatizar os processos de compra e venda de livros para acompanhamento por seus gerentes, vendedores e clientes em um site. Um gerente é responsável por um setor da livraria e por um ou mais vendedores da loja.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Antes do livro ser disponibilizado para compra no site, é necessário fazer um cadastro, contendo informações da editora, título, autor, resumo, quantidade disponível no estoque e o valor. Os livros disponíveis para a venda podem ser pesquisados pelos clientes, vendedores e gerentes.</a:t>
            </a:r>
          </a:p>
          <a:p>
            <a:pPr eaLnBrk="1" hangingPunct="1"/>
            <a:endParaRPr lang="pt-BR" altLang="pt-BR" sz="6000" baseline="30000" dirty="0">
              <a:solidFill>
                <a:schemeClr val="accent1">
                  <a:lumMod val="50000"/>
                </a:schemeClr>
              </a:solidFill>
              <a:latin typeface="Tw Cen MT" panose="020B0602020104020603" pitchFamily="34" charset="77"/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6000" baseline="30000" dirty="0">
                <a:solidFill>
                  <a:schemeClr val="accent1">
                    <a:lumMod val="50000"/>
                  </a:schemeClr>
                </a:solidFill>
                <a:latin typeface="Tw Cen MT" panose="020B0602020104020603" pitchFamily="34" charset="77"/>
                <a:cs typeface="Arial" charset="0"/>
              </a:rPr>
              <a:t>Para realizar a compra, o cliente deverá fazer um cadastro prévio de seus dados pessoais e criar um login e senha para autenticação. O cliente poderá comprar vários livros em um mesmo pedido, dependendo da sua disponibilidade. A compra poderá ser feita por diversos meios de pagamento e o sistema deverá controlar se o pagamento foi realizado ou não pelo cliente. Caso o pagamento tenha sido confirmado, a  Nota Fiscal deverá ser gerada e a quantidade do livro no estoque deverá ser atualizada imediatamente. Caso contrário, não haverá nenhuma atualização no estoque e a compra será cancelada.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4000" dirty="0"/>
          </a:p>
          <a:p>
            <a:pPr lvl="1" eaLnBrk="1" hangingPunct="1"/>
            <a:endParaRPr lang="pt-BR" altLang="pt-BR" sz="4000" b="1" dirty="0">
              <a:solidFill>
                <a:srgbClr val="203864"/>
              </a:solidFill>
              <a:cs typeface="Calibri" panose="020F0502020204030204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pt-BR" altLang="pt-BR" sz="1200" b="1" dirty="0">
              <a:solidFill>
                <a:srgbClr val="203864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6930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7B029F-4E56-45EE-BA06-5889B45BA426}"/>
              </a:ext>
            </a:extLst>
          </p:cNvPr>
          <p:cNvSpPr txBox="1">
            <a:spLocks/>
          </p:cNvSpPr>
          <p:nvPr/>
        </p:nvSpPr>
        <p:spPr>
          <a:xfrm>
            <a:off x="212651" y="415482"/>
            <a:ext cx="19967944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8000" dirty="0">
                <a:latin typeface="Tw Cen MT" panose="020B0602020104020603" pitchFamily="34" charset="77"/>
              </a:rPr>
              <a:t>4. </a:t>
            </a:r>
            <a:r>
              <a:rPr lang="en-US" sz="8000" dirty="0" err="1">
                <a:latin typeface="Tw Cen MT" panose="020B0602020104020603" pitchFamily="34" charset="77"/>
              </a:rPr>
              <a:t>Leitura</a:t>
            </a:r>
            <a:r>
              <a:rPr lang="en-US" sz="8000" dirty="0">
                <a:latin typeface="Tw Cen MT" panose="020B0602020104020603" pitchFamily="34" charset="77"/>
              </a:rPr>
              <a:t> e </a:t>
            </a:r>
            <a:r>
              <a:rPr lang="en-US" sz="8000" dirty="0" err="1">
                <a:latin typeface="Tw Cen MT" panose="020B0602020104020603" pitchFamily="34" charset="77"/>
              </a:rPr>
              <a:t>Interpretação</a:t>
            </a:r>
            <a:r>
              <a:rPr lang="en-US" sz="8000" dirty="0">
                <a:latin typeface="Tw Cen MT" panose="020B0602020104020603" pitchFamily="34" charset="77"/>
              </a:rPr>
              <a:t> do </a:t>
            </a:r>
            <a:r>
              <a:rPr lang="en-US" sz="8000" dirty="0" err="1">
                <a:latin typeface="Tw Cen MT" panose="020B0602020104020603" pitchFamily="34" charset="77"/>
              </a:rPr>
              <a:t>Modelo</a:t>
            </a:r>
            <a:r>
              <a:rPr lang="en-US" sz="8000" dirty="0">
                <a:latin typeface="Tw Cen MT" panose="020B0602020104020603" pitchFamily="34" charset="77"/>
              </a:rPr>
              <a:t> de Dados </a:t>
            </a:r>
          </a:p>
        </p:txBody>
      </p:sp>
      <p:sp>
        <p:nvSpPr>
          <p:cNvPr id="7" name="Espaço Reservado para Número de Slide 1">
            <a:extLst>
              <a:ext uri="{FF2B5EF4-FFF2-40B4-BE49-F238E27FC236}">
                <a16:creationId xmlns:a16="http://schemas.microsoft.com/office/drawing/2014/main" id="{AE69E17C-CD14-02F0-8E19-12E0A57DFFF0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rgbClr val="005CA9"/>
                </a:solidFill>
                <a:latin typeface="Tw Cen MT" panose="020B0602020104020603" pitchFamily="34" charset="77"/>
              </a:rPr>
              <a:pPr algn="r"/>
              <a:t>63</a:t>
            </a:fld>
            <a:endParaRPr lang="pt-BR" sz="2400" b="1" dirty="0">
              <a:solidFill>
                <a:srgbClr val="005CA9"/>
              </a:solidFill>
              <a:latin typeface="Tw Cen MT" panose="020B0602020104020603" pitchFamily="34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981481-E5A6-4ABF-A748-13DA73108F18}"/>
              </a:ext>
            </a:extLst>
          </p:cNvPr>
          <p:cNvSpPr/>
          <p:nvPr/>
        </p:nvSpPr>
        <p:spPr>
          <a:xfrm>
            <a:off x="1382233" y="2615609"/>
            <a:ext cx="19670232" cy="10827342"/>
          </a:xfrm>
          <a:prstGeom prst="roundRect">
            <a:avLst/>
          </a:prstGeom>
          <a:solidFill>
            <a:schemeClr val="bg2">
              <a:alpha val="4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64992DD-BAC6-4A6F-A252-2A81A46C1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708" y="3375445"/>
            <a:ext cx="14098772" cy="97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107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BFAD22F-3A13-4F16-94D2-B685C3DD1F83}"/>
              </a:ext>
            </a:extLst>
          </p:cNvPr>
          <p:cNvSpPr txBox="1"/>
          <p:nvPr/>
        </p:nvSpPr>
        <p:spPr>
          <a:xfrm>
            <a:off x="3304427" y="5658410"/>
            <a:ext cx="18045749" cy="6382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500"/>
              </a:lnSpc>
              <a:spcAft>
                <a:spcPts val="1800"/>
              </a:spcAft>
            </a:pP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Department4, CC BY-SA 4.0 &lt;https://creativecommons.org/licenses/by-sa/4.0&gt;, via Wikimedia Commons – Slide 20</a:t>
            </a:r>
          </a:p>
          <a:p>
            <a:pPr>
              <a:lnSpc>
                <a:spcPts val="5500"/>
              </a:lnSpc>
              <a:spcAft>
                <a:spcPts val="1800"/>
              </a:spcAft>
            </a:pP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Nithinan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Tatah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, TH, CC BY 4.0 &lt;https://creativecommons.org/licenses/by/4.0&gt;, via Wikimedia Commons – Slide 16</a:t>
            </a:r>
          </a:p>
          <a:p>
            <a:pPr>
              <a:lnSpc>
                <a:spcPts val="5500"/>
              </a:lnSpc>
              <a:spcAft>
                <a:spcPts val="1800"/>
              </a:spcAft>
            </a:pP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COUGO, Paulo. Modelagem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Conceitual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e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Projeto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de Banco de Dados.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Editora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Campus, 1997.</a:t>
            </a:r>
          </a:p>
          <a:p>
            <a:pPr>
              <a:lnSpc>
                <a:spcPts val="5500"/>
              </a:lnSpc>
              <a:spcAft>
                <a:spcPts val="1800"/>
              </a:spcAft>
            </a:pP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HEUSER, Carlos Alberto.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Projeto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de Banco de Dados.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Editora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Sagra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 </a:t>
            </a:r>
            <a:r>
              <a:rPr lang="en-US" sz="6000" baseline="30000" dirty="0" err="1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Luzzato</a:t>
            </a:r>
            <a:r>
              <a:rPr lang="en-US" sz="6000" baseline="30000" dirty="0">
                <a:solidFill>
                  <a:schemeClr val="bg1"/>
                </a:solidFill>
                <a:latin typeface="Tw Cen MT" panose="020B0602020104020603" pitchFamily="34" charset="77"/>
                <a:ea typeface="Arial" charset="0"/>
                <a:cs typeface="Arial" charset="0"/>
              </a:rPr>
              <a:t>, 4o ed, 1998.</a:t>
            </a:r>
            <a:endParaRPr lang="pt-BR" sz="6000" baseline="30000" dirty="0">
              <a:solidFill>
                <a:schemeClr val="bg1"/>
              </a:solidFill>
              <a:latin typeface="Tw Cen MT" panose="020B0602020104020603" pitchFamily="34" charset="77"/>
              <a:ea typeface="Arial" charset="0"/>
              <a:cs typeface="Arial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925FD5-E27F-4934-83F5-E2F9CF3DE261}"/>
              </a:ext>
            </a:extLst>
          </p:cNvPr>
          <p:cNvSpPr txBox="1">
            <a:spLocks/>
          </p:cNvSpPr>
          <p:nvPr/>
        </p:nvSpPr>
        <p:spPr>
          <a:xfrm>
            <a:off x="3304428" y="2982974"/>
            <a:ext cx="10652508" cy="2012496"/>
          </a:xfrm>
          <a:prstGeom prst="rect">
            <a:avLst/>
          </a:prstGeom>
        </p:spPr>
        <p:txBody>
          <a:bodyPr anchor="b">
            <a:noAutofit/>
          </a:bodyPr>
          <a:lstStyle>
            <a:lvl1pPr algn="r" defTabSz="1828800" rtl="0" eaLnBrk="1" latinLnBrk="0" hangingPunct="1">
              <a:lnSpc>
                <a:spcPts val="12700"/>
              </a:lnSpc>
              <a:spcBef>
                <a:spcPct val="0"/>
              </a:spcBef>
              <a:buNone/>
              <a:defRPr sz="14400" b="1" kern="1200" spc="-150">
                <a:solidFill>
                  <a:schemeClr val="bg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sz="11500" dirty="0" err="1">
                <a:latin typeface="Tw Cen MT" panose="020B0602020104020603" pitchFamily="34" charset="77"/>
              </a:rPr>
              <a:t>Referências</a:t>
            </a:r>
            <a:endParaRPr lang="en-US" sz="11500" dirty="0">
              <a:latin typeface="Tw Cen MT" panose="020B0602020104020603" pitchFamily="34" charset="77"/>
            </a:endParaRP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6140F495-DFA0-44D4-8DB0-CAFD6EFC1778}"/>
              </a:ext>
            </a:extLst>
          </p:cNvPr>
          <p:cNvSpPr/>
          <p:nvPr/>
        </p:nvSpPr>
        <p:spPr>
          <a:xfrm rot="10800000" flipH="1" flipV="1">
            <a:off x="1954530" y="3703472"/>
            <a:ext cx="594360" cy="571500"/>
          </a:xfrm>
          <a:custGeom>
            <a:avLst/>
            <a:gdLst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1828800 w 1828800"/>
              <a:gd name="connsiteY2" fmla="*/ 182880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  <a:gd name="connsiteX0" fmla="*/ 0 w 1828800"/>
              <a:gd name="connsiteY0" fmla="*/ 0 h 1828800"/>
              <a:gd name="connsiteX1" fmla="*/ 1828800 w 1828800"/>
              <a:gd name="connsiteY1" fmla="*/ 0 h 1828800"/>
              <a:gd name="connsiteX2" fmla="*/ 960120 w 1828800"/>
              <a:gd name="connsiteY2" fmla="*/ 868680 h 1828800"/>
              <a:gd name="connsiteX3" fmla="*/ 0 w 1828800"/>
              <a:gd name="connsiteY3" fmla="*/ 1828800 h 1828800"/>
              <a:gd name="connsiteX4" fmla="*/ 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0" y="0"/>
                </a:moveTo>
                <a:lnTo>
                  <a:pt x="1828800" y="0"/>
                </a:lnTo>
                <a:lnTo>
                  <a:pt x="960120" y="86868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F39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1">
            <a:extLst>
              <a:ext uri="{FF2B5EF4-FFF2-40B4-BE49-F238E27FC236}">
                <a16:creationId xmlns:a16="http://schemas.microsoft.com/office/drawing/2014/main" id="{42811F47-B96A-9771-9D47-579E4A38159F}"/>
              </a:ext>
            </a:extLst>
          </p:cNvPr>
          <p:cNvSpPr txBox="1">
            <a:spLocks/>
          </p:cNvSpPr>
          <p:nvPr/>
        </p:nvSpPr>
        <p:spPr>
          <a:xfrm>
            <a:off x="18561590" y="12712701"/>
            <a:ext cx="5490329" cy="7302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EAEBB8B-65A8-4222-99B6-9433735EFA7C}" type="slidenum">
              <a:rPr lang="pt-BR" sz="2400" b="1" smtClean="0">
                <a:solidFill>
                  <a:schemeClr val="bg1"/>
                </a:solidFill>
                <a:latin typeface="Tw Cen MT" panose="020B0602020104020603" pitchFamily="34" charset="77"/>
              </a:rPr>
              <a:pPr algn="r"/>
              <a:t>64</a:t>
            </a:fld>
            <a:endParaRPr lang="pt-BR" sz="2400" b="1" dirty="0"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923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721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A941604F0C5344F889EBBA1629AC9A1" ma:contentTypeVersion="16" ma:contentTypeDescription="Crie um novo documento." ma:contentTypeScope="" ma:versionID="3747551c1a4af7aaac9cbc864f900d3b">
  <xsd:schema xmlns:xsd="http://www.w3.org/2001/XMLSchema" xmlns:xs="http://www.w3.org/2001/XMLSchema" xmlns:p="http://schemas.microsoft.com/office/2006/metadata/properties" xmlns:ns1="http://schemas.microsoft.com/sharepoint/v3" xmlns:ns2="bf4fc3f6-0c1b-47c4-8bf5-df647c636b89" xmlns:ns3="f77fd98c-c5fb-469f-a158-fce67a587d84" targetNamespace="http://schemas.microsoft.com/office/2006/metadata/properties" ma:root="true" ma:fieldsID="73dc2757550fabcb3e8028b93d3be23e" ns1:_="" ns2:_="" ns3:_="">
    <xsd:import namespace="http://schemas.microsoft.com/sharepoint/v3"/>
    <xsd:import namespace="bf4fc3f6-0c1b-47c4-8bf5-df647c636b89"/>
    <xsd:import namespace="f77fd98c-c5fb-469f-a158-fce67a587d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4fc3f6-0c1b-47c4-8bf5-df647c636b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4faff722-0fb5-4c44-9338-8716c18793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7fd98c-c5fb-469f-a158-fce67a587d8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a85e1ae-6a74-4b38-bf72-19f904de8927}" ma:internalName="TaxCatchAll" ma:showField="CatchAllData" ma:web="f77fd98c-c5fb-469f-a158-fce67a587d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77fd98c-c5fb-469f-a158-fce67a587d84" xsi:nil="true"/>
    <lcf76f155ced4ddcb4097134ff3c332f xmlns="bf4fc3f6-0c1b-47c4-8bf5-df647c636b8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4675381-DB87-4E68-977D-E281677670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f4fc3f6-0c1b-47c4-8bf5-df647c636b89"/>
    <ds:schemaRef ds:uri="f77fd98c-c5fb-469f-a158-fce67a587d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96E293-07A6-484F-9CBC-8DA2FADFA4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2706EA-CCDB-4FE1-B6C1-916ABD3FE7D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ba8c0245-d078-4141-9bf7-4ae90b7d83b9"/>
    <ds:schemaRef ds:uri="38c6ac97-d8d1-48aa-bd5b-1146f9c5bcc7"/>
    <ds:schemaRef ds:uri="225b382f-f8f1-42be-8a6d-2107438eb1aa"/>
    <ds:schemaRef ds:uri="eb890c79-d082-486e-aff5-151cd25642f8"/>
    <ds:schemaRef ds:uri="f77fd98c-c5fb-469f-a158-fce67a587d84"/>
    <ds:schemaRef ds:uri="bf4fc3f6-0c1b-47c4-8bf5-df647c636b8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4210</TotalTime>
  <Words>4485</Words>
  <Application>Microsoft Office PowerPoint</Application>
  <PresentationFormat>Personalizar</PresentationFormat>
  <Paragraphs>992</Paragraphs>
  <Slides>65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65</vt:i4>
      </vt:variant>
    </vt:vector>
  </HeadingPairs>
  <TitlesOfParts>
    <vt:vector size="66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Miranda Cruz</dc:creator>
  <cp:lastModifiedBy>Tatiana Stofella Sodre Rossini</cp:lastModifiedBy>
  <cp:revision>257</cp:revision>
  <dcterms:created xsi:type="dcterms:W3CDTF">2021-03-24T14:10:38Z</dcterms:created>
  <dcterms:modified xsi:type="dcterms:W3CDTF">2026-05-18T14:54:53Z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0x010100DA941604F0C5344F889EBBA1629AC9A1</vt:lpwstr>
  </property>
  <property fmtid="{D5CDD505-2E9C-101B-9397-08002B2CF9AE}" pid="3" name="MediaServiceImageTags">
    <vt:lpwstr/>
  </property>
  <property fmtid="{D5CDD505-2E9C-101B-9397-08002B2CF9AE}" pid="4" name="MSIP_Label_fde7aacd-7cc4-4c31-9e6f-7ef306428f09_Enabled">
    <vt:lpwstr>true</vt:lpwstr>
  </property>
  <property fmtid="{D5CDD505-2E9C-101B-9397-08002B2CF9AE}" pid="5" name="MSIP_Label_fde7aacd-7cc4-4c31-9e6f-7ef306428f09_SetDate">
    <vt:lpwstr>2023-06-02T15:44:58Z</vt:lpwstr>
  </property>
  <property fmtid="{D5CDD505-2E9C-101B-9397-08002B2CF9AE}" pid="6" name="MSIP_Label_fde7aacd-7cc4-4c31-9e6f-7ef306428f09_Method">
    <vt:lpwstr>Privileged</vt:lpwstr>
  </property>
  <property fmtid="{D5CDD505-2E9C-101B-9397-08002B2CF9AE}" pid="7" name="MSIP_Label_fde7aacd-7cc4-4c31-9e6f-7ef306428f09_Name">
    <vt:lpwstr>_PUBLICO</vt:lpwstr>
  </property>
  <property fmtid="{D5CDD505-2E9C-101B-9397-08002B2CF9AE}" pid="8" name="MSIP_Label_fde7aacd-7cc4-4c31-9e6f-7ef306428f09_SiteId">
    <vt:lpwstr>ab9bba98-684a-43fb-add8-9c2bebede229</vt:lpwstr>
  </property>
  <property fmtid="{D5CDD505-2E9C-101B-9397-08002B2CF9AE}" pid="9" name="MSIP_Label_fde7aacd-7cc4-4c31-9e6f-7ef306428f09_ActionId">
    <vt:lpwstr>a9c75c2b-6e5b-4bfb-ac53-37953492a2d0</vt:lpwstr>
  </property>
  <property fmtid="{D5CDD505-2E9C-101B-9397-08002B2CF9AE}" pid="10" name="MSIP_Label_fde7aacd-7cc4-4c31-9e6f-7ef306428f09_ContentBits">
    <vt:lpwstr>1</vt:lpwstr>
  </property>
</Properties>
</file>